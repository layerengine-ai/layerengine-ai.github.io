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5143500" cx="9144000"/>
  <p:notesSz cx="6858000" cy="9144000"/>
  <p:embeddedFontLst>
    <p:embeddedFont>
      <p:font typeface="Roboto"/>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Roboto-regular.fntdata"/><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italic.fntdata"/><Relationship Id="rId47" Type="http://schemas.openxmlformats.org/officeDocument/2006/relationships/font" Target="fonts/Roboto-bold.fntdata"/><Relationship Id="rId49"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1049f563ea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1049f563ea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1049f563ea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1049f563ea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1049f563ea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1049f563ea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049f563ea1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1049f563ea1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15ccaeeb9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15ccaeeb9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10803df87b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10803df87b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1049f563ea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1049f563ea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15ccaeeb91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15ccaeeb91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15ccaeeb91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15ccaeeb91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049f563ea1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049f563ea1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049f563ea1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049f563ea1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dda8491510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1dda8491510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1dda8491510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1dda8491510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049f563ea1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1049f563ea1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049f563ea1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049f563ea1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1082ea7f3e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1082ea7f3e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15ccaeeb91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15ccaeeb91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15ccaeeb91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15ccaeeb91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049f563ea1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1049f563ea1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1082ea7f3ec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1082ea7f3ec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1049f563ea1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1049f563ea1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0803df87b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0803df87b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dda8491510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dda8491510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1049f563ea1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1049f563ea1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1049f563ea1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1049f563ea1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049f563ea1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1049f563ea1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1094872c615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1094872c61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1094872c61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1094872c61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1094872c61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1094872c61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1094872c615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1094872c615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1049f563ea1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1049f563ea1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1049f563ea1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1049f563ea1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1049f563ea1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1049f563ea1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049f563ea1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1049f563ea1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1049f563ea1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1049f563ea1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049f563ea1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1049f563ea1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1049f563ea1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1049f563ea1_0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0803df87b7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0803df87b7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215ccaeeb91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215ccaeeb91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375450" y="793925"/>
            <a:ext cx="8393100" cy="33045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i="1" lang="en" sz="4000">
                <a:solidFill>
                  <a:srgbClr val="000000"/>
                </a:solidFill>
              </a:rPr>
              <a:t>For </a:t>
            </a:r>
            <a:r>
              <a:rPr b="1" i="1" lang="en" sz="4000"/>
              <a:t>Homesellers</a:t>
            </a:r>
            <a:r>
              <a:rPr b="1" i="1" lang="en" sz="4000">
                <a:solidFill>
                  <a:srgbClr val="000000"/>
                </a:solidFill>
              </a:rPr>
              <a:t>: How to Go From </a:t>
            </a:r>
            <a:r>
              <a:rPr b="1" i="1" lang="en" sz="4000"/>
              <a:t>Being Clueless About Selling Your Home</a:t>
            </a:r>
            <a:r>
              <a:rPr b="1" i="1" lang="en" sz="4000">
                <a:solidFill>
                  <a:srgbClr val="000000"/>
                </a:solidFill>
              </a:rPr>
              <a:t> to </a:t>
            </a:r>
            <a:r>
              <a:rPr b="1" i="1" lang="en" sz="4000"/>
              <a:t>Getting</a:t>
            </a:r>
            <a:r>
              <a:rPr b="1" i="1" lang="en" sz="4000">
                <a:solidFill>
                  <a:srgbClr val="000000"/>
                </a:solidFill>
              </a:rPr>
              <a:t> Paid </a:t>
            </a:r>
            <a:r>
              <a:rPr b="1" i="1" lang="en" sz="4000"/>
              <a:t>Top Dollar Within 45 Days </a:t>
            </a:r>
            <a:r>
              <a:rPr b="1" i="1" lang="en" sz="4000">
                <a:solidFill>
                  <a:srgbClr val="000000"/>
                </a:solidFill>
              </a:rPr>
              <a:t>in </a:t>
            </a:r>
            <a:r>
              <a:rPr b="1" i="1" lang="en" sz="4000">
                <a:solidFill>
                  <a:srgbClr val="000000"/>
                </a:solidFill>
              </a:rPr>
              <a:t>{Location}</a:t>
            </a:r>
            <a:endParaRPr b="1" i="1" sz="400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Proof Case 1 - Transformation 1</a:t>
            </a:r>
            <a:endParaRPr/>
          </a:p>
        </p:txBody>
      </p:sp>
      <p:sp>
        <p:nvSpPr>
          <p:cNvPr id="60" name="Google Shape;60;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chemeClr val="dk1"/>
              </a:buClr>
              <a:buSzPts val="1200"/>
              <a:buChar char="-"/>
            </a:pPr>
            <a:r>
              <a:rPr lang="en" sz="1200">
                <a:solidFill>
                  <a:schemeClr val="dk1"/>
                </a:solidFill>
              </a:rPr>
              <a:t>State 1</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State 2</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Timeframe</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Image</a:t>
            </a:r>
            <a:endParaRPr sz="12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Proof Case 2 - Transformation 2</a:t>
            </a:r>
            <a:endParaRPr/>
          </a:p>
        </p:txBody>
      </p:sp>
      <p:sp>
        <p:nvSpPr>
          <p:cNvPr id="66" name="Google Shape;66;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chemeClr val="dk1"/>
              </a:buClr>
              <a:buSzPts val="1200"/>
              <a:buChar char="-"/>
            </a:pPr>
            <a:r>
              <a:rPr lang="en" sz="1200">
                <a:solidFill>
                  <a:schemeClr val="dk1"/>
                </a:solidFill>
              </a:rPr>
              <a:t>State 1</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State 2</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Timeframe</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Image</a:t>
            </a:r>
            <a:endParaRPr sz="12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Proof Case 3 - Transformation 3</a:t>
            </a:r>
            <a:endParaRPr/>
          </a:p>
        </p:txBody>
      </p:sp>
      <p:sp>
        <p:nvSpPr>
          <p:cNvPr id="72" name="Google Shape;72;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chemeClr val="dk1"/>
              </a:buClr>
              <a:buSzPts val="1200"/>
              <a:buChar char="-"/>
            </a:pPr>
            <a:r>
              <a:rPr lang="en" sz="1200">
                <a:solidFill>
                  <a:schemeClr val="dk1"/>
                </a:solidFill>
              </a:rPr>
              <a:t>State 1</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State 2</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Timeframe</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Image</a:t>
            </a:r>
            <a:endParaRPr sz="12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Who This Is For</a:t>
            </a:r>
            <a:endParaRPr/>
          </a:p>
        </p:txBody>
      </p:sp>
      <p:sp>
        <p:nvSpPr>
          <p:cNvPr id="78" name="Google Shape;78;p17"/>
          <p:cNvSpPr txBox="1"/>
          <p:nvPr>
            <p:ph idx="1" type="body"/>
          </p:nvPr>
        </p:nvSpPr>
        <p:spPr>
          <a:xfrm>
            <a:off x="311700" y="1152475"/>
            <a:ext cx="8520600" cy="3882600"/>
          </a:xfrm>
          <a:prstGeom prst="rect">
            <a:avLst/>
          </a:prstGeom>
        </p:spPr>
        <p:txBody>
          <a:bodyPr anchorCtr="0" anchor="t" bIns="91425" lIns="91425" spcFirstLastPara="1" rIns="91425" wrap="square" tIns="91425">
            <a:noAutofit/>
          </a:bodyPr>
          <a:lstStyle/>
          <a:p>
            <a:pPr indent="-304800" lvl="0" marL="457200" rtl="0" algn="l">
              <a:spcBef>
                <a:spcPts val="2900"/>
              </a:spcBef>
              <a:spcAft>
                <a:spcPts val="0"/>
              </a:spcAft>
              <a:buClr>
                <a:schemeClr val="dk1"/>
              </a:buClr>
              <a:buSzPts val="1200"/>
              <a:buFont typeface="Roboto"/>
              <a:buChar char="●"/>
            </a:pPr>
            <a:r>
              <a:rPr lang="en" sz="1200">
                <a:solidFill>
                  <a:schemeClr val="dk1"/>
                </a:solidFill>
                <a:latin typeface="Roboto"/>
                <a:ea typeface="Roboto"/>
                <a:cs typeface="Roboto"/>
                <a:sym typeface="Roboto"/>
              </a:rPr>
              <a:t>You’ve tried to set the right price for your home but it has been tricky, as pricing it too high can turn off potential buyers, while pricing it too low can leave you feeling shortchanged.</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You’ve tried to hire the right real estate agent to list your home just to get over promised, no results and numerous price reductions.</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Preparing your home for sale can be time-consuming and stressful, especially if it requires repairs, staging, or renovations. </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Dealing with low-ball offers from buyers can be frustrating, leaving you feeling undervalued and unappreciated.</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Marketing your home effectively is critical to attracting potential buyers, but it can be overwhelming to know where to start or how to get the best results.</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Scheduling and accommodating showings can be a hassle, particularly if you have a busy schedule or want to limit disruptions to your daily routine.</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Waiting for the right buyer to make an offer can be stressful, particularly if you need to sell your home quickly.</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The cost of selling a home can add up quickly, including closing costs and real estate commissions, cutting into your profits.</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Negotiating the sales contract can be a complicated process, leaving you feeling uncertain about the final outcome.</a:t>
            </a:r>
            <a:endParaRPr sz="1200">
              <a:solidFill>
                <a:schemeClr val="dk1"/>
              </a:solidFill>
              <a:latin typeface="Roboto"/>
              <a:ea typeface="Roboto"/>
              <a:cs typeface="Roboto"/>
              <a:sym typeface="Roboto"/>
            </a:endParaRPr>
          </a:p>
          <a:p>
            <a:pPr indent="-304800" lvl="0" marL="457200" rtl="0" algn="l">
              <a:spcBef>
                <a:spcPts val="0"/>
              </a:spcBef>
              <a:spcAft>
                <a:spcPts val="0"/>
              </a:spcAft>
              <a:buClr>
                <a:schemeClr val="dk1"/>
              </a:buClr>
              <a:buSzPts val="1200"/>
              <a:buFont typeface="Roboto"/>
              <a:buChar char="●"/>
            </a:pPr>
            <a:r>
              <a:rPr lang="en" sz="1200">
                <a:solidFill>
                  <a:schemeClr val="dk1"/>
                </a:solidFill>
                <a:latin typeface="Roboto"/>
                <a:ea typeface="Roboto"/>
                <a:cs typeface="Roboto"/>
                <a:sym typeface="Roboto"/>
              </a:rPr>
              <a:t>The uncertainty of the sale process can be overwhelming, as market conditions, buyer financing, and unexpected issues can all impact the success of your home sale.</a:t>
            </a:r>
            <a:endParaRPr sz="12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Here’s the Truth…</a:t>
            </a:r>
            <a:endParaRPr/>
          </a:p>
        </p:txBody>
      </p:sp>
      <p:sp>
        <p:nvSpPr>
          <p:cNvPr id="84" name="Google Shape;84;p18"/>
          <p:cNvSpPr txBox="1"/>
          <p:nvPr>
            <p:ph idx="1" type="body"/>
          </p:nvPr>
        </p:nvSpPr>
        <p:spPr>
          <a:xfrm>
            <a:off x="311700" y="1152475"/>
            <a:ext cx="49563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You can sell your home for top dollar </a:t>
            </a:r>
            <a:r>
              <a:rPr lang="en" u="sng">
                <a:solidFill>
                  <a:schemeClr val="dk1"/>
                </a:solidFill>
              </a:rPr>
              <a:t>even without an agent</a:t>
            </a:r>
            <a:r>
              <a:rPr lang="en">
                <a:solidFill>
                  <a:schemeClr val="dk1"/>
                </a:solidFill>
              </a:rPr>
              <a:t> if you do it the right way.</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Fun fact, h</a:t>
            </a:r>
            <a:r>
              <a:rPr lang="en">
                <a:solidFill>
                  <a:schemeClr val="dk1"/>
                </a:solidFill>
              </a:rPr>
              <a:t>omesellers that often use an agent to sell their home do not do a good job.</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According to Research, Surveys, and the National Association of Realtors (NAR), 77% of Homeowners </a:t>
            </a:r>
            <a:r>
              <a:rPr b="1" lang="en" u="sng">
                <a:solidFill>
                  <a:schemeClr val="dk1"/>
                </a:solidFill>
              </a:rPr>
              <a:t>do not go back</a:t>
            </a:r>
            <a:r>
              <a:rPr lang="en">
                <a:solidFill>
                  <a:schemeClr val="dk1"/>
                </a:solidFill>
              </a:rPr>
              <a:t> to the same agent to do another Real Estate Transaction…</a:t>
            </a:r>
            <a:endParaRPr>
              <a:solidFill>
                <a:schemeClr val="dk1"/>
              </a:solidFill>
            </a:endParaRPr>
          </a:p>
        </p:txBody>
      </p:sp>
      <p:pic>
        <p:nvPicPr>
          <p:cNvPr id="85" name="Google Shape;85;p18"/>
          <p:cNvPicPr preferRelativeResize="0"/>
          <p:nvPr/>
        </p:nvPicPr>
        <p:blipFill>
          <a:blip r:embed="rId3">
            <a:alphaModFix/>
          </a:blip>
          <a:stretch>
            <a:fillRect/>
          </a:stretch>
        </p:blipFill>
        <p:spPr>
          <a:xfrm>
            <a:off x="4071100" y="493675"/>
            <a:ext cx="5546750" cy="46498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The Core Concept</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Clr>
                <a:schemeClr val="dk1"/>
              </a:buClr>
              <a:buSzPts val="1700"/>
              <a:buChar char="-"/>
            </a:pPr>
            <a:r>
              <a:rPr lang="en" sz="1700">
                <a:solidFill>
                  <a:schemeClr val="dk1"/>
                </a:solidFill>
              </a:rPr>
              <a:t>It’s not your fault. There’s a lot of agents out there (over 3 million agents in the USA alone according to the NAR, 2023). There’s a lot of information online so it’s normal to feel confused. </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The truth is you can sell your home for top dollar in this crazy market </a:t>
            </a:r>
            <a:r>
              <a:rPr b="1" i="1" lang="en" sz="1700">
                <a:solidFill>
                  <a:schemeClr val="dk1"/>
                </a:solidFill>
              </a:rPr>
              <a:t>if</a:t>
            </a:r>
            <a:r>
              <a:rPr lang="en" sz="1700">
                <a:solidFill>
                  <a:schemeClr val="dk1"/>
                </a:solidFill>
              </a:rPr>
              <a:t> you use the right tools.</a:t>
            </a:r>
            <a:endParaRPr sz="1700">
              <a:solidFill>
                <a:schemeClr val="dk1"/>
              </a:solidFill>
            </a:endParaRPr>
          </a:p>
          <a:p>
            <a:pPr indent="0" lvl="0" marL="457200" rtl="0" algn="l">
              <a:spcBef>
                <a:spcPts val="1600"/>
              </a:spcBef>
              <a:spcAft>
                <a:spcPts val="1600"/>
              </a:spcAft>
              <a:buClr>
                <a:schemeClr val="dk1"/>
              </a:buClr>
              <a:buSzPts val="1100"/>
              <a:buFont typeface="Arial"/>
              <a:buNone/>
            </a:pPr>
            <a:r>
              <a:rPr lang="en" sz="1700">
                <a:solidFill>
                  <a:schemeClr val="dk1"/>
                </a:solidFill>
              </a:rPr>
              <a:t>We are the only people dedicated to solving this particular problem for homesellers.</a:t>
            </a:r>
            <a:endParaRPr sz="2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About Me…</a:t>
            </a:r>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chemeClr val="dk1"/>
              </a:buClr>
              <a:buSzPts val="1100"/>
              <a:buChar char="●"/>
            </a:pPr>
            <a:r>
              <a:rPr lang="en" sz="1100">
                <a:solidFill>
                  <a:schemeClr val="dk1"/>
                </a:solidFill>
              </a:rPr>
              <a:t>XX years in business…</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Sold over $XX in sales volume in [Year]</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Closed XX transactions in [Year]</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Realtor Association Top Producer Club in [Year]</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[Brokerage] Hall of Fame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Top 1% Agent in [CITY/STATE]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Featured in …</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We got recognized in [Year] for selling 40 homes 2x faster and 5% higher in sales price than the average agent in our market.</a:t>
            </a:r>
            <a:endParaRPr sz="1100">
              <a:solidFill>
                <a:schemeClr val="dk1"/>
              </a:solidFill>
            </a:endParaRPr>
          </a:p>
          <a:p>
            <a:pPr indent="0" lvl="0" marL="457200" rtl="0" algn="l">
              <a:spcBef>
                <a:spcPts val="0"/>
              </a:spcBef>
              <a:spcAft>
                <a:spcPts val="0"/>
              </a:spcAft>
              <a:buNone/>
            </a:pPr>
            <a:br>
              <a:rPr lang="en" sz="1100">
                <a:solidFill>
                  <a:schemeClr val="dk1"/>
                </a:solidFill>
              </a:rPr>
            </a:br>
            <a:endParaRPr sz="1100">
              <a:solidFill>
                <a:schemeClr val="dk1"/>
              </a:solidFill>
            </a:endParaRPr>
          </a:p>
          <a:p>
            <a:pPr indent="0" lvl="0" marL="457200" rtl="0" algn="l">
              <a:spcBef>
                <a:spcPts val="0"/>
              </a:spcBef>
              <a:spcAft>
                <a:spcPts val="0"/>
              </a:spcAft>
              <a:buNone/>
            </a:pPr>
            <a:r>
              <a:t/>
            </a:r>
            <a:endParaRPr sz="1100">
              <a:solidFill>
                <a:schemeClr val="dk1"/>
              </a:solidFill>
            </a:endParaRPr>
          </a:p>
          <a:p>
            <a:pPr indent="0" lvl="0" marL="0" rtl="0" algn="l">
              <a:spcBef>
                <a:spcPts val="0"/>
              </a:spcBef>
              <a:spcAft>
                <a:spcPts val="0"/>
              </a:spcAft>
              <a:buNone/>
            </a:pPr>
            <a:br>
              <a:rPr lang="en" sz="1100">
                <a:solidFill>
                  <a:schemeClr val="dk1"/>
                </a:solidFill>
              </a:rPr>
            </a:br>
            <a:endParaRPr sz="13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191700" y="445025"/>
            <a:ext cx="8760600" cy="694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most Agents do to get a Home Sold (What Not To Do)</a:t>
            </a:r>
            <a:endParaRPr/>
          </a:p>
        </p:txBody>
      </p:sp>
      <p:sp>
        <p:nvSpPr>
          <p:cNvPr id="103" name="Google Shape;103;p21"/>
          <p:cNvSpPr txBox="1"/>
          <p:nvPr>
            <p:ph idx="1" type="body"/>
          </p:nvPr>
        </p:nvSpPr>
        <p:spPr>
          <a:xfrm>
            <a:off x="311700" y="121352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AutoNum type="arabicPeriod"/>
            </a:pPr>
            <a:r>
              <a:rPr lang="en">
                <a:solidFill>
                  <a:schemeClr val="dk1"/>
                </a:solidFill>
              </a:rPr>
              <a:t>Advertise Themselves</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Bang A Sign On Your Lawn</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Create An Ad For The Paper (and maybe run it)</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Download Your Listing to MLS</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Encourage Their Office To Show It</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Figure They Might Try An Open House</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Get On Their Knees and Pray It Will Sell</a:t>
            </a:r>
            <a:endParaRPr>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New Way</a:t>
            </a:r>
            <a:endParaRPr/>
          </a:p>
        </p:txBody>
      </p:sp>
      <p:sp>
        <p:nvSpPr>
          <p:cNvPr id="109" name="Google Shape;10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AutoNum type="arabicPeriod"/>
            </a:pPr>
            <a:r>
              <a:rPr lang="en">
                <a:solidFill>
                  <a:schemeClr val="dk1"/>
                </a:solidFill>
              </a:rPr>
              <a:t>Evaluate Your Home &amp; Set A Price You’re Content With &amp; That Fits The Market to attract enough demand</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Prepare your home for sale without spending a ton of money</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Market Your Home using Social Media &amp; Value Video Letters</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Show Your Home to Qualified Buyers</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Receive and Evaluate Offers</a:t>
            </a:r>
            <a:endParaRPr>
              <a:solidFill>
                <a:schemeClr val="dk1"/>
              </a:solidFill>
            </a:endParaRPr>
          </a:p>
          <a:p>
            <a:pPr indent="-342900" lvl="0" marL="457200" rtl="0" algn="l">
              <a:spcBef>
                <a:spcPts val="0"/>
              </a:spcBef>
              <a:spcAft>
                <a:spcPts val="0"/>
              </a:spcAft>
              <a:buClr>
                <a:schemeClr val="dk1"/>
              </a:buClr>
              <a:buSzPts val="1800"/>
              <a:buAutoNum type="arabicPeriod"/>
            </a:pPr>
            <a:r>
              <a:rPr lang="en">
                <a:solidFill>
                  <a:schemeClr val="dk1"/>
                </a:solidFill>
              </a:rPr>
              <a:t>Close the Sale</a:t>
            </a:r>
            <a:endParaRPr>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1: Evaluate Your Home &amp; Set A Price</a:t>
            </a:r>
            <a:endParaRPr/>
          </a:p>
          <a:p>
            <a:pPr indent="0" lvl="0" marL="0" rtl="0" algn="l">
              <a:spcBef>
                <a:spcPts val="0"/>
              </a:spcBef>
              <a:spcAft>
                <a:spcPts val="0"/>
              </a:spcAft>
              <a:buNone/>
            </a:pPr>
            <a:r>
              <a:t/>
            </a:r>
            <a:endParaRPr/>
          </a:p>
        </p:txBody>
      </p:sp>
      <p:sp>
        <p:nvSpPr>
          <p:cNvPr id="115" name="Google Shape;115;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04800" lvl="0" marL="457200" rtl="0" algn="l">
              <a:spcBef>
                <a:spcPts val="0"/>
              </a:spcBef>
              <a:spcAft>
                <a:spcPts val="0"/>
              </a:spcAft>
              <a:buClr>
                <a:schemeClr val="dk1"/>
              </a:buClr>
              <a:buSzPts val="1200"/>
              <a:buChar char="-"/>
            </a:pPr>
            <a:r>
              <a:rPr lang="en" sz="1200">
                <a:solidFill>
                  <a:schemeClr val="dk1"/>
                </a:solidFill>
                <a:highlight>
                  <a:schemeClr val="lt1"/>
                </a:highlight>
              </a:rPr>
              <a:t>Comparable Sales </a:t>
            </a:r>
            <a:endParaRPr sz="1200">
              <a:solidFill>
                <a:schemeClr val="dk1"/>
              </a:solidFill>
              <a:highlight>
                <a:schemeClr val="lt1"/>
              </a:highlight>
            </a:endParaRPr>
          </a:p>
          <a:p>
            <a:pPr indent="-304800" lvl="1" marL="914400" rtl="0" algn="l">
              <a:spcBef>
                <a:spcPts val="0"/>
              </a:spcBef>
              <a:spcAft>
                <a:spcPts val="0"/>
              </a:spcAft>
              <a:buClr>
                <a:schemeClr val="dk1"/>
              </a:buClr>
              <a:buSzPts val="1200"/>
              <a:buChar char="-"/>
            </a:pPr>
            <a:r>
              <a:rPr lang="en" sz="1200">
                <a:solidFill>
                  <a:schemeClr val="dk1"/>
                </a:solidFill>
                <a:highlight>
                  <a:schemeClr val="lt1"/>
                </a:highlight>
              </a:rPr>
              <a:t>Look at comparable sales in your area to get a sense of what similar homes are selling for. Consider factors such as location, size, and condition when comparing sales.</a:t>
            </a:r>
            <a:endParaRPr sz="1200">
              <a:solidFill>
                <a:schemeClr val="dk1"/>
              </a:solidFill>
              <a:highlight>
                <a:schemeClr val="lt1"/>
              </a:highlight>
            </a:endParaRPr>
          </a:p>
          <a:p>
            <a:pPr indent="-304800" lvl="0" marL="457200" rtl="0" algn="l">
              <a:spcBef>
                <a:spcPts val="0"/>
              </a:spcBef>
              <a:spcAft>
                <a:spcPts val="0"/>
              </a:spcAft>
              <a:buClr>
                <a:schemeClr val="dk1"/>
              </a:buClr>
              <a:buSzPts val="1200"/>
              <a:buChar char="-"/>
            </a:pPr>
            <a:r>
              <a:rPr lang="en" sz="1200">
                <a:solidFill>
                  <a:schemeClr val="dk1"/>
                </a:solidFill>
                <a:highlight>
                  <a:schemeClr val="lt1"/>
                </a:highlight>
              </a:rPr>
              <a:t>Location: </a:t>
            </a:r>
            <a:endParaRPr sz="1200">
              <a:solidFill>
                <a:schemeClr val="dk1"/>
              </a:solidFill>
              <a:highlight>
                <a:schemeClr val="lt1"/>
              </a:highlight>
            </a:endParaRPr>
          </a:p>
          <a:p>
            <a:pPr indent="-304800" lvl="1" marL="914400" rtl="0" algn="l">
              <a:spcBef>
                <a:spcPts val="0"/>
              </a:spcBef>
              <a:spcAft>
                <a:spcPts val="0"/>
              </a:spcAft>
              <a:buClr>
                <a:schemeClr val="dk1"/>
              </a:buClr>
              <a:buSzPts val="1200"/>
              <a:buChar char="-"/>
            </a:pPr>
            <a:r>
              <a:rPr lang="en" sz="1200">
                <a:solidFill>
                  <a:schemeClr val="dk1"/>
                </a:solidFill>
                <a:highlight>
                  <a:schemeClr val="lt1"/>
                </a:highlight>
              </a:rPr>
              <a:t>Consider the location of your home and how it may impact its value. Is it in a desirable neighborhood? Is it close to amenities such as schools and parks? These factors can influence the value of your home.</a:t>
            </a:r>
            <a:endParaRPr sz="1200">
              <a:solidFill>
                <a:schemeClr val="dk1"/>
              </a:solidFill>
              <a:highlight>
                <a:schemeClr val="lt1"/>
              </a:highlight>
            </a:endParaRPr>
          </a:p>
          <a:p>
            <a:pPr indent="-304800" lvl="0" marL="457200" rtl="0" algn="l">
              <a:spcBef>
                <a:spcPts val="0"/>
              </a:spcBef>
              <a:spcAft>
                <a:spcPts val="0"/>
              </a:spcAft>
              <a:buClr>
                <a:schemeClr val="dk1"/>
              </a:buClr>
              <a:buSzPts val="1200"/>
              <a:buChar char="-"/>
            </a:pPr>
            <a:r>
              <a:rPr lang="en" sz="1200">
                <a:solidFill>
                  <a:schemeClr val="dk1"/>
                </a:solidFill>
                <a:highlight>
                  <a:schemeClr val="lt1"/>
                </a:highlight>
              </a:rPr>
              <a:t>Timeframe: </a:t>
            </a:r>
            <a:endParaRPr sz="1200">
              <a:solidFill>
                <a:schemeClr val="dk1"/>
              </a:solidFill>
              <a:highlight>
                <a:schemeClr val="lt1"/>
              </a:highlight>
            </a:endParaRPr>
          </a:p>
          <a:p>
            <a:pPr indent="-304800" lvl="1" marL="914400" rtl="0" algn="l">
              <a:spcBef>
                <a:spcPts val="0"/>
              </a:spcBef>
              <a:spcAft>
                <a:spcPts val="0"/>
              </a:spcAft>
              <a:buClr>
                <a:schemeClr val="dk1"/>
              </a:buClr>
              <a:buSzPts val="1200"/>
              <a:buChar char="-"/>
            </a:pPr>
            <a:r>
              <a:rPr lang="en" sz="1200">
                <a:solidFill>
                  <a:schemeClr val="dk1"/>
                </a:solidFill>
                <a:highlight>
                  <a:schemeClr val="lt1"/>
                </a:highlight>
              </a:rPr>
              <a:t>Consider how quickly you want or need to sell your home. If you're in a rush to sell, you may need to set a lower price to attract interested buyers.</a:t>
            </a:r>
            <a:endParaRPr sz="1200">
              <a:solidFill>
                <a:schemeClr val="dk1"/>
              </a:solidFill>
              <a:highlight>
                <a:schemeClr val="lt1"/>
              </a:highlight>
            </a:endParaRPr>
          </a:p>
          <a:p>
            <a:pPr indent="-304800" lvl="0" marL="457200" rtl="0" algn="l">
              <a:spcBef>
                <a:spcPts val="0"/>
              </a:spcBef>
              <a:spcAft>
                <a:spcPts val="0"/>
              </a:spcAft>
              <a:buClr>
                <a:schemeClr val="dk1"/>
              </a:buClr>
              <a:buSzPts val="1200"/>
              <a:buChar char="-"/>
            </a:pPr>
            <a:r>
              <a:rPr lang="en" sz="1200">
                <a:solidFill>
                  <a:schemeClr val="dk1"/>
                </a:solidFill>
                <a:highlight>
                  <a:schemeClr val="lt1"/>
                </a:highlight>
              </a:rPr>
              <a:t>Emotional Attachments: </a:t>
            </a:r>
            <a:endParaRPr sz="1200">
              <a:solidFill>
                <a:schemeClr val="dk1"/>
              </a:solidFill>
              <a:highlight>
                <a:schemeClr val="lt1"/>
              </a:highlight>
            </a:endParaRPr>
          </a:p>
          <a:p>
            <a:pPr indent="-304800" lvl="1" marL="914400" rtl="0" algn="l">
              <a:spcBef>
                <a:spcPts val="0"/>
              </a:spcBef>
              <a:spcAft>
                <a:spcPts val="0"/>
              </a:spcAft>
              <a:buClr>
                <a:schemeClr val="dk1"/>
              </a:buClr>
              <a:buSzPts val="1200"/>
              <a:buChar char="-"/>
            </a:pPr>
            <a:r>
              <a:rPr lang="en" sz="1200">
                <a:solidFill>
                  <a:schemeClr val="dk1"/>
                </a:solidFill>
                <a:highlight>
                  <a:schemeClr val="lt1"/>
                </a:highlight>
              </a:rPr>
              <a:t>Recognize any emotional attachments you may have to your home and how they may impact your pricing decisions. It's important to balance sentimental value with objective factors when setting a price.</a:t>
            </a:r>
            <a:endParaRPr sz="1200">
              <a:solidFill>
                <a:schemeClr val="dk1"/>
              </a:solidFill>
              <a:highlight>
                <a:schemeClr val="lt1"/>
              </a:highlight>
            </a:endParaRPr>
          </a:p>
          <a:p>
            <a:pPr indent="0" lvl="0" marL="0" rtl="0" algn="l">
              <a:spcBef>
                <a:spcPts val="1600"/>
              </a:spcBef>
              <a:spcAft>
                <a:spcPts val="0"/>
              </a:spcAft>
              <a:buNone/>
            </a:pPr>
            <a:r>
              <a:rPr lang="en" sz="1200">
                <a:solidFill>
                  <a:schemeClr val="dk1"/>
                </a:solidFill>
                <a:highlight>
                  <a:schemeClr val="lt1"/>
                </a:highlight>
              </a:rPr>
              <a:t>You can use online tools or seek the help of a professional home inspector &amp; appraiser to get an idea of your home's worth:</a:t>
            </a:r>
            <a:r>
              <a:rPr lang="en" sz="1200">
                <a:solidFill>
                  <a:schemeClr val="dk1"/>
                </a:solidFill>
                <a:highlight>
                  <a:schemeClr val="lt1"/>
                </a:highlight>
              </a:rPr>
              <a:t> </a:t>
            </a:r>
            <a:endParaRPr sz="1200">
              <a:solidFill>
                <a:schemeClr val="dk1"/>
              </a:solidFill>
              <a:highlight>
                <a:schemeClr val="lt1"/>
              </a:highlight>
            </a:endParaRPr>
          </a:p>
          <a:p>
            <a:pPr indent="-304800" lvl="0" marL="457200" rtl="0" algn="l">
              <a:spcBef>
                <a:spcPts val="1600"/>
              </a:spcBef>
              <a:spcAft>
                <a:spcPts val="0"/>
              </a:spcAft>
              <a:buClr>
                <a:schemeClr val="dk1"/>
              </a:buClr>
              <a:buSzPts val="1200"/>
              <a:buChar char="-"/>
            </a:pPr>
            <a:r>
              <a:rPr lang="en" sz="1200">
                <a:solidFill>
                  <a:schemeClr val="dk1"/>
                </a:solidFill>
                <a:highlight>
                  <a:schemeClr val="lt1"/>
                </a:highlight>
              </a:rPr>
              <a:t>An appraiser typically charges about $300-$500 to evaluate your home.</a:t>
            </a:r>
            <a:endParaRPr sz="1200">
              <a:solidFill>
                <a:schemeClr val="dk1"/>
              </a:solidFill>
              <a:highlight>
                <a:schemeClr val="lt1"/>
              </a:highlight>
            </a:endParaRPr>
          </a:p>
          <a:p>
            <a:pPr indent="-304800" lvl="0" marL="457200" rtl="0" algn="l">
              <a:spcBef>
                <a:spcPts val="0"/>
              </a:spcBef>
              <a:spcAft>
                <a:spcPts val="0"/>
              </a:spcAft>
              <a:buClr>
                <a:schemeClr val="dk1"/>
              </a:buClr>
              <a:buSzPts val="1200"/>
              <a:buChar char="-"/>
            </a:pPr>
            <a:r>
              <a:rPr lang="en" sz="1200">
                <a:solidFill>
                  <a:schemeClr val="dk1"/>
                </a:solidFill>
                <a:highlight>
                  <a:schemeClr val="lt1"/>
                </a:highlight>
              </a:rPr>
              <a:t>You can also use this link to get a free valuation on your current home: </a:t>
            </a:r>
            <a:endParaRPr sz="1200">
              <a:solidFill>
                <a:schemeClr val="dk1"/>
              </a:solidFill>
              <a:highlight>
                <a:schemeClr val="lt1"/>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1 FAQ</a:t>
            </a:r>
            <a:endParaRPr/>
          </a:p>
          <a:p>
            <a:pPr indent="0" lvl="0" marL="0" rtl="0" algn="l">
              <a:spcBef>
                <a:spcPts val="0"/>
              </a:spcBef>
              <a:spcAft>
                <a:spcPts val="0"/>
              </a:spcAft>
              <a:buNone/>
            </a:pPr>
            <a:r>
              <a:t/>
            </a:r>
            <a:endParaRPr/>
          </a:p>
        </p:txBody>
      </p:sp>
      <p:sp>
        <p:nvSpPr>
          <p:cNvPr id="121" name="Google Shape;121;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04800" lvl="0" marL="457200" rtl="0" algn="l">
              <a:lnSpc>
                <a:spcPct val="150000"/>
              </a:lnSpc>
              <a:spcBef>
                <a:spcPts val="0"/>
              </a:spcBef>
              <a:spcAft>
                <a:spcPts val="0"/>
              </a:spcAft>
              <a:buClr>
                <a:schemeClr val="dk1"/>
              </a:buClr>
              <a:buSzPts val="1200"/>
              <a:buChar char="-"/>
            </a:pPr>
            <a:r>
              <a:rPr lang="en" sz="1200">
                <a:solidFill>
                  <a:schemeClr val="dk1"/>
                </a:solidFill>
              </a:rPr>
              <a:t>Question 1: Can’t I set any price I want for my home?</a:t>
            </a:r>
            <a:endParaRPr sz="1200">
              <a:solidFill>
                <a:schemeClr val="dk1"/>
              </a:solidFill>
            </a:endParaRPr>
          </a:p>
          <a:p>
            <a:pPr indent="-292100" lvl="1" marL="914400" rtl="0" algn="l">
              <a:lnSpc>
                <a:spcPct val="150000"/>
              </a:lnSpc>
              <a:spcBef>
                <a:spcPts val="0"/>
              </a:spcBef>
              <a:spcAft>
                <a:spcPts val="0"/>
              </a:spcAft>
              <a:buClr>
                <a:schemeClr val="dk1"/>
              </a:buClr>
              <a:buSzPts val="1000"/>
              <a:buChar char="-"/>
            </a:pPr>
            <a:r>
              <a:rPr lang="en" sz="1000">
                <a:solidFill>
                  <a:schemeClr val="dk1"/>
                </a:solidFill>
              </a:rPr>
              <a:t>While you can set any price you want for your home, it may not be realistic or attract interested buyers. It's important to do a valuation of your home based on local market conditions and comparable sales to determine a competitive price.</a:t>
            </a:r>
            <a:endParaRPr sz="1000">
              <a:solidFill>
                <a:schemeClr val="dk1"/>
              </a:solidFill>
            </a:endParaRPr>
          </a:p>
          <a:p>
            <a:pPr indent="-304800" lvl="0" marL="457200" rtl="0" algn="l">
              <a:lnSpc>
                <a:spcPct val="150000"/>
              </a:lnSpc>
              <a:spcBef>
                <a:spcPts val="0"/>
              </a:spcBef>
              <a:spcAft>
                <a:spcPts val="0"/>
              </a:spcAft>
              <a:buClr>
                <a:schemeClr val="dk1"/>
              </a:buClr>
              <a:buSzPts val="1200"/>
              <a:buChar char="-"/>
            </a:pPr>
            <a:r>
              <a:rPr lang="en" sz="1200">
                <a:solidFill>
                  <a:schemeClr val="dk1"/>
                </a:solidFill>
              </a:rPr>
              <a:t>Question 2: Can I set a high price to leave room for negotiation?</a:t>
            </a:r>
            <a:endParaRPr sz="1200">
              <a:solidFill>
                <a:schemeClr val="dk1"/>
              </a:solidFill>
            </a:endParaRPr>
          </a:p>
          <a:p>
            <a:pPr indent="-292100" lvl="1" marL="914400" rtl="0" algn="l">
              <a:lnSpc>
                <a:spcPct val="150000"/>
              </a:lnSpc>
              <a:spcBef>
                <a:spcPts val="0"/>
              </a:spcBef>
              <a:spcAft>
                <a:spcPts val="0"/>
              </a:spcAft>
              <a:buClr>
                <a:schemeClr val="dk1"/>
              </a:buClr>
              <a:buSzPts val="1000"/>
              <a:buChar char="-"/>
            </a:pPr>
            <a:r>
              <a:rPr lang="en" sz="1000">
                <a:solidFill>
                  <a:schemeClr val="dk1"/>
                </a:solidFill>
              </a:rPr>
              <a:t>While it's common to negotiate on the price of a home, setting a high price can actually turn off potential buyers and result in your home staying on the market longer. It's important to price your home competitively based on local market conditions to attract interested buyers.</a:t>
            </a:r>
            <a:endParaRPr sz="1000">
              <a:solidFill>
                <a:schemeClr val="dk1"/>
              </a:solidFill>
            </a:endParaRPr>
          </a:p>
          <a:p>
            <a:pPr indent="-292100" lvl="0" marL="457200" rtl="0" algn="l">
              <a:lnSpc>
                <a:spcPct val="150000"/>
              </a:lnSpc>
              <a:spcBef>
                <a:spcPts val="0"/>
              </a:spcBef>
              <a:spcAft>
                <a:spcPts val="0"/>
              </a:spcAft>
              <a:buClr>
                <a:schemeClr val="dk1"/>
              </a:buClr>
              <a:buSzPts val="1000"/>
              <a:buChar char="-"/>
            </a:pPr>
            <a:r>
              <a:rPr lang="en" sz="1200">
                <a:solidFill>
                  <a:schemeClr val="dk1"/>
                </a:solidFill>
              </a:rPr>
              <a:t>Question 3: I need to recoup the money I spent on renovations.</a:t>
            </a:r>
            <a:endParaRPr sz="1200">
              <a:solidFill>
                <a:schemeClr val="dk1"/>
              </a:solidFill>
            </a:endParaRPr>
          </a:p>
          <a:p>
            <a:pPr indent="-292100" lvl="1" marL="914400" rtl="0" algn="l">
              <a:lnSpc>
                <a:spcPct val="150000"/>
              </a:lnSpc>
              <a:spcBef>
                <a:spcPts val="0"/>
              </a:spcBef>
              <a:spcAft>
                <a:spcPts val="0"/>
              </a:spcAft>
              <a:buClr>
                <a:schemeClr val="dk1"/>
              </a:buClr>
              <a:buSzPts val="1000"/>
              <a:buChar char="-"/>
            </a:pPr>
            <a:r>
              <a:rPr lang="en" sz="1000">
                <a:solidFill>
                  <a:schemeClr val="dk1"/>
                </a:solidFill>
              </a:rPr>
              <a:t>While renovations can increase the value of your home, it's important to consider the return on investment and local market conditions when setting a price. Not all renovations have a high return on investment, and the value of your home may be influenced by factors beyond your control, such as the economy and local real estate market.</a:t>
            </a:r>
            <a:endParaRPr sz="1000">
              <a:solidFill>
                <a:schemeClr val="dk1"/>
              </a:solidFill>
            </a:endParaRPr>
          </a:p>
          <a:p>
            <a:pPr indent="0" lvl="0" marL="457200" rtl="0" algn="l">
              <a:lnSpc>
                <a:spcPct val="150000"/>
              </a:lnSpc>
              <a:spcBef>
                <a:spcPts val="2400"/>
              </a:spcBef>
              <a:spcAft>
                <a:spcPts val="0"/>
              </a:spcAft>
              <a:buNone/>
            </a:pPr>
            <a:r>
              <a:t/>
            </a:r>
            <a:endParaRPr sz="1200">
              <a:solidFill>
                <a:schemeClr val="dk1"/>
              </a:solidFill>
              <a:highlight>
                <a:schemeClr val="lt1"/>
              </a:highlight>
            </a:endParaRPr>
          </a:p>
          <a:p>
            <a:pPr indent="0" lvl="0" marL="457200" rtl="0" algn="l">
              <a:spcBef>
                <a:spcPts val="0"/>
              </a:spcBef>
              <a:spcAft>
                <a:spcPts val="1600"/>
              </a:spcAft>
              <a:buNone/>
            </a:pPr>
            <a:r>
              <a:t/>
            </a:r>
            <a:endParaRPr sz="1200">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2: Prepare your home for sale</a:t>
            </a:r>
            <a:endParaRPr/>
          </a:p>
          <a:p>
            <a:pPr indent="0" lvl="0" marL="0" rtl="0" algn="l">
              <a:spcBef>
                <a:spcPts val="0"/>
              </a:spcBef>
              <a:spcAft>
                <a:spcPts val="0"/>
              </a:spcAft>
              <a:buNone/>
            </a:pPr>
            <a:r>
              <a:t/>
            </a:r>
            <a:endParaRPr/>
          </a:p>
        </p:txBody>
      </p:sp>
      <p:sp>
        <p:nvSpPr>
          <p:cNvPr id="127" name="Google Shape;127;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299085" lvl="0" marL="457200" rtl="0" algn="l">
              <a:spcBef>
                <a:spcPts val="0"/>
              </a:spcBef>
              <a:spcAft>
                <a:spcPts val="0"/>
              </a:spcAft>
              <a:buClr>
                <a:schemeClr val="dk1"/>
              </a:buClr>
              <a:buSzPct val="100000"/>
              <a:buChar char="-"/>
            </a:pPr>
            <a:r>
              <a:rPr lang="en" sz="1200">
                <a:solidFill>
                  <a:schemeClr val="dk1"/>
                </a:solidFill>
                <a:highlight>
                  <a:schemeClr val="lt1"/>
                </a:highlight>
              </a:rPr>
              <a:t>Clean and Declutter: </a:t>
            </a:r>
            <a:endParaRPr sz="1200">
              <a:solidFill>
                <a:schemeClr val="dk1"/>
              </a:solidFill>
              <a:highlight>
                <a:schemeClr val="lt1"/>
              </a:highlight>
            </a:endParaRPr>
          </a:p>
          <a:p>
            <a:pPr indent="-299085" lvl="1" marL="914400" rtl="0" algn="l">
              <a:spcBef>
                <a:spcPts val="0"/>
              </a:spcBef>
              <a:spcAft>
                <a:spcPts val="0"/>
              </a:spcAft>
              <a:buClr>
                <a:schemeClr val="dk1"/>
              </a:buClr>
              <a:buSzPct val="100000"/>
              <a:buChar char="-"/>
            </a:pPr>
            <a:r>
              <a:rPr lang="en" sz="1200">
                <a:solidFill>
                  <a:schemeClr val="dk1"/>
                </a:solidFill>
                <a:highlight>
                  <a:schemeClr val="lt1"/>
                </a:highlight>
              </a:rPr>
              <a:t>The first step in preparing your home for sale is to give it a thorough cleaning and decluttering. Remove any personal items and excess clutter to make your home look more spacious and inviting.</a:t>
            </a:r>
            <a:endParaRPr sz="1200">
              <a:solidFill>
                <a:schemeClr val="dk1"/>
              </a:solidFill>
              <a:highlight>
                <a:schemeClr val="lt1"/>
              </a:highlight>
            </a:endParaRPr>
          </a:p>
          <a:p>
            <a:pPr indent="-299085" lvl="0" marL="457200" rtl="0" algn="l">
              <a:spcBef>
                <a:spcPts val="0"/>
              </a:spcBef>
              <a:spcAft>
                <a:spcPts val="0"/>
              </a:spcAft>
              <a:buClr>
                <a:schemeClr val="dk1"/>
              </a:buClr>
              <a:buSzPct val="100000"/>
              <a:buChar char="-"/>
            </a:pPr>
            <a:r>
              <a:rPr lang="en" sz="1200">
                <a:solidFill>
                  <a:schemeClr val="dk1"/>
                </a:solidFill>
                <a:highlight>
                  <a:schemeClr val="lt1"/>
                </a:highlight>
              </a:rPr>
              <a:t>Repair and Upgrade: </a:t>
            </a:r>
            <a:endParaRPr sz="1200">
              <a:solidFill>
                <a:schemeClr val="dk1"/>
              </a:solidFill>
              <a:highlight>
                <a:schemeClr val="lt1"/>
              </a:highlight>
            </a:endParaRPr>
          </a:p>
          <a:p>
            <a:pPr indent="-299085" lvl="1" marL="914400" rtl="0" algn="l">
              <a:spcBef>
                <a:spcPts val="0"/>
              </a:spcBef>
              <a:spcAft>
                <a:spcPts val="0"/>
              </a:spcAft>
              <a:buClr>
                <a:schemeClr val="dk1"/>
              </a:buClr>
              <a:buSzPct val="100000"/>
              <a:buChar char="-"/>
            </a:pPr>
            <a:r>
              <a:rPr lang="en" sz="1200">
                <a:solidFill>
                  <a:schemeClr val="dk1"/>
                </a:solidFill>
                <a:highlight>
                  <a:schemeClr val="lt1"/>
                </a:highlight>
              </a:rPr>
              <a:t>Make any necessary repairs and upgrades to your home to improve its condition and appeal to buyers. Consider updating fixtures, replacing outdated appliances, and making cosmetic changes such as painting or new flooring.</a:t>
            </a:r>
            <a:endParaRPr sz="1200">
              <a:solidFill>
                <a:schemeClr val="dk1"/>
              </a:solidFill>
              <a:highlight>
                <a:schemeClr val="lt1"/>
              </a:highlight>
            </a:endParaRPr>
          </a:p>
          <a:p>
            <a:pPr indent="-299085" lvl="0" marL="457200" rtl="0" algn="l">
              <a:spcBef>
                <a:spcPts val="0"/>
              </a:spcBef>
              <a:spcAft>
                <a:spcPts val="0"/>
              </a:spcAft>
              <a:buClr>
                <a:schemeClr val="dk1"/>
              </a:buClr>
              <a:buSzPct val="100000"/>
              <a:buChar char="-"/>
            </a:pPr>
            <a:r>
              <a:rPr lang="en" sz="1200">
                <a:solidFill>
                  <a:schemeClr val="dk1"/>
                </a:solidFill>
                <a:highlight>
                  <a:schemeClr val="lt1"/>
                </a:highlight>
              </a:rPr>
              <a:t>Curb Appeal: </a:t>
            </a:r>
            <a:endParaRPr sz="1200">
              <a:solidFill>
                <a:schemeClr val="dk1"/>
              </a:solidFill>
              <a:highlight>
                <a:schemeClr val="lt1"/>
              </a:highlight>
            </a:endParaRPr>
          </a:p>
          <a:p>
            <a:pPr indent="-299085" lvl="1" marL="914400" rtl="0" algn="l">
              <a:spcBef>
                <a:spcPts val="0"/>
              </a:spcBef>
              <a:spcAft>
                <a:spcPts val="0"/>
              </a:spcAft>
              <a:buClr>
                <a:schemeClr val="dk1"/>
              </a:buClr>
              <a:buSzPct val="100000"/>
              <a:buChar char="-"/>
            </a:pPr>
            <a:r>
              <a:rPr lang="en" sz="1200">
                <a:solidFill>
                  <a:schemeClr val="dk1"/>
                </a:solidFill>
                <a:highlight>
                  <a:schemeClr val="lt1"/>
                </a:highlight>
              </a:rPr>
              <a:t>Pay attention to the exterior of your home and make sure it looks inviting and well-maintained. This may include landscaping, painting the exterior, and adding new outdoor lighting or a fresh coat of paint on your front door.</a:t>
            </a:r>
            <a:endParaRPr sz="1200">
              <a:solidFill>
                <a:schemeClr val="dk1"/>
              </a:solidFill>
              <a:highlight>
                <a:schemeClr val="lt1"/>
              </a:highlight>
            </a:endParaRPr>
          </a:p>
          <a:p>
            <a:pPr indent="-299085" lvl="0" marL="457200" rtl="0" algn="l">
              <a:spcBef>
                <a:spcPts val="0"/>
              </a:spcBef>
              <a:spcAft>
                <a:spcPts val="0"/>
              </a:spcAft>
              <a:buClr>
                <a:schemeClr val="dk1"/>
              </a:buClr>
              <a:buSzPct val="100000"/>
              <a:buChar char="-"/>
            </a:pPr>
            <a:r>
              <a:rPr lang="en" sz="1200">
                <a:solidFill>
                  <a:schemeClr val="dk1"/>
                </a:solidFill>
                <a:highlight>
                  <a:schemeClr val="lt1"/>
                </a:highlight>
              </a:rPr>
              <a:t>Neutralize Decor: </a:t>
            </a:r>
            <a:endParaRPr sz="1200">
              <a:solidFill>
                <a:schemeClr val="dk1"/>
              </a:solidFill>
              <a:highlight>
                <a:schemeClr val="lt1"/>
              </a:highlight>
            </a:endParaRPr>
          </a:p>
          <a:p>
            <a:pPr indent="-299085" lvl="1" marL="914400" rtl="0" algn="l">
              <a:spcBef>
                <a:spcPts val="0"/>
              </a:spcBef>
              <a:spcAft>
                <a:spcPts val="0"/>
              </a:spcAft>
              <a:buClr>
                <a:schemeClr val="dk1"/>
              </a:buClr>
              <a:buSzPct val="100000"/>
              <a:buChar char="-"/>
            </a:pPr>
            <a:r>
              <a:rPr lang="en" sz="1200">
                <a:solidFill>
                  <a:schemeClr val="dk1"/>
                </a:solidFill>
                <a:highlight>
                  <a:schemeClr val="lt1"/>
                </a:highlight>
              </a:rPr>
              <a:t>Remove any personal decor or color schemes that may not appeal to a wide range of buyers. Opt for neutral decor and color schemes to make it easier for buyers to visualize themselves living in the space.</a:t>
            </a:r>
            <a:endParaRPr sz="1200">
              <a:solidFill>
                <a:schemeClr val="dk1"/>
              </a:solidFill>
              <a:highlight>
                <a:schemeClr val="lt1"/>
              </a:highlight>
            </a:endParaRPr>
          </a:p>
          <a:p>
            <a:pPr indent="-299085" lvl="0" marL="457200" rtl="0" algn="l">
              <a:spcBef>
                <a:spcPts val="0"/>
              </a:spcBef>
              <a:spcAft>
                <a:spcPts val="0"/>
              </a:spcAft>
              <a:buClr>
                <a:schemeClr val="dk1"/>
              </a:buClr>
              <a:buSzPct val="100000"/>
              <a:buChar char="-"/>
            </a:pPr>
            <a:r>
              <a:rPr lang="en" sz="1200">
                <a:solidFill>
                  <a:schemeClr val="dk1"/>
                </a:solidFill>
                <a:highlight>
                  <a:schemeClr val="lt1"/>
                </a:highlight>
              </a:rPr>
              <a:t>Stage the Home: </a:t>
            </a:r>
            <a:endParaRPr sz="1200">
              <a:solidFill>
                <a:schemeClr val="dk1"/>
              </a:solidFill>
              <a:highlight>
                <a:schemeClr val="lt1"/>
              </a:highlight>
            </a:endParaRPr>
          </a:p>
          <a:p>
            <a:pPr indent="-299085" lvl="1" marL="914400" rtl="0" algn="l">
              <a:spcBef>
                <a:spcPts val="0"/>
              </a:spcBef>
              <a:spcAft>
                <a:spcPts val="0"/>
              </a:spcAft>
              <a:buClr>
                <a:schemeClr val="dk1"/>
              </a:buClr>
              <a:buSzPct val="100000"/>
              <a:buChar char="-"/>
            </a:pPr>
            <a:r>
              <a:rPr lang="en" sz="1200">
                <a:solidFill>
                  <a:schemeClr val="dk1"/>
                </a:solidFill>
                <a:highlight>
                  <a:schemeClr val="lt1"/>
                </a:highlight>
              </a:rPr>
              <a:t>Consider staging your home to showcase its best features and make it more appealing to buyers. This may involve rearranging furniture, adding decor, and lighting to create a warm and inviting atmosphere.</a:t>
            </a:r>
            <a:endParaRPr sz="1200">
              <a:solidFill>
                <a:schemeClr val="dk1"/>
              </a:solidFill>
              <a:highlight>
                <a:schemeClr val="lt1"/>
              </a:highlight>
            </a:endParaRPr>
          </a:p>
          <a:p>
            <a:pPr indent="-299085" lvl="0" marL="457200" rtl="0" algn="l">
              <a:spcBef>
                <a:spcPts val="0"/>
              </a:spcBef>
              <a:spcAft>
                <a:spcPts val="0"/>
              </a:spcAft>
              <a:buClr>
                <a:schemeClr val="dk1"/>
              </a:buClr>
              <a:buSzPct val="100000"/>
              <a:buChar char="-"/>
            </a:pPr>
            <a:r>
              <a:rPr lang="en" sz="1200">
                <a:solidFill>
                  <a:schemeClr val="dk1"/>
                </a:solidFill>
                <a:highlight>
                  <a:schemeClr val="lt1"/>
                </a:highlight>
              </a:rPr>
              <a:t>Take Great Photos: </a:t>
            </a:r>
            <a:endParaRPr sz="1200">
              <a:solidFill>
                <a:schemeClr val="dk1"/>
              </a:solidFill>
              <a:highlight>
                <a:schemeClr val="lt1"/>
              </a:highlight>
            </a:endParaRPr>
          </a:p>
          <a:p>
            <a:pPr indent="-299085" lvl="1" marL="914400" rtl="0" algn="l">
              <a:spcBef>
                <a:spcPts val="0"/>
              </a:spcBef>
              <a:spcAft>
                <a:spcPts val="0"/>
              </a:spcAft>
              <a:buClr>
                <a:schemeClr val="dk1"/>
              </a:buClr>
              <a:buSzPct val="100000"/>
              <a:buChar char="-"/>
            </a:pPr>
            <a:r>
              <a:rPr lang="en" sz="1200">
                <a:solidFill>
                  <a:schemeClr val="dk1"/>
                </a:solidFill>
                <a:highlight>
                  <a:schemeClr val="lt1"/>
                </a:highlight>
              </a:rPr>
              <a:t>Take high-quality photos of your home to showcase its best features and make it stand out online. Use natural lighting and take photos from different angles to give buyers a comprehensive view of your home.</a:t>
            </a:r>
            <a:endParaRPr sz="1200">
              <a:solidFill>
                <a:schemeClr val="dk1"/>
              </a:solidFill>
              <a:highlight>
                <a:schemeClr val="lt1"/>
              </a:highlight>
            </a:endParaRPr>
          </a:p>
          <a:p>
            <a:pPr indent="-299085" lvl="1" marL="914400" rtl="0" algn="l">
              <a:spcBef>
                <a:spcPts val="0"/>
              </a:spcBef>
              <a:spcAft>
                <a:spcPts val="0"/>
              </a:spcAft>
              <a:buClr>
                <a:schemeClr val="dk1"/>
              </a:buClr>
              <a:buSzPct val="100000"/>
              <a:buChar char="-"/>
            </a:pPr>
            <a:r>
              <a:rPr lang="en" sz="1200">
                <a:solidFill>
                  <a:schemeClr val="dk1"/>
                </a:solidFill>
                <a:highlight>
                  <a:schemeClr val="lt1"/>
                </a:highlight>
              </a:rPr>
              <a:t>You can hire a professional photographer for around $100-$200 to shoot the amount of pictures necessary.</a:t>
            </a:r>
            <a:endParaRPr sz="1200">
              <a:solidFill>
                <a:schemeClr val="dk1"/>
              </a:solidFill>
              <a:highlight>
                <a:schemeClr val="lt1"/>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 2 FAQ</a:t>
            </a:r>
            <a:endParaRPr/>
          </a:p>
          <a:p>
            <a:pPr indent="0" lvl="0" marL="0" rtl="0" algn="l">
              <a:spcBef>
                <a:spcPts val="0"/>
              </a:spcBef>
              <a:spcAft>
                <a:spcPts val="0"/>
              </a:spcAft>
              <a:buNone/>
            </a:pPr>
            <a:r>
              <a:t/>
            </a:r>
            <a:endParaRPr/>
          </a:p>
        </p:txBody>
      </p:sp>
      <p:sp>
        <p:nvSpPr>
          <p:cNvPr id="133" name="Google Shape;133;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lnSpc>
                <a:spcPct val="150000"/>
              </a:lnSpc>
              <a:spcBef>
                <a:spcPts val="0"/>
              </a:spcBef>
              <a:spcAft>
                <a:spcPts val="0"/>
              </a:spcAft>
              <a:buClr>
                <a:schemeClr val="dk1"/>
              </a:buClr>
              <a:buSzPts val="1200"/>
              <a:buChar char="-"/>
            </a:pPr>
            <a:r>
              <a:rPr lang="en" sz="1200">
                <a:solidFill>
                  <a:schemeClr val="dk1"/>
                </a:solidFill>
              </a:rPr>
              <a:t>Question 1: </a:t>
            </a:r>
            <a:r>
              <a:rPr lang="en" sz="1200">
                <a:solidFill>
                  <a:schemeClr val="dk1"/>
                </a:solidFill>
              </a:rPr>
              <a:t>Do I really need to take high-quality photos of my home?</a:t>
            </a:r>
            <a:endParaRPr sz="1200">
              <a:solidFill>
                <a:schemeClr val="dk1"/>
              </a:solidFill>
            </a:endParaRPr>
          </a:p>
          <a:p>
            <a:pPr indent="-292100" lvl="1" marL="914400" rtl="0" algn="l">
              <a:lnSpc>
                <a:spcPct val="150000"/>
              </a:lnSpc>
              <a:spcBef>
                <a:spcPts val="0"/>
              </a:spcBef>
              <a:spcAft>
                <a:spcPts val="0"/>
              </a:spcAft>
              <a:buClr>
                <a:schemeClr val="dk1"/>
              </a:buClr>
              <a:buSzPts val="1000"/>
              <a:buChar char="-"/>
            </a:pPr>
            <a:r>
              <a:rPr lang="en" sz="1000">
                <a:solidFill>
                  <a:schemeClr val="dk1"/>
                </a:solidFill>
              </a:rPr>
              <a:t>Yes, photos are often the first thing potential buyers see when looking for a home. It's essential to take high-quality photos that showcase your home's best features and make it stand out online.</a:t>
            </a:r>
            <a:endParaRPr sz="1000">
              <a:solidFill>
                <a:schemeClr val="dk1"/>
              </a:solidFill>
            </a:endParaRPr>
          </a:p>
          <a:p>
            <a:pPr indent="-304800" lvl="0" marL="457200" rtl="0" algn="l">
              <a:lnSpc>
                <a:spcPct val="150000"/>
              </a:lnSpc>
              <a:spcBef>
                <a:spcPts val="0"/>
              </a:spcBef>
              <a:spcAft>
                <a:spcPts val="0"/>
              </a:spcAft>
              <a:buClr>
                <a:schemeClr val="dk1"/>
              </a:buClr>
              <a:buSzPts val="1200"/>
              <a:buChar char="-"/>
            </a:pPr>
            <a:r>
              <a:rPr lang="en" sz="1200">
                <a:solidFill>
                  <a:schemeClr val="dk1"/>
                </a:solidFill>
              </a:rPr>
              <a:t>Question 2: </a:t>
            </a:r>
            <a:r>
              <a:rPr lang="en" sz="1200">
                <a:solidFill>
                  <a:schemeClr val="dk1"/>
                </a:solidFill>
              </a:rPr>
              <a:t>Can't I just refuse showings if they're inconvenient for me?</a:t>
            </a:r>
            <a:endParaRPr sz="1200">
              <a:solidFill>
                <a:schemeClr val="dk1"/>
              </a:solidFill>
            </a:endParaRPr>
          </a:p>
          <a:p>
            <a:pPr indent="-292100" lvl="1" marL="914400" rtl="0" algn="l">
              <a:lnSpc>
                <a:spcPct val="150000"/>
              </a:lnSpc>
              <a:spcBef>
                <a:spcPts val="0"/>
              </a:spcBef>
              <a:spcAft>
                <a:spcPts val="0"/>
              </a:spcAft>
              <a:buClr>
                <a:schemeClr val="dk1"/>
              </a:buClr>
              <a:buSzPts val="1000"/>
              <a:buChar char="-"/>
            </a:pPr>
            <a:r>
              <a:rPr lang="en" sz="1000">
                <a:solidFill>
                  <a:schemeClr val="dk1"/>
                </a:solidFill>
              </a:rPr>
              <a:t>While showings can be inconvenient, they are a necessary part of the selling process. Consider working with a real estate agent who can handle showings for you or setting specific showing times that work for your schedule.</a:t>
            </a:r>
            <a:endParaRPr sz="1000">
              <a:solidFill>
                <a:schemeClr val="dk1"/>
              </a:solidFill>
            </a:endParaRPr>
          </a:p>
          <a:p>
            <a:pPr indent="0" lvl="0" marL="457200" rtl="0" algn="l">
              <a:lnSpc>
                <a:spcPct val="150000"/>
              </a:lnSpc>
              <a:spcBef>
                <a:spcPts val="2400"/>
              </a:spcBef>
              <a:spcAft>
                <a:spcPts val="0"/>
              </a:spcAft>
              <a:buNone/>
            </a:pPr>
            <a:r>
              <a:t/>
            </a:r>
            <a:endParaRPr sz="1200">
              <a:solidFill>
                <a:schemeClr val="dk1"/>
              </a:solidFill>
              <a:highlight>
                <a:schemeClr val="lt1"/>
              </a:highlight>
            </a:endParaRPr>
          </a:p>
          <a:p>
            <a:pPr indent="0" lvl="0" marL="457200" rtl="0" algn="l">
              <a:spcBef>
                <a:spcPts val="0"/>
              </a:spcBef>
              <a:spcAft>
                <a:spcPts val="1600"/>
              </a:spcAft>
              <a:buNone/>
            </a:pPr>
            <a:r>
              <a:t/>
            </a:r>
            <a:endParaRPr sz="1200">
              <a:solidFill>
                <a:srgbClr val="00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Step 3: Market Your Home</a:t>
            </a:r>
            <a:endParaRPr/>
          </a:p>
        </p:txBody>
      </p:sp>
      <p:sp>
        <p:nvSpPr>
          <p:cNvPr id="139" name="Google Shape;139;p27"/>
          <p:cNvSpPr txBox="1"/>
          <p:nvPr>
            <p:ph idx="1" type="body"/>
          </p:nvPr>
        </p:nvSpPr>
        <p:spPr>
          <a:xfrm>
            <a:off x="311700" y="1152475"/>
            <a:ext cx="8520600" cy="3927600"/>
          </a:xfrm>
          <a:prstGeom prst="rect">
            <a:avLst/>
          </a:prstGeom>
        </p:spPr>
        <p:txBody>
          <a:bodyPr anchorCtr="0" anchor="t" bIns="91425" lIns="91425" spcFirstLastPara="1" rIns="91425" wrap="square" tIns="91425">
            <a:noAutofit/>
          </a:bodyPr>
          <a:lstStyle/>
          <a:p>
            <a:pPr indent="-292100" lvl="0" marL="457200" rtl="0" algn="l">
              <a:lnSpc>
                <a:spcPct val="115000"/>
              </a:lnSpc>
              <a:spcBef>
                <a:spcPts val="0"/>
              </a:spcBef>
              <a:spcAft>
                <a:spcPts val="0"/>
              </a:spcAft>
              <a:buClr>
                <a:schemeClr val="dk1"/>
              </a:buClr>
              <a:buSzPts val="1000"/>
              <a:buChar char="●"/>
            </a:pPr>
            <a:r>
              <a:rPr lang="en" sz="1000">
                <a:solidFill>
                  <a:schemeClr val="dk1"/>
                </a:solidFill>
                <a:highlight>
                  <a:schemeClr val="lt1"/>
                </a:highlight>
              </a:rPr>
              <a:t>List right before the weekend:</a:t>
            </a:r>
            <a:endParaRPr sz="1000">
              <a:solidFill>
                <a:schemeClr val="dk1"/>
              </a:solidFill>
              <a:highlight>
                <a:schemeClr val="lt1"/>
              </a:highlight>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highlight>
                  <a:schemeClr val="lt1"/>
                </a:highlight>
              </a:rPr>
              <a:t>This way you can get inquiries right before the weekend, do showings in the weekend and eventually review offers after the weekend. You want to create an urgency scenario by listing it on the right day of the week. Think of a Thursday. Plan showings right after eachother so that buyers can see there’s interest in the property since there’s lots of foot traffic and showings.</a:t>
            </a:r>
            <a:endParaRPr sz="1000">
              <a:solidFill>
                <a:schemeClr val="dk1"/>
              </a:solidFill>
              <a:highlight>
                <a:schemeClr val="lt1"/>
              </a:highlight>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highlight>
                  <a:schemeClr val="lt1"/>
                </a:highlight>
              </a:rPr>
              <a:t>Use High-Quality Photos and Videos: </a:t>
            </a:r>
            <a:endParaRPr sz="1000">
              <a:solidFill>
                <a:schemeClr val="dk1"/>
              </a:solidFill>
              <a:highlight>
                <a:schemeClr val="lt1"/>
              </a:highlight>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highlight>
                  <a:schemeClr val="lt1"/>
                </a:highlight>
              </a:rPr>
              <a:t>It's important to use high-quality photos and videos to showcase your home's best features. Consider investing in professional photography or a virtual tour to help your listing stand out online.</a:t>
            </a:r>
            <a:endParaRPr sz="1000">
              <a:solidFill>
                <a:schemeClr val="dk1"/>
              </a:solidFill>
              <a:highlight>
                <a:schemeClr val="lt1"/>
              </a:highlight>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highlight>
                  <a:schemeClr val="lt1"/>
                </a:highlight>
              </a:rPr>
              <a:t>Write a Compelling Listing Description: </a:t>
            </a:r>
            <a:endParaRPr sz="1000">
              <a:solidFill>
                <a:schemeClr val="dk1"/>
              </a:solidFill>
              <a:highlight>
                <a:schemeClr val="lt1"/>
              </a:highlight>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highlight>
                  <a:schemeClr val="lt1"/>
                </a:highlight>
              </a:rPr>
              <a:t>Your listing description should be concise, yet informative, highlighting the unique features and benefits of your home. Use descriptive language and emphasize what makes your home special.</a:t>
            </a:r>
            <a:endParaRPr sz="1000">
              <a:solidFill>
                <a:schemeClr val="dk1"/>
              </a:solidFill>
              <a:highlight>
                <a:schemeClr val="lt1"/>
              </a:highlight>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highlight>
                  <a:schemeClr val="lt1"/>
                </a:highlight>
              </a:rPr>
              <a:t>Advertise on Multiple Platforms: </a:t>
            </a:r>
            <a:endParaRPr sz="1000">
              <a:solidFill>
                <a:schemeClr val="dk1"/>
              </a:solidFill>
              <a:highlight>
                <a:schemeClr val="lt1"/>
              </a:highlight>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highlight>
                  <a:schemeClr val="lt1"/>
                </a:highlight>
              </a:rPr>
              <a:t>In addition to listing your home on traditional real estate websites, consider advertising on social media, community boards, and local newspapers. This can help you reach a wider audience and increase your chances of finding a buyer.</a:t>
            </a:r>
            <a:endParaRPr sz="1000">
              <a:solidFill>
                <a:schemeClr val="dk1"/>
              </a:solidFill>
              <a:highlight>
                <a:schemeClr val="lt1"/>
              </a:highlight>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highlight>
                  <a:schemeClr val="lt1"/>
                </a:highlight>
              </a:rPr>
              <a:t>Host Open Houses: </a:t>
            </a:r>
            <a:endParaRPr sz="1000">
              <a:solidFill>
                <a:schemeClr val="dk1"/>
              </a:solidFill>
              <a:highlight>
                <a:schemeClr val="lt1"/>
              </a:highlight>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highlight>
                  <a:schemeClr val="lt1"/>
                </a:highlight>
              </a:rPr>
              <a:t>Hosting open houses can be a great way to get potential buyers through the door and showcase your home's features. Be sure to advertise your open house on multiple platforms and make the space inviting for visitors.</a:t>
            </a:r>
            <a:endParaRPr sz="1000">
              <a:solidFill>
                <a:schemeClr val="dk1"/>
              </a:solidFill>
              <a:highlight>
                <a:schemeClr val="lt1"/>
              </a:highlight>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highlight>
                  <a:schemeClr val="lt1"/>
                </a:highlight>
              </a:rPr>
              <a:t>Consider Offering Incentives: </a:t>
            </a:r>
            <a:endParaRPr sz="1000">
              <a:solidFill>
                <a:schemeClr val="dk1"/>
              </a:solidFill>
              <a:highlight>
                <a:schemeClr val="lt1"/>
              </a:highlight>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highlight>
                  <a:schemeClr val="lt1"/>
                </a:highlight>
              </a:rPr>
              <a:t>Offering incentives such as a home warranty or seller financing can make your home more appealing to buyers. Be sure to clearly communicate any incentives in your listing description and during showings.</a:t>
            </a:r>
            <a:endParaRPr sz="1000">
              <a:solidFill>
                <a:schemeClr val="dk1"/>
              </a:solidFill>
              <a:highlight>
                <a:schemeClr val="lt1"/>
              </a:highlight>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highlight>
                  <a:schemeClr val="lt1"/>
                </a:highlight>
              </a:rPr>
              <a:t>Price Your Home Competitively: </a:t>
            </a:r>
            <a:endParaRPr sz="1000">
              <a:solidFill>
                <a:schemeClr val="dk1"/>
              </a:solidFill>
              <a:highlight>
                <a:schemeClr val="lt1"/>
              </a:highlight>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highlight>
                  <a:schemeClr val="lt1"/>
                </a:highlight>
              </a:rPr>
              <a:t>Pricing your home competitively is crucial for a successful sale. Do your research to determine a fair market value for your home and be prepared to adjust your price if necessary.</a:t>
            </a:r>
            <a:endParaRPr sz="1000">
              <a:solidFill>
                <a:schemeClr val="dk1"/>
              </a:solidFill>
              <a:highlight>
                <a:schemeClr val="lt1"/>
              </a:highlight>
            </a:endParaRPr>
          </a:p>
          <a:p>
            <a:pPr indent="-292100" lvl="0" marL="457200" rtl="0" algn="l">
              <a:lnSpc>
                <a:spcPct val="115000"/>
              </a:lnSpc>
              <a:spcBef>
                <a:spcPts val="0"/>
              </a:spcBef>
              <a:spcAft>
                <a:spcPts val="0"/>
              </a:spcAft>
              <a:buClr>
                <a:schemeClr val="dk1"/>
              </a:buClr>
              <a:buSzPts val="1000"/>
              <a:buChar char="●"/>
            </a:pPr>
            <a:r>
              <a:rPr lang="en" sz="1000">
                <a:solidFill>
                  <a:schemeClr val="dk1"/>
                </a:solidFill>
                <a:highlight>
                  <a:schemeClr val="lt1"/>
                </a:highlight>
              </a:rPr>
              <a:t>Add this in your listing description:</a:t>
            </a:r>
            <a:endParaRPr sz="1000">
              <a:solidFill>
                <a:schemeClr val="dk1"/>
              </a:solidFill>
              <a:highlight>
                <a:schemeClr val="lt1"/>
              </a:highlight>
            </a:endParaRPr>
          </a:p>
          <a:p>
            <a:pPr indent="-292100" lvl="1" marL="914400" rtl="0" algn="l">
              <a:lnSpc>
                <a:spcPct val="115000"/>
              </a:lnSpc>
              <a:spcBef>
                <a:spcPts val="0"/>
              </a:spcBef>
              <a:spcAft>
                <a:spcPts val="0"/>
              </a:spcAft>
              <a:buClr>
                <a:schemeClr val="dk1"/>
              </a:buClr>
              <a:buSzPts val="1000"/>
              <a:buChar char="○"/>
            </a:pPr>
            <a:r>
              <a:rPr lang="en" sz="1000">
                <a:solidFill>
                  <a:schemeClr val="dk1"/>
                </a:solidFill>
                <a:highlight>
                  <a:schemeClr val="lt1"/>
                </a:highlight>
              </a:rPr>
              <a:t>Add that you may offer a buyer's agent commission if the buyers agents manages to find you a buyer that closes the deal.</a:t>
            </a:r>
            <a:endParaRPr sz="1000">
              <a:solidFill>
                <a:schemeClr val="dk1"/>
              </a:solidFill>
              <a:highlight>
                <a:schemeClr val="lt1"/>
              </a:high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Step 3 FAQ</a:t>
            </a:r>
            <a:endParaRPr/>
          </a:p>
        </p:txBody>
      </p:sp>
      <p:sp>
        <p:nvSpPr>
          <p:cNvPr id="145" name="Google Shape;145;p28"/>
          <p:cNvSpPr txBox="1"/>
          <p:nvPr>
            <p:ph idx="1" type="body"/>
          </p:nvPr>
        </p:nvSpPr>
        <p:spPr>
          <a:xfrm>
            <a:off x="311700" y="1152475"/>
            <a:ext cx="8520600" cy="3706200"/>
          </a:xfrm>
          <a:prstGeom prst="rect">
            <a:avLst/>
          </a:prstGeom>
        </p:spPr>
        <p:txBody>
          <a:bodyPr anchorCtr="0" anchor="t" bIns="91425" lIns="91425" spcFirstLastPara="1" rIns="91425" wrap="square" tIns="91425">
            <a:normAutofit fontScale="92500" lnSpcReduction="20000"/>
          </a:bodyPr>
          <a:lstStyle/>
          <a:p>
            <a:pPr indent="-299085" lvl="0" marL="457200" rtl="0" algn="l">
              <a:lnSpc>
                <a:spcPct val="150000"/>
              </a:lnSpc>
              <a:spcBef>
                <a:spcPts val="0"/>
              </a:spcBef>
              <a:spcAft>
                <a:spcPts val="0"/>
              </a:spcAft>
              <a:buClr>
                <a:schemeClr val="dk1"/>
              </a:buClr>
              <a:buSzPct val="100000"/>
              <a:buChar char="●"/>
            </a:pPr>
            <a:r>
              <a:rPr lang="en" sz="1200">
                <a:solidFill>
                  <a:schemeClr val="dk1"/>
                </a:solidFill>
              </a:rPr>
              <a:t>Question 1: Can't I just list my home for sale online and find a buyer that way?</a:t>
            </a:r>
            <a:endParaRPr sz="1200">
              <a:solidFill>
                <a:schemeClr val="dk1"/>
              </a:solidFill>
            </a:endParaRPr>
          </a:p>
          <a:p>
            <a:pPr indent="-299085" lvl="1" marL="914400" rtl="0" algn="l">
              <a:lnSpc>
                <a:spcPct val="150000"/>
              </a:lnSpc>
              <a:spcBef>
                <a:spcPts val="0"/>
              </a:spcBef>
              <a:spcAft>
                <a:spcPts val="0"/>
              </a:spcAft>
              <a:buClr>
                <a:schemeClr val="dk1"/>
              </a:buClr>
              <a:buSzPct val="100000"/>
              <a:buChar char="○"/>
            </a:pPr>
            <a:r>
              <a:rPr lang="en" sz="1200">
                <a:solidFill>
                  <a:schemeClr val="dk1"/>
                </a:solidFill>
              </a:rPr>
              <a:t>While listing your home for sale online is a great starting point, it's often not enough to find a buyer. An agent can help you market your home more effectively, using their network and experience to find potential buyers and showcase your home's best features. As a homeowner you can unfortunately not put your house on the MLS if you’re not a licensed agent.</a:t>
            </a:r>
            <a:endParaRPr sz="1200">
              <a:solidFill>
                <a:schemeClr val="dk1"/>
              </a:solidFill>
            </a:endParaRPr>
          </a:p>
          <a:p>
            <a:pPr indent="-299085" lvl="0" marL="457200" rtl="0" algn="l">
              <a:lnSpc>
                <a:spcPct val="150000"/>
              </a:lnSpc>
              <a:spcBef>
                <a:spcPts val="0"/>
              </a:spcBef>
              <a:spcAft>
                <a:spcPts val="0"/>
              </a:spcAft>
              <a:buClr>
                <a:schemeClr val="dk1"/>
              </a:buClr>
              <a:buSzPct val="100000"/>
              <a:buChar char="●"/>
            </a:pPr>
            <a:r>
              <a:rPr lang="en" sz="1200">
                <a:solidFill>
                  <a:schemeClr val="dk1"/>
                </a:solidFill>
              </a:rPr>
              <a:t>Question 2: Why is professional photography important when marketing my home for sale?</a:t>
            </a:r>
            <a:endParaRPr sz="1200">
              <a:solidFill>
                <a:schemeClr val="dk1"/>
              </a:solidFill>
            </a:endParaRPr>
          </a:p>
          <a:p>
            <a:pPr indent="-299085" lvl="1" marL="914400" rtl="0" algn="l">
              <a:lnSpc>
                <a:spcPct val="150000"/>
              </a:lnSpc>
              <a:spcBef>
                <a:spcPts val="0"/>
              </a:spcBef>
              <a:spcAft>
                <a:spcPts val="0"/>
              </a:spcAft>
              <a:buClr>
                <a:schemeClr val="dk1"/>
              </a:buClr>
              <a:buSzPct val="100000"/>
              <a:buChar char="○"/>
            </a:pPr>
            <a:r>
              <a:rPr lang="en" sz="1200">
                <a:solidFill>
                  <a:schemeClr val="dk1"/>
                </a:solidFill>
              </a:rPr>
              <a:t>Professional photography can make a huge difference in how your home appears online. High-quality photos can showcase your home's best features and help it stand out from the competition.</a:t>
            </a:r>
            <a:endParaRPr sz="1000">
              <a:solidFill>
                <a:schemeClr val="dk1"/>
              </a:solidFill>
            </a:endParaRPr>
          </a:p>
          <a:p>
            <a:pPr indent="-299085" lvl="0" marL="457200" rtl="0" algn="l">
              <a:lnSpc>
                <a:spcPct val="150000"/>
              </a:lnSpc>
              <a:spcBef>
                <a:spcPts val="0"/>
              </a:spcBef>
              <a:spcAft>
                <a:spcPts val="0"/>
              </a:spcAft>
              <a:buClr>
                <a:schemeClr val="dk1"/>
              </a:buClr>
              <a:buSzPct val="100000"/>
              <a:buChar char="●"/>
            </a:pPr>
            <a:r>
              <a:rPr lang="en" sz="1200">
                <a:solidFill>
                  <a:schemeClr val="dk1"/>
                </a:solidFill>
              </a:rPr>
              <a:t>Question 3: Do I really need to advertise my home on multiple platforms?</a:t>
            </a:r>
            <a:endParaRPr sz="1200">
              <a:solidFill>
                <a:schemeClr val="dk1"/>
              </a:solidFill>
            </a:endParaRPr>
          </a:p>
          <a:p>
            <a:pPr indent="-299085" lvl="1" marL="914400" rtl="0" algn="l">
              <a:lnSpc>
                <a:spcPct val="150000"/>
              </a:lnSpc>
              <a:spcBef>
                <a:spcPts val="0"/>
              </a:spcBef>
              <a:spcAft>
                <a:spcPts val="0"/>
              </a:spcAft>
              <a:buClr>
                <a:schemeClr val="dk1"/>
              </a:buClr>
              <a:buSzPct val="100000"/>
              <a:buChar char="○"/>
            </a:pPr>
            <a:r>
              <a:rPr lang="en" sz="1200">
                <a:solidFill>
                  <a:schemeClr val="dk1"/>
                </a:solidFill>
              </a:rPr>
              <a:t>Yes, advertising your home on multiple platforms can help you reach a wider audience and increase your chances of finding a buyer. An agent can help you determine which platforms are most effective for your specific property and target audience.</a:t>
            </a:r>
            <a:endParaRPr sz="1200">
              <a:solidFill>
                <a:schemeClr val="dk1"/>
              </a:solidFill>
            </a:endParaRPr>
          </a:p>
          <a:p>
            <a:pPr indent="-299085" lvl="0" marL="457200" rtl="0" algn="l">
              <a:lnSpc>
                <a:spcPct val="150000"/>
              </a:lnSpc>
              <a:spcBef>
                <a:spcPts val="0"/>
              </a:spcBef>
              <a:spcAft>
                <a:spcPts val="0"/>
              </a:spcAft>
              <a:buClr>
                <a:schemeClr val="dk1"/>
              </a:buClr>
              <a:buSzPct val="100000"/>
              <a:buChar char="●"/>
            </a:pPr>
            <a:r>
              <a:rPr lang="en" sz="1200">
                <a:solidFill>
                  <a:schemeClr val="dk1"/>
                </a:solidFill>
              </a:rPr>
              <a:t>Question 4: Can I host an open house myself or do I need an agent?</a:t>
            </a:r>
            <a:endParaRPr sz="1200">
              <a:solidFill>
                <a:schemeClr val="dk1"/>
              </a:solidFill>
            </a:endParaRPr>
          </a:p>
          <a:p>
            <a:pPr indent="-299085" lvl="1" marL="914400" rtl="0" algn="l">
              <a:lnSpc>
                <a:spcPct val="150000"/>
              </a:lnSpc>
              <a:spcBef>
                <a:spcPts val="0"/>
              </a:spcBef>
              <a:spcAft>
                <a:spcPts val="0"/>
              </a:spcAft>
              <a:buClr>
                <a:schemeClr val="dk1"/>
              </a:buClr>
              <a:buSzPct val="100000"/>
              <a:buChar char="○"/>
            </a:pPr>
            <a:r>
              <a:rPr lang="en" sz="1200">
                <a:solidFill>
                  <a:schemeClr val="dk1"/>
                </a:solidFill>
              </a:rPr>
              <a:t>While it's possible to host an open house yourself, an agent can help you plan and execute a successful event. They can help you advertise the open house, coordinate with potential buyers, and provide valuable feedback about the event.</a:t>
            </a:r>
            <a:endParaRPr sz="28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Step 4: </a:t>
            </a:r>
            <a:r>
              <a:rPr lang="en"/>
              <a:t>Show Your Home</a:t>
            </a:r>
            <a:r>
              <a:rPr lang="en"/>
              <a:t> </a:t>
            </a:r>
            <a:endParaRPr/>
          </a:p>
          <a:p>
            <a:pPr indent="0" lvl="0" marL="0" rtl="0" algn="l">
              <a:spcBef>
                <a:spcPts val="0"/>
              </a:spcBef>
              <a:spcAft>
                <a:spcPts val="0"/>
              </a:spcAft>
              <a:buNone/>
            </a:pPr>
            <a:r>
              <a:t/>
            </a:r>
            <a:endParaRPr/>
          </a:p>
        </p:txBody>
      </p:sp>
      <p:sp>
        <p:nvSpPr>
          <p:cNvPr id="151" name="Google Shape;151;p29"/>
          <p:cNvSpPr txBox="1"/>
          <p:nvPr>
            <p:ph idx="1" type="body"/>
          </p:nvPr>
        </p:nvSpPr>
        <p:spPr>
          <a:xfrm>
            <a:off x="311700" y="1017725"/>
            <a:ext cx="4417800" cy="3416400"/>
          </a:xfrm>
          <a:prstGeom prst="rect">
            <a:avLst/>
          </a:prstGeom>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chemeClr val="dk1"/>
              </a:buClr>
              <a:buSzPts val="1500"/>
              <a:buChar char="●"/>
            </a:pPr>
            <a:r>
              <a:rPr lang="en" sz="1500">
                <a:solidFill>
                  <a:schemeClr val="dk1"/>
                </a:solidFill>
                <a:highlight>
                  <a:schemeClr val="lt1"/>
                </a:highlight>
              </a:rPr>
              <a:t>Once your home is on the market, you need to be ready to show it to potential buyers. This may involve hosting open houses, scheduling private showings, and accommodating buyer requests. The cost of showing your home is minimal but may include minor expenses like refreshments for open houses.</a:t>
            </a:r>
            <a:endParaRPr sz="1500">
              <a:solidFill>
                <a:schemeClr val="dk1"/>
              </a:solidFill>
              <a:highlight>
                <a:schemeClr val="lt1"/>
              </a:highlight>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highlight>
                  <a:schemeClr val="lt1"/>
                </a:highlight>
              </a:rPr>
              <a:t>Be Flexible with Scheduling: </a:t>
            </a:r>
            <a:endParaRPr sz="1500">
              <a:solidFill>
                <a:schemeClr val="dk1"/>
              </a:solidFill>
              <a:highlight>
                <a:schemeClr val="lt1"/>
              </a:highlight>
            </a:endParaRPr>
          </a:p>
          <a:p>
            <a:pPr indent="-323850" lvl="1" marL="914400" rtl="0" algn="l">
              <a:lnSpc>
                <a:spcPct val="115000"/>
              </a:lnSpc>
              <a:spcBef>
                <a:spcPts val="0"/>
              </a:spcBef>
              <a:spcAft>
                <a:spcPts val="0"/>
              </a:spcAft>
              <a:buClr>
                <a:schemeClr val="dk1"/>
              </a:buClr>
              <a:buSzPts val="1500"/>
              <a:buChar char="○"/>
            </a:pPr>
            <a:r>
              <a:rPr lang="en" sz="1500">
                <a:solidFill>
                  <a:schemeClr val="dk1"/>
                </a:solidFill>
                <a:highlight>
                  <a:schemeClr val="lt1"/>
                </a:highlight>
              </a:rPr>
              <a:t>Buyers may have different schedules and preferences for showings. Try to be as flexible as possible when scheduling showings to accommodate potential buyers.</a:t>
            </a:r>
            <a:endParaRPr sz="1700"/>
          </a:p>
        </p:txBody>
      </p:sp>
      <p:pic>
        <p:nvPicPr>
          <p:cNvPr id="152" name="Google Shape;152;p29"/>
          <p:cNvPicPr preferRelativeResize="0"/>
          <p:nvPr/>
        </p:nvPicPr>
        <p:blipFill>
          <a:blip r:embed="rId3">
            <a:alphaModFix/>
          </a:blip>
          <a:stretch>
            <a:fillRect/>
          </a:stretch>
        </p:blipFill>
        <p:spPr>
          <a:xfrm>
            <a:off x="4844950" y="1372948"/>
            <a:ext cx="4268801" cy="28502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Step 4: Show Your Home </a:t>
            </a:r>
            <a:endParaRPr/>
          </a:p>
          <a:p>
            <a:pPr indent="0" lvl="0" marL="0" rtl="0" algn="l">
              <a:spcBef>
                <a:spcPts val="0"/>
              </a:spcBef>
              <a:spcAft>
                <a:spcPts val="0"/>
              </a:spcAft>
              <a:buClr>
                <a:schemeClr val="dk1"/>
              </a:buClr>
              <a:buSzPct val="39286"/>
              <a:buFont typeface="Arial"/>
              <a:buNone/>
            </a:pPr>
            <a:r>
              <a:t/>
            </a:r>
            <a:endParaRPr/>
          </a:p>
          <a:p>
            <a:pPr indent="0" lvl="0" marL="0" rtl="0" algn="l">
              <a:spcBef>
                <a:spcPts val="0"/>
              </a:spcBef>
              <a:spcAft>
                <a:spcPts val="0"/>
              </a:spcAft>
              <a:buClr>
                <a:schemeClr val="dk1"/>
              </a:buClr>
              <a:buSzPct val="39286"/>
              <a:buFont typeface="Arial"/>
              <a:buNone/>
            </a:pPr>
            <a:r>
              <a:t/>
            </a:r>
            <a:endParaRPr/>
          </a:p>
          <a:p>
            <a:pPr indent="0" lvl="0" marL="0" rtl="0" algn="l">
              <a:spcBef>
                <a:spcPts val="0"/>
              </a:spcBef>
              <a:spcAft>
                <a:spcPts val="0"/>
              </a:spcAft>
              <a:buClr>
                <a:schemeClr val="dk1"/>
              </a:buClr>
              <a:buSzPct val="39286"/>
              <a:buFont typeface="Arial"/>
              <a:buNone/>
            </a:pPr>
            <a:r>
              <a:t/>
            </a:r>
            <a:endParaRPr/>
          </a:p>
          <a:p>
            <a:pPr indent="0" lvl="0" marL="0" rtl="0" algn="l">
              <a:spcBef>
                <a:spcPts val="0"/>
              </a:spcBef>
              <a:spcAft>
                <a:spcPts val="0"/>
              </a:spcAft>
              <a:buNone/>
            </a:pPr>
            <a:r>
              <a:t/>
            </a:r>
            <a:endParaRPr/>
          </a:p>
        </p:txBody>
      </p:sp>
      <p:sp>
        <p:nvSpPr>
          <p:cNvPr id="158" name="Google Shape;158;p30"/>
          <p:cNvSpPr txBox="1"/>
          <p:nvPr>
            <p:ph idx="1" type="body"/>
          </p:nvPr>
        </p:nvSpPr>
        <p:spPr>
          <a:xfrm>
            <a:off x="4739475" y="1357025"/>
            <a:ext cx="4353300" cy="3416400"/>
          </a:xfrm>
          <a:prstGeom prst="rect">
            <a:avLst/>
          </a:prstGeom>
        </p:spPr>
        <p:txBody>
          <a:bodyPr anchorCtr="0" anchor="t" bIns="91425" lIns="91425" spcFirstLastPara="1" rIns="91425" wrap="square" tIns="91425">
            <a:noAutofit/>
          </a:bodyPr>
          <a:lstStyle/>
          <a:p>
            <a:pPr indent="0" lvl="0" marL="0" rtl="0" algn="r">
              <a:lnSpc>
                <a:spcPct val="115000"/>
              </a:lnSpc>
              <a:spcBef>
                <a:spcPts val="0"/>
              </a:spcBef>
              <a:spcAft>
                <a:spcPts val="0"/>
              </a:spcAft>
              <a:buNone/>
            </a:pPr>
            <a:r>
              <a:rPr b="1" lang="en" sz="1900" u="sng">
                <a:solidFill>
                  <a:schemeClr val="dk1"/>
                </a:solidFill>
                <a:highlight>
                  <a:schemeClr val="lt1"/>
                </a:highlight>
              </a:rPr>
              <a:t>Prepare your pets.</a:t>
            </a:r>
            <a:endParaRPr b="1" sz="1900" u="sng">
              <a:solidFill>
                <a:schemeClr val="dk1"/>
              </a:solidFill>
              <a:highlight>
                <a:schemeClr val="lt1"/>
              </a:highlight>
            </a:endParaRPr>
          </a:p>
          <a:p>
            <a:pPr indent="0" lvl="0" marL="0" rtl="0" algn="r">
              <a:lnSpc>
                <a:spcPct val="115000"/>
              </a:lnSpc>
              <a:spcBef>
                <a:spcPts val="1600"/>
              </a:spcBef>
              <a:spcAft>
                <a:spcPts val="0"/>
              </a:spcAft>
              <a:buNone/>
            </a:pPr>
            <a:r>
              <a:rPr lang="en" sz="1900">
                <a:solidFill>
                  <a:schemeClr val="dk1"/>
                </a:solidFill>
                <a:highlight>
                  <a:schemeClr val="lt1"/>
                </a:highlight>
              </a:rPr>
              <a:t>If you have pets, make sure they are secured or removed during showings. Some potential buyers may have allergies or be uncomfortable around animals.</a:t>
            </a:r>
            <a:endParaRPr sz="1900">
              <a:solidFill>
                <a:schemeClr val="dk1"/>
              </a:solidFill>
              <a:highlight>
                <a:schemeClr val="lt1"/>
              </a:highlight>
            </a:endParaRPr>
          </a:p>
          <a:p>
            <a:pPr indent="0" lvl="0" marL="0" rtl="0" algn="r">
              <a:lnSpc>
                <a:spcPct val="115000"/>
              </a:lnSpc>
              <a:spcBef>
                <a:spcPts val="1600"/>
              </a:spcBef>
              <a:spcAft>
                <a:spcPts val="0"/>
              </a:spcAft>
              <a:buNone/>
            </a:pPr>
            <a:r>
              <a:t/>
            </a:r>
            <a:endParaRPr sz="1900">
              <a:solidFill>
                <a:schemeClr val="dk1"/>
              </a:solidFill>
              <a:highlight>
                <a:schemeClr val="lt1"/>
              </a:highlight>
            </a:endParaRPr>
          </a:p>
          <a:p>
            <a:pPr indent="0" lvl="0" marL="0" rtl="0" algn="r">
              <a:lnSpc>
                <a:spcPct val="115000"/>
              </a:lnSpc>
              <a:spcBef>
                <a:spcPts val="1600"/>
              </a:spcBef>
              <a:spcAft>
                <a:spcPts val="1200"/>
              </a:spcAft>
              <a:buNone/>
            </a:pPr>
            <a:r>
              <a:t/>
            </a:r>
            <a:endParaRPr sz="2100"/>
          </a:p>
        </p:txBody>
      </p:sp>
      <p:pic>
        <p:nvPicPr>
          <p:cNvPr id="159" name="Google Shape;159;p30"/>
          <p:cNvPicPr preferRelativeResize="0"/>
          <p:nvPr/>
        </p:nvPicPr>
        <p:blipFill>
          <a:blip r:embed="rId3">
            <a:alphaModFix/>
          </a:blip>
          <a:stretch>
            <a:fillRect/>
          </a:stretch>
        </p:blipFill>
        <p:spPr>
          <a:xfrm>
            <a:off x="605197" y="1357026"/>
            <a:ext cx="4100427" cy="26454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Step 4: Show Your Home </a:t>
            </a:r>
            <a:endParaRPr/>
          </a:p>
          <a:p>
            <a:pPr indent="0" lvl="0" marL="0" rtl="0" algn="l">
              <a:spcBef>
                <a:spcPts val="0"/>
              </a:spcBef>
              <a:spcAft>
                <a:spcPts val="0"/>
              </a:spcAft>
              <a:buNone/>
            </a:pPr>
            <a:r>
              <a:t/>
            </a:r>
            <a:endParaRPr/>
          </a:p>
        </p:txBody>
      </p:sp>
      <p:sp>
        <p:nvSpPr>
          <p:cNvPr id="165" name="Google Shape;165;p31"/>
          <p:cNvSpPr txBox="1"/>
          <p:nvPr>
            <p:ph idx="1" type="body"/>
          </p:nvPr>
        </p:nvSpPr>
        <p:spPr>
          <a:xfrm>
            <a:off x="311700" y="1017725"/>
            <a:ext cx="8520600" cy="34164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Char char="●"/>
            </a:pPr>
            <a:r>
              <a:rPr lang="en" sz="1500">
                <a:solidFill>
                  <a:schemeClr val="dk1"/>
                </a:solidFill>
                <a:highlight>
                  <a:schemeClr val="lt1"/>
                </a:highlight>
              </a:rPr>
              <a:t>Use a Lockbox:</a:t>
            </a:r>
            <a:endParaRPr sz="1500">
              <a:solidFill>
                <a:schemeClr val="dk1"/>
              </a:solidFill>
              <a:highlight>
                <a:schemeClr val="lt1"/>
              </a:highlight>
            </a:endParaRPr>
          </a:p>
          <a:p>
            <a:pPr indent="-323850" lvl="1" marL="914400" rtl="0" algn="l">
              <a:spcBef>
                <a:spcPts val="0"/>
              </a:spcBef>
              <a:spcAft>
                <a:spcPts val="0"/>
              </a:spcAft>
              <a:buClr>
                <a:schemeClr val="dk1"/>
              </a:buClr>
              <a:buSzPts val="1500"/>
              <a:buChar char="○"/>
            </a:pPr>
            <a:r>
              <a:rPr lang="en" sz="1500">
                <a:solidFill>
                  <a:schemeClr val="dk1"/>
                </a:solidFill>
                <a:highlight>
                  <a:schemeClr val="lt1"/>
                </a:highlight>
              </a:rPr>
              <a:t>Oftentimes you might find yourself not at home, typically at work or somewhere else. A lockbox would solve the problem of being able to have the buyer see the housen without them being there.</a:t>
            </a:r>
            <a:endParaRPr sz="1500">
              <a:solidFill>
                <a:schemeClr val="dk1"/>
              </a:solidFill>
              <a:highlight>
                <a:schemeClr val="lt1"/>
              </a:highlight>
            </a:endParaRPr>
          </a:p>
          <a:p>
            <a:pPr indent="-323850" lvl="0" marL="457200" rtl="0" algn="l">
              <a:spcBef>
                <a:spcPts val="0"/>
              </a:spcBef>
              <a:spcAft>
                <a:spcPts val="0"/>
              </a:spcAft>
              <a:buClr>
                <a:schemeClr val="dk1"/>
              </a:buClr>
              <a:buSzPts val="1500"/>
              <a:buChar char="●"/>
            </a:pPr>
            <a:r>
              <a:rPr lang="en" sz="1500">
                <a:solidFill>
                  <a:schemeClr val="dk1"/>
                </a:solidFill>
                <a:highlight>
                  <a:schemeClr val="lt1"/>
                </a:highlight>
              </a:rPr>
              <a:t>Provide Information: </a:t>
            </a:r>
            <a:endParaRPr sz="1500">
              <a:solidFill>
                <a:schemeClr val="dk1"/>
              </a:solidFill>
              <a:highlight>
                <a:schemeClr val="lt1"/>
              </a:highlight>
            </a:endParaRPr>
          </a:p>
          <a:p>
            <a:pPr indent="-323850" lvl="1" marL="914400" rtl="0" algn="l">
              <a:lnSpc>
                <a:spcPct val="115000"/>
              </a:lnSpc>
              <a:spcBef>
                <a:spcPts val="0"/>
              </a:spcBef>
              <a:spcAft>
                <a:spcPts val="0"/>
              </a:spcAft>
              <a:buClr>
                <a:schemeClr val="dk1"/>
              </a:buClr>
              <a:buSzPts val="1500"/>
              <a:buChar char="○"/>
            </a:pPr>
            <a:r>
              <a:rPr lang="en" sz="1500">
                <a:solidFill>
                  <a:schemeClr val="dk1"/>
                </a:solidFill>
                <a:highlight>
                  <a:schemeClr val="lt1"/>
                </a:highlight>
              </a:rPr>
              <a:t>Be prepared to answer questions about your home, such as its age, upgrades, and maintenance history. Providing information upfront can help potential buyers make an informed decision.</a:t>
            </a:r>
            <a:endParaRPr sz="1500">
              <a:solidFill>
                <a:schemeClr val="dk1"/>
              </a:solidFill>
              <a:highlight>
                <a:schemeClr val="lt1"/>
              </a:highlight>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highlight>
                  <a:schemeClr val="lt1"/>
                </a:highlight>
              </a:rPr>
              <a:t>Follow Up: </a:t>
            </a:r>
            <a:endParaRPr sz="1500">
              <a:solidFill>
                <a:schemeClr val="dk1"/>
              </a:solidFill>
              <a:highlight>
                <a:schemeClr val="lt1"/>
              </a:highlight>
            </a:endParaRPr>
          </a:p>
          <a:p>
            <a:pPr indent="-323850" lvl="1" marL="914400" rtl="0" algn="l">
              <a:lnSpc>
                <a:spcPct val="115000"/>
              </a:lnSpc>
              <a:spcBef>
                <a:spcPts val="0"/>
              </a:spcBef>
              <a:spcAft>
                <a:spcPts val="0"/>
              </a:spcAft>
              <a:buClr>
                <a:schemeClr val="dk1"/>
              </a:buClr>
              <a:buSzPts val="1500"/>
              <a:buChar char="○"/>
            </a:pPr>
            <a:r>
              <a:rPr lang="en" sz="1500">
                <a:solidFill>
                  <a:schemeClr val="dk1"/>
                </a:solidFill>
                <a:highlight>
                  <a:schemeClr val="lt1"/>
                </a:highlight>
              </a:rPr>
              <a:t>After showings, follow up with potential buyers or their agents to gather feedback and answer any additional questions they may have.</a:t>
            </a:r>
            <a:endParaRPr sz="1500">
              <a:solidFill>
                <a:schemeClr val="dk1"/>
              </a:solidFill>
              <a:highlight>
                <a:schemeClr val="lt1"/>
              </a:highlight>
            </a:endParaRPr>
          </a:p>
          <a:p>
            <a:pPr indent="0" lvl="0" marL="0" rtl="0" algn="l">
              <a:lnSpc>
                <a:spcPct val="115000"/>
              </a:lnSpc>
              <a:spcBef>
                <a:spcPts val="1600"/>
              </a:spcBef>
              <a:spcAft>
                <a:spcPts val="1200"/>
              </a:spcAft>
              <a:buNone/>
            </a:pPr>
            <a:r>
              <a:t/>
            </a:r>
            <a:endParaRPr sz="17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Step 4 FAQ</a:t>
            </a:r>
            <a:endParaRPr/>
          </a:p>
        </p:txBody>
      </p:sp>
      <p:sp>
        <p:nvSpPr>
          <p:cNvPr id="171" name="Google Shape;171;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a:bodyPr>
          <a:lstStyle/>
          <a:p>
            <a:pPr indent="-299085" lvl="0" marL="457200" rtl="0" algn="l">
              <a:lnSpc>
                <a:spcPct val="150000"/>
              </a:lnSpc>
              <a:spcBef>
                <a:spcPts val="0"/>
              </a:spcBef>
              <a:spcAft>
                <a:spcPts val="0"/>
              </a:spcAft>
              <a:buClr>
                <a:schemeClr val="dk1"/>
              </a:buClr>
              <a:buSzPct val="100000"/>
              <a:buChar char="-"/>
            </a:pPr>
            <a:r>
              <a:rPr lang="en" sz="1200">
                <a:solidFill>
                  <a:schemeClr val="dk1"/>
                </a:solidFill>
              </a:rPr>
              <a:t>Question 1: Do I need to be present during showings?</a:t>
            </a:r>
            <a:endParaRPr sz="1200">
              <a:solidFill>
                <a:schemeClr val="dk1"/>
              </a:solidFill>
            </a:endParaRPr>
          </a:p>
          <a:p>
            <a:pPr indent="-299085" lvl="1" marL="914400" rtl="0" algn="l">
              <a:lnSpc>
                <a:spcPct val="150000"/>
              </a:lnSpc>
              <a:spcBef>
                <a:spcPts val="0"/>
              </a:spcBef>
              <a:spcAft>
                <a:spcPts val="0"/>
              </a:spcAft>
              <a:buClr>
                <a:schemeClr val="dk1"/>
              </a:buClr>
              <a:buSzPct val="100000"/>
              <a:buChar char="-"/>
            </a:pPr>
            <a:r>
              <a:rPr lang="en" sz="1200">
                <a:solidFill>
                  <a:schemeClr val="dk1"/>
                </a:solidFill>
              </a:rPr>
              <a:t>It's not necessary for you to be present during showings, it’s actually better for the sellers to not be there while the homebuyer is viewing your home since a lot of times they may already be accompanied and represented by an agent.</a:t>
            </a:r>
            <a:endParaRPr sz="1200">
              <a:solidFill>
                <a:schemeClr val="dk1"/>
              </a:solidFill>
            </a:endParaRPr>
          </a:p>
          <a:p>
            <a:pPr indent="-299085" lvl="0" marL="457200" rtl="0" algn="l">
              <a:lnSpc>
                <a:spcPct val="150000"/>
              </a:lnSpc>
              <a:spcBef>
                <a:spcPts val="0"/>
              </a:spcBef>
              <a:spcAft>
                <a:spcPts val="0"/>
              </a:spcAft>
              <a:buClr>
                <a:schemeClr val="dk1"/>
              </a:buClr>
              <a:buSzPct val="100000"/>
              <a:buChar char="-"/>
            </a:pPr>
            <a:r>
              <a:rPr lang="en" sz="1200">
                <a:solidFill>
                  <a:schemeClr val="dk1"/>
                </a:solidFill>
              </a:rPr>
              <a:t>Question 2: Can I just show potential buyers around my home myself?</a:t>
            </a:r>
            <a:endParaRPr sz="1200">
              <a:solidFill>
                <a:schemeClr val="dk1"/>
              </a:solidFill>
            </a:endParaRPr>
          </a:p>
          <a:p>
            <a:pPr indent="-299085" lvl="1" marL="914400" rtl="0" algn="l">
              <a:lnSpc>
                <a:spcPct val="150000"/>
              </a:lnSpc>
              <a:spcBef>
                <a:spcPts val="0"/>
              </a:spcBef>
              <a:spcAft>
                <a:spcPts val="0"/>
              </a:spcAft>
              <a:buClr>
                <a:schemeClr val="dk1"/>
              </a:buClr>
              <a:buSzPct val="100000"/>
              <a:buChar char="-"/>
            </a:pPr>
            <a:r>
              <a:rPr lang="en" sz="1200">
                <a:solidFill>
                  <a:schemeClr val="dk1"/>
                </a:solidFill>
              </a:rPr>
              <a:t>While you can certainly show potential buyers around your home yourself, it's often more effective to have an agent or professional showing service handle this for you. They can provide objective information about your home and answer questions professionally, potentially increasing the likelihood of a successful sale.</a:t>
            </a:r>
            <a:endParaRPr sz="1200">
              <a:solidFill>
                <a:schemeClr val="dk1"/>
              </a:solidFill>
            </a:endParaRPr>
          </a:p>
          <a:p>
            <a:pPr indent="-299085" lvl="0" marL="457200" rtl="0" algn="l">
              <a:lnSpc>
                <a:spcPct val="150000"/>
              </a:lnSpc>
              <a:spcBef>
                <a:spcPts val="0"/>
              </a:spcBef>
              <a:spcAft>
                <a:spcPts val="0"/>
              </a:spcAft>
              <a:buClr>
                <a:schemeClr val="dk1"/>
              </a:buClr>
              <a:buSzPct val="100000"/>
              <a:buChar char="-"/>
            </a:pPr>
            <a:r>
              <a:rPr lang="en" sz="1200">
                <a:solidFill>
                  <a:schemeClr val="dk1"/>
                </a:solidFill>
              </a:rPr>
              <a:t>Question 3: Can I do showings on my own schedule?</a:t>
            </a:r>
            <a:endParaRPr sz="1200">
              <a:solidFill>
                <a:schemeClr val="dk1"/>
              </a:solidFill>
            </a:endParaRPr>
          </a:p>
          <a:p>
            <a:pPr indent="-299085" lvl="1" marL="914400" rtl="0" algn="l">
              <a:lnSpc>
                <a:spcPct val="150000"/>
              </a:lnSpc>
              <a:spcBef>
                <a:spcPts val="0"/>
              </a:spcBef>
              <a:spcAft>
                <a:spcPts val="0"/>
              </a:spcAft>
              <a:buClr>
                <a:schemeClr val="dk1"/>
              </a:buClr>
              <a:buSzPct val="100000"/>
              <a:buChar char="-"/>
            </a:pPr>
            <a:r>
              <a:rPr lang="en" sz="1200">
                <a:solidFill>
                  <a:schemeClr val="dk1"/>
                </a:solidFill>
              </a:rPr>
              <a:t>While it's important to be as flexible as possible when scheduling showings, it's also important to understand that potential buyers may have their own schedules and preferences. It's important to be willing to accommodate potential buyers as much as possible, even if it means showing your home during evenings or weekends.</a:t>
            </a:r>
            <a:endParaRPr sz="1000">
              <a:solidFill>
                <a:schemeClr val="dk1"/>
              </a:solidFill>
              <a:highlight>
                <a:schemeClr val="lt1"/>
              </a:highlight>
            </a:endParaRPr>
          </a:p>
          <a:p>
            <a:pPr indent="0" lvl="0" marL="457200" rtl="0" algn="l">
              <a:lnSpc>
                <a:spcPct val="150000"/>
              </a:lnSpc>
              <a:spcBef>
                <a:spcPts val="1600"/>
              </a:spcBef>
              <a:spcAft>
                <a:spcPts val="1600"/>
              </a:spcAft>
              <a:buNone/>
            </a:pPr>
            <a:r>
              <a:t/>
            </a:r>
            <a:endParaRPr sz="1200">
              <a:solidFill>
                <a:schemeClr val="dk1"/>
              </a:solidFill>
              <a:highlight>
                <a:schemeClr val="lt1"/>
              </a:high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Step 5: </a:t>
            </a:r>
            <a:r>
              <a:rPr lang="en"/>
              <a:t>Receive and Evaluate Offers</a:t>
            </a:r>
            <a:endParaRPr/>
          </a:p>
        </p:txBody>
      </p:sp>
      <p:sp>
        <p:nvSpPr>
          <p:cNvPr id="177" name="Google Shape;177;p3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AutoNum type="arabicPeriod"/>
            </a:pPr>
            <a:r>
              <a:rPr lang="en" sz="1200">
                <a:solidFill>
                  <a:schemeClr val="dk1"/>
                </a:solidFill>
                <a:highlight>
                  <a:srgbClr val="FFFFFF"/>
                </a:highlight>
              </a:rPr>
              <a:t>Buyer is qualified, prequalification letter from the buyer and their lender.</a:t>
            </a:r>
            <a:endParaRPr sz="1200">
              <a:solidFill>
                <a:schemeClr val="dk1"/>
              </a:solidFill>
              <a:highlight>
                <a:srgbClr val="FFFFFF"/>
              </a:highlight>
            </a:endParaRPr>
          </a:p>
          <a:p>
            <a:pPr indent="-304800" lvl="0" marL="457200" rtl="0" algn="l">
              <a:spcBef>
                <a:spcPts val="0"/>
              </a:spcBef>
              <a:spcAft>
                <a:spcPts val="0"/>
              </a:spcAft>
              <a:buClr>
                <a:schemeClr val="dk1"/>
              </a:buClr>
              <a:buSzPts val="1200"/>
              <a:buAutoNum type="arabicPeriod"/>
            </a:pPr>
            <a:r>
              <a:rPr lang="en" sz="1200">
                <a:solidFill>
                  <a:schemeClr val="dk1"/>
                </a:solidFill>
                <a:highlight>
                  <a:srgbClr val="FFFFFF"/>
                </a:highlight>
              </a:rPr>
              <a:t>Evaluate by purchase price, highest price.</a:t>
            </a:r>
            <a:endParaRPr sz="1200">
              <a:solidFill>
                <a:schemeClr val="dk1"/>
              </a:solidFill>
              <a:highlight>
                <a:srgbClr val="FFFFFF"/>
              </a:highlight>
            </a:endParaRPr>
          </a:p>
          <a:p>
            <a:pPr indent="-304800" lvl="0" marL="457200" rtl="0" algn="l">
              <a:spcBef>
                <a:spcPts val="0"/>
              </a:spcBef>
              <a:spcAft>
                <a:spcPts val="0"/>
              </a:spcAft>
              <a:buClr>
                <a:schemeClr val="dk1"/>
              </a:buClr>
              <a:buSzPts val="1200"/>
              <a:buAutoNum type="arabicPeriod"/>
            </a:pPr>
            <a:r>
              <a:rPr lang="en" sz="1200">
                <a:solidFill>
                  <a:schemeClr val="dk1"/>
                </a:solidFill>
                <a:highlight>
                  <a:srgbClr val="FFFFFF"/>
                </a:highlight>
              </a:rPr>
              <a:t>Timeline. For example some may pay more but need more </a:t>
            </a:r>
            <a:r>
              <a:rPr lang="en" sz="1200">
                <a:solidFill>
                  <a:schemeClr val="dk1"/>
                </a:solidFill>
                <a:highlight>
                  <a:srgbClr val="FFFFFF"/>
                </a:highlight>
              </a:rPr>
              <a:t>time</a:t>
            </a:r>
            <a:r>
              <a:rPr lang="en" sz="1200">
                <a:solidFill>
                  <a:schemeClr val="dk1"/>
                </a:solidFill>
                <a:highlight>
                  <a:srgbClr val="FFFFFF"/>
                </a:highlight>
              </a:rPr>
              <a:t> because they have to sell a home prior.</a:t>
            </a:r>
            <a:endParaRPr sz="1200">
              <a:solidFill>
                <a:schemeClr val="dk1"/>
              </a:solidFill>
              <a:highlight>
                <a:srgbClr val="FFFFFF"/>
              </a:highlight>
            </a:endParaRPr>
          </a:p>
          <a:p>
            <a:pPr indent="-304800" lvl="0" marL="457200" rtl="0" algn="l">
              <a:spcBef>
                <a:spcPts val="0"/>
              </a:spcBef>
              <a:spcAft>
                <a:spcPts val="0"/>
              </a:spcAft>
              <a:buClr>
                <a:schemeClr val="dk1"/>
              </a:buClr>
              <a:buSzPts val="1200"/>
              <a:buAutoNum type="arabicPeriod"/>
            </a:pPr>
            <a:r>
              <a:rPr lang="en" sz="1200">
                <a:solidFill>
                  <a:schemeClr val="dk1"/>
                </a:solidFill>
                <a:highlight>
                  <a:srgbClr val="FFFFFF"/>
                </a:highlight>
              </a:rPr>
              <a:t>Earnest money. Puyt definition here too. If someone puts more in it typically shows a better buyer.</a:t>
            </a:r>
            <a:endParaRPr sz="1200">
              <a:solidFill>
                <a:schemeClr val="dk1"/>
              </a:solidFill>
              <a:highlight>
                <a:srgbClr val="FFFFFF"/>
              </a:highlight>
            </a:endParaRPr>
          </a:p>
          <a:p>
            <a:pPr indent="-304800" lvl="0" marL="457200" rtl="0" algn="l">
              <a:spcBef>
                <a:spcPts val="0"/>
              </a:spcBef>
              <a:spcAft>
                <a:spcPts val="0"/>
              </a:spcAft>
              <a:buClr>
                <a:schemeClr val="dk1"/>
              </a:buClr>
              <a:buSzPts val="1200"/>
              <a:buAutoNum type="arabicPeriod"/>
            </a:pPr>
            <a:r>
              <a:rPr lang="en" sz="1200">
                <a:solidFill>
                  <a:schemeClr val="dk1"/>
                </a:solidFill>
                <a:highlight>
                  <a:srgbClr val="FFFFFF"/>
                </a:highlight>
              </a:rPr>
              <a:t>Contingencies. Such as the </a:t>
            </a:r>
            <a:r>
              <a:rPr lang="en" sz="1200">
                <a:solidFill>
                  <a:schemeClr val="dk1"/>
                </a:solidFill>
                <a:highlight>
                  <a:srgbClr val="FFFFFF"/>
                </a:highlight>
              </a:rPr>
              <a:t>buyer</a:t>
            </a:r>
            <a:r>
              <a:rPr lang="en" sz="1200">
                <a:solidFill>
                  <a:schemeClr val="dk1"/>
                </a:solidFill>
                <a:highlight>
                  <a:srgbClr val="FFFFFF"/>
                </a:highlight>
              </a:rPr>
              <a:t> having to sell their current home.</a:t>
            </a:r>
            <a:endParaRPr sz="1200">
              <a:solidFill>
                <a:schemeClr val="dk1"/>
              </a:solidFill>
              <a:highlight>
                <a:srgbClr val="FFFFFF"/>
              </a:highlight>
            </a:endParaRPr>
          </a:p>
          <a:p>
            <a:pPr indent="-304800" lvl="0" marL="457200" rtl="0" algn="l">
              <a:spcBef>
                <a:spcPts val="0"/>
              </a:spcBef>
              <a:spcAft>
                <a:spcPts val="0"/>
              </a:spcAft>
              <a:buClr>
                <a:schemeClr val="dk1"/>
              </a:buClr>
              <a:buSzPts val="1200"/>
              <a:buAutoNum type="arabicPeriod"/>
            </a:pPr>
            <a:r>
              <a:rPr lang="en" sz="1200">
                <a:solidFill>
                  <a:schemeClr val="dk1"/>
                </a:solidFill>
                <a:highlight>
                  <a:srgbClr val="FFFFFF"/>
                </a:highlight>
              </a:rPr>
              <a:t>Due </a:t>
            </a:r>
            <a:r>
              <a:rPr lang="en" sz="1200">
                <a:solidFill>
                  <a:schemeClr val="dk1"/>
                </a:solidFill>
                <a:highlight>
                  <a:srgbClr val="FFFFFF"/>
                </a:highlight>
              </a:rPr>
              <a:t>diligence</a:t>
            </a:r>
            <a:r>
              <a:rPr lang="en" sz="1200">
                <a:solidFill>
                  <a:schemeClr val="dk1"/>
                </a:solidFill>
                <a:highlight>
                  <a:srgbClr val="FFFFFF"/>
                </a:highlight>
              </a:rPr>
              <a:t> deadline. Get earnest money back. Short due </a:t>
            </a:r>
            <a:r>
              <a:rPr lang="en" sz="1200">
                <a:solidFill>
                  <a:schemeClr val="dk1"/>
                </a:solidFill>
                <a:highlight>
                  <a:srgbClr val="FFFFFF"/>
                </a:highlight>
              </a:rPr>
              <a:t>diligence to not waste your time. After the period you get to keep the money if they decide to cancel afterwards.</a:t>
            </a:r>
            <a:endParaRPr sz="1200">
              <a:solidFill>
                <a:schemeClr val="dk1"/>
              </a:solidFill>
              <a:highlight>
                <a:srgbClr val="FFFFFF"/>
              </a:highlight>
            </a:endParaRPr>
          </a:p>
          <a:p>
            <a:pPr indent="-304800" lvl="0" marL="457200" rtl="0" algn="l">
              <a:spcBef>
                <a:spcPts val="0"/>
              </a:spcBef>
              <a:spcAft>
                <a:spcPts val="0"/>
              </a:spcAft>
              <a:buClr>
                <a:schemeClr val="dk1"/>
              </a:buClr>
              <a:buSzPts val="1200"/>
              <a:buChar char="-"/>
            </a:pPr>
            <a:r>
              <a:t/>
            </a:r>
            <a:endParaRPr sz="1200">
              <a:solidFill>
                <a:schemeClr val="dk1"/>
              </a:solidFill>
              <a:highlight>
                <a:srgbClr val="FFFFFF"/>
              </a:highlight>
            </a:endParaRPr>
          </a:p>
          <a:p>
            <a:pPr indent="-304800" lvl="0" marL="457200" rtl="0" algn="l">
              <a:spcBef>
                <a:spcPts val="0"/>
              </a:spcBef>
              <a:spcAft>
                <a:spcPts val="0"/>
              </a:spcAft>
              <a:buClr>
                <a:schemeClr val="dk1"/>
              </a:buClr>
              <a:buSzPts val="1200"/>
              <a:buChar char="-"/>
            </a:pPr>
            <a:r>
              <a:rPr lang="en" sz="1200">
                <a:solidFill>
                  <a:schemeClr val="dk1"/>
                </a:solidFill>
                <a:highlight>
                  <a:srgbClr val="FFFFFF"/>
                </a:highlight>
              </a:rPr>
              <a:t>Understand the terms of the offer: Carefully review the terms of each offer, including the purchase price, deposit, financing contingency, and other contingencies. Make sure you understand what each term means and how it will impact the sale of your home.</a:t>
            </a:r>
            <a:endParaRPr sz="1200">
              <a:solidFill>
                <a:schemeClr val="dk1"/>
              </a:solidFill>
              <a:highlight>
                <a:srgbClr val="FFFFFF"/>
              </a:highlight>
            </a:endParaRPr>
          </a:p>
          <a:p>
            <a:pPr indent="-304800" lvl="0" marL="457200" rtl="0" algn="l">
              <a:spcBef>
                <a:spcPts val="0"/>
              </a:spcBef>
              <a:spcAft>
                <a:spcPts val="0"/>
              </a:spcAft>
              <a:buClr>
                <a:schemeClr val="dk1"/>
              </a:buClr>
              <a:buSzPts val="1200"/>
              <a:buChar char="-"/>
            </a:pPr>
            <a:r>
              <a:rPr lang="en" sz="1200">
                <a:solidFill>
                  <a:schemeClr val="dk1"/>
                </a:solidFill>
                <a:highlight>
                  <a:srgbClr val="FFFFFF"/>
                </a:highlight>
              </a:rPr>
              <a:t>Consider the buyer: Take the time to learn about the buyer and their motivations for buying your home. If you receive multiple offers, evaluate each buyer's ability to close the deal and their track record as a homebuyer.</a:t>
            </a:r>
            <a:endParaRPr sz="1200">
              <a:solidFill>
                <a:schemeClr val="dk1"/>
              </a:solidFill>
              <a:highlight>
                <a:srgbClr val="FFFFFF"/>
              </a:highlight>
            </a:endParaRPr>
          </a:p>
          <a:p>
            <a:pPr indent="-304800" lvl="0" marL="457200" rtl="0" algn="l">
              <a:spcBef>
                <a:spcPts val="0"/>
              </a:spcBef>
              <a:spcAft>
                <a:spcPts val="0"/>
              </a:spcAft>
              <a:buClr>
                <a:schemeClr val="dk1"/>
              </a:buClr>
              <a:buSzPts val="1200"/>
              <a:buChar char="-"/>
            </a:pPr>
            <a:r>
              <a:rPr lang="en" sz="1200">
                <a:solidFill>
                  <a:schemeClr val="dk1"/>
                </a:solidFill>
                <a:highlight>
                  <a:srgbClr val="FFFFFF"/>
                </a:highlight>
              </a:rPr>
              <a:t>Look beyond the purchase price: While the purchase price is an important factor to consider, it's not the only factor. Consider the overall terms of the offer, including the closing date, contingencies, and any other terms that may impact the sale.</a:t>
            </a:r>
            <a:endParaRPr sz="1200">
              <a:solidFill>
                <a:schemeClr val="dk1"/>
              </a:solidFill>
              <a:highlight>
                <a:srgbClr val="FFFFFF"/>
              </a:highlight>
            </a:endParaRPr>
          </a:p>
          <a:p>
            <a:pPr indent="-304800" lvl="0" marL="457200" rtl="0" algn="l">
              <a:spcBef>
                <a:spcPts val="0"/>
              </a:spcBef>
              <a:spcAft>
                <a:spcPts val="0"/>
              </a:spcAft>
              <a:buClr>
                <a:schemeClr val="dk1"/>
              </a:buClr>
              <a:buSzPts val="1200"/>
              <a:buChar char="-"/>
            </a:pPr>
            <a:r>
              <a:rPr lang="en" sz="1200">
                <a:solidFill>
                  <a:schemeClr val="dk1"/>
                </a:solidFill>
                <a:highlight>
                  <a:srgbClr val="FFFFFF"/>
                </a:highlight>
              </a:rPr>
              <a:t>Review the timeline: Consider the timeline of each offer, including the closing date and any contingencies that must be met before the sale can be finalized. Make sure you're comfortable with the timeline and that it aligns with your needs and goals.</a:t>
            </a:r>
            <a:endParaRPr sz="1200">
              <a:solidFill>
                <a:schemeClr val="dk1"/>
              </a:solidFill>
              <a:highlight>
                <a:srgbClr val="FFFFFF"/>
              </a:highlight>
            </a:endParaRPr>
          </a:p>
          <a:p>
            <a:pPr indent="-304800" lvl="0" marL="457200" rtl="0" algn="l">
              <a:spcBef>
                <a:spcPts val="0"/>
              </a:spcBef>
              <a:spcAft>
                <a:spcPts val="0"/>
              </a:spcAft>
              <a:buClr>
                <a:schemeClr val="dk1"/>
              </a:buClr>
              <a:buSzPts val="1200"/>
              <a:buChar char="-"/>
            </a:pPr>
            <a:r>
              <a:rPr lang="en" sz="1200">
                <a:solidFill>
                  <a:schemeClr val="dk1"/>
                </a:solidFill>
                <a:highlight>
                  <a:srgbClr val="FFFFFF"/>
                </a:highlight>
              </a:rPr>
              <a:t>Seek guidance from your agent: Your agent can help you evaluate each offer and provide guidance on how to negotiate the best terms for your situation. They can also help you understand the market and how your home compares to other properties in the area.</a:t>
            </a:r>
            <a:endParaRPr sz="1200">
              <a:solidFill>
                <a:schemeClr val="dk1"/>
              </a:solidFill>
              <a:highlight>
                <a:srgbClr val="FFFFFF"/>
              </a:highlight>
            </a:endParaRPr>
          </a:p>
          <a:p>
            <a:pPr indent="-304800" lvl="0" marL="457200" rtl="0" algn="l">
              <a:spcBef>
                <a:spcPts val="0"/>
              </a:spcBef>
              <a:spcAft>
                <a:spcPts val="0"/>
              </a:spcAft>
              <a:buClr>
                <a:schemeClr val="dk1"/>
              </a:buClr>
              <a:buSzPts val="1200"/>
              <a:buChar char="-"/>
            </a:pPr>
            <a:r>
              <a:rPr lang="en" sz="1200">
                <a:solidFill>
                  <a:schemeClr val="dk1"/>
                </a:solidFill>
                <a:highlight>
                  <a:srgbClr val="FFFFFF"/>
                </a:highlight>
              </a:rPr>
              <a:t>Be prepared to negotiate: Be prepared to negotiate with potential buyers to ensure you're getting the best deal possible. This may involve counter offers, concessions, or other negotiations to reach a mutually agreeable purchase agreement.</a:t>
            </a:r>
            <a:endParaRPr sz="1200">
              <a:solidFill>
                <a:schemeClr val="dk1"/>
              </a:solidFill>
              <a:highlight>
                <a:srgbClr val="FFFFFF"/>
              </a:high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Step 6: Close the Sale</a:t>
            </a:r>
            <a:endParaRPr/>
          </a:p>
        </p:txBody>
      </p:sp>
      <p:sp>
        <p:nvSpPr>
          <p:cNvPr id="183" name="Google Shape;183;p34"/>
          <p:cNvSpPr txBox="1"/>
          <p:nvPr>
            <p:ph idx="1" type="body"/>
          </p:nvPr>
        </p:nvSpPr>
        <p:spPr>
          <a:xfrm>
            <a:off x="311700" y="1152475"/>
            <a:ext cx="8520600" cy="5083500"/>
          </a:xfrm>
          <a:prstGeom prst="rect">
            <a:avLst/>
          </a:prstGeom>
        </p:spPr>
        <p:txBody>
          <a:bodyPr anchorCtr="0" anchor="t" bIns="91425" lIns="91425" spcFirstLastPara="1" rIns="91425" wrap="square" tIns="91425">
            <a:noAutofit/>
          </a:bodyPr>
          <a:lstStyle/>
          <a:p>
            <a:pPr indent="-294005" lvl="0" marL="457200" rtl="0" algn="l">
              <a:lnSpc>
                <a:spcPct val="140000"/>
              </a:lnSpc>
              <a:spcBef>
                <a:spcPts val="0"/>
              </a:spcBef>
              <a:spcAft>
                <a:spcPts val="0"/>
              </a:spcAft>
              <a:buClr>
                <a:schemeClr val="dk1"/>
              </a:buClr>
              <a:buSzPts val="1030"/>
              <a:buAutoNum type="arabicPeriod"/>
            </a:pPr>
            <a:r>
              <a:rPr lang="en" sz="1030">
                <a:solidFill>
                  <a:schemeClr val="dk1"/>
                </a:solidFill>
                <a:highlight>
                  <a:srgbClr val="FFFFFF"/>
                </a:highlight>
              </a:rPr>
              <a:t>Work with a title company that you can trust to handle your side of the documents.</a:t>
            </a:r>
            <a:endParaRPr sz="1030">
              <a:solidFill>
                <a:schemeClr val="dk1"/>
              </a:solidFill>
              <a:highlight>
                <a:srgbClr val="FFFFFF"/>
              </a:highlight>
            </a:endParaRPr>
          </a:p>
          <a:p>
            <a:pPr indent="-294005" lvl="0" marL="457200" rtl="0" algn="l">
              <a:lnSpc>
                <a:spcPct val="140000"/>
              </a:lnSpc>
              <a:spcBef>
                <a:spcPts val="0"/>
              </a:spcBef>
              <a:spcAft>
                <a:spcPts val="0"/>
              </a:spcAft>
              <a:buClr>
                <a:schemeClr val="dk1"/>
              </a:buClr>
              <a:buSzPts val="1030"/>
              <a:buAutoNum type="arabicPeriod"/>
            </a:pPr>
            <a:r>
              <a:rPr lang="en" sz="1030">
                <a:solidFill>
                  <a:schemeClr val="dk1"/>
                </a:solidFill>
                <a:highlight>
                  <a:srgbClr val="FFFFFF"/>
                </a:highlight>
              </a:rPr>
              <a:t>Mention closing costs depending on market either the seller or the buyer covers that. Typically 1%</a:t>
            </a:r>
            <a:endParaRPr sz="1030">
              <a:solidFill>
                <a:schemeClr val="dk1"/>
              </a:solidFill>
              <a:highlight>
                <a:srgbClr val="FFFFFF"/>
              </a:highlight>
            </a:endParaRPr>
          </a:p>
          <a:p>
            <a:pPr indent="-294005" lvl="0" marL="457200" rtl="0" algn="l">
              <a:lnSpc>
                <a:spcPct val="140000"/>
              </a:lnSpc>
              <a:spcBef>
                <a:spcPts val="0"/>
              </a:spcBef>
              <a:spcAft>
                <a:spcPts val="0"/>
              </a:spcAft>
              <a:buClr>
                <a:schemeClr val="dk1"/>
              </a:buClr>
              <a:buSzPts val="1030"/>
              <a:buAutoNum type="arabicPeriod"/>
            </a:pPr>
            <a:r>
              <a:rPr lang="en" sz="1030">
                <a:solidFill>
                  <a:schemeClr val="dk1"/>
                </a:solidFill>
                <a:highlight>
                  <a:srgbClr val="FFFFFF"/>
                </a:highlight>
              </a:rPr>
              <a:t>Repairs. During the due </a:t>
            </a:r>
            <a:r>
              <a:rPr lang="en" sz="1030">
                <a:solidFill>
                  <a:schemeClr val="dk1"/>
                </a:solidFill>
                <a:highlight>
                  <a:srgbClr val="FFFFFF"/>
                </a:highlight>
              </a:rPr>
              <a:t>diligence</a:t>
            </a:r>
            <a:r>
              <a:rPr lang="en" sz="1030">
                <a:solidFill>
                  <a:schemeClr val="dk1"/>
                </a:solidFill>
                <a:highlight>
                  <a:srgbClr val="FFFFFF"/>
                </a:highlight>
              </a:rPr>
              <a:t> the buyer will have an </a:t>
            </a:r>
            <a:r>
              <a:rPr lang="en" sz="1030">
                <a:solidFill>
                  <a:schemeClr val="dk1"/>
                </a:solidFill>
                <a:highlight>
                  <a:srgbClr val="FFFFFF"/>
                </a:highlight>
              </a:rPr>
              <a:t>inspector</a:t>
            </a:r>
            <a:r>
              <a:rPr lang="en" sz="1030">
                <a:solidFill>
                  <a:schemeClr val="dk1"/>
                </a:solidFill>
                <a:highlight>
                  <a:srgbClr val="FFFFFF"/>
                </a:highlight>
              </a:rPr>
              <a:t> and during the dd period it’s a </a:t>
            </a:r>
            <a:r>
              <a:rPr lang="en" sz="1030">
                <a:solidFill>
                  <a:schemeClr val="dk1"/>
                </a:solidFill>
                <a:highlight>
                  <a:srgbClr val="FFFFFF"/>
                </a:highlight>
              </a:rPr>
              <a:t>renegotiating</a:t>
            </a:r>
            <a:r>
              <a:rPr lang="en" sz="1030">
                <a:solidFill>
                  <a:schemeClr val="dk1"/>
                </a:solidFill>
                <a:highlight>
                  <a:srgbClr val="FFFFFF"/>
                </a:highlight>
              </a:rPr>
              <a:t> period. </a:t>
            </a:r>
            <a:endParaRPr sz="1030">
              <a:solidFill>
                <a:schemeClr val="dk1"/>
              </a:solidFill>
              <a:highlight>
                <a:srgbClr val="FFFFFF"/>
              </a:highlight>
            </a:endParaRPr>
          </a:p>
          <a:p>
            <a:pPr indent="-294005" lvl="0" marL="457200" rtl="0" algn="l">
              <a:lnSpc>
                <a:spcPct val="140000"/>
              </a:lnSpc>
              <a:spcBef>
                <a:spcPts val="0"/>
              </a:spcBef>
              <a:spcAft>
                <a:spcPts val="0"/>
              </a:spcAft>
              <a:buClr>
                <a:schemeClr val="dk1"/>
              </a:buClr>
              <a:buSzPts val="1030"/>
              <a:buAutoNum type="arabicPeriod"/>
            </a:pPr>
            <a:r>
              <a:rPr lang="en" sz="1030">
                <a:solidFill>
                  <a:schemeClr val="dk1"/>
                </a:solidFill>
                <a:highlight>
                  <a:srgbClr val="FFFFFF"/>
                </a:highlight>
              </a:rPr>
              <a:t>Appraisal. If they get a loan the </a:t>
            </a:r>
            <a:r>
              <a:rPr lang="en" sz="1030">
                <a:solidFill>
                  <a:schemeClr val="dk1"/>
                </a:solidFill>
                <a:highlight>
                  <a:srgbClr val="FFFFFF"/>
                </a:highlight>
              </a:rPr>
              <a:t>house</a:t>
            </a:r>
            <a:r>
              <a:rPr lang="en" sz="1030">
                <a:solidFill>
                  <a:schemeClr val="dk1"/>
                </a:solidFill>
                <a:highlight>
                  <a:srgbClr val="FFFFFF"/>
                </a:highlight>
              </a:rPr>
              <a:t> needs to appraise for the value. If not than they can typically cancel the contract if the appraised value is below the purchase price the buyer will have to come up with the difference or cancel the agreement if there’s a financing and appraisal deadline, potentially. Renegotiate if can’t come up with money.</a:t>
            </a:r>
            <a:endParaRPr sz="1030">
              <a:solidFill>
                <a:schemeClr val="dk1"/>
              </a:solidFill>
              <a:highlight>
                <a:srgbClr val="FFFFFF"/>
              </a:highlight>
            </a:endParaRPr>
          </a:p>
          <a:p>
            <a:pPr indent="0" lvl="0" marL="0" rtl="0" algn="l">
              <a:lnSpc>
                <a:spcPct val="140000"/>
              </a:lnSpc>
              <a:spcBef>
                <a:spcPts val="0"/>
              </a:spcBef>
              <a:spcAft>
                <a:spcPts val="0"/>
              </a:spcAft>
              <a:buNone/>
            </a:pPr>
            <a:r>
              <a:t/>
            </a:r>
            <a:endParaRPr sz="1030">
              <a:solidFill>
                <a:schemeClr val="dk1"/>
              </a:solidFill>
              <a:highlight>
                <a:srgbClr val="FFFFFF"/>
              </a:highlight>
            </a:endParaRPr>
          </a:p>
          <a:p>
            <a:pPr indent="-294005" lvl="0" marL="457200" rtl="0" algn="l">
              <a:lnSpc>
                <a:spcPct val="140000"/>
              </a:lnSpc>
              <a:spcBef>
                <a:spcPts val="0"/>
              </a:spcBef>
              <a:spcAft>
                <a:spcPts val="0"/>
              </a:spcAft>
              <a:buClr>
                <a:schemeClr val="dk1"/>
              </a:buClr>
              <a:buSzPts val="1030"/>
              <a:buChar char="-"/>
            </a:pPr>
            <a:r>
              <a:rPr lang="en" sz="1030">
                <a:solidFill>
                  <a:schemeClr val="dk1"/>
                </a:solidFill>
                <a:highlight>
                  <a:srgbClr val="FFFFFF"/>
                </a:highlight>
              </a:rPr>
              <a:t>Once you have accepted an offer, it's time to close the sale. This may involve hiring a title company to handle the legal aspects of the transaction and arranging for a home inspection and appraisal. The cost of closing the sale varies depending on the services required.</a:t>
            </a:r>
            <a:endParaRPr sz="1030">
              <a:solidFill>
                <a:schemeClr val="dk1"/>
              </a:solidFill>
              <a:highlight>
                <a:srgbClr val="FFFFFF"/>
              </a:highlight>
            </a:endParaRPr>
          </a:p>
          <a:p>
            <a:pPr indent="-294005" lvl="0" marL="457200" rtl="0" algn="l">
              <a:lnSpc>
                <a:spcPct val="140000"/>
              </a:lnSpc>
              <a:spcBef>
                <a:spcPts val="0"/>
              </a:spcBef>
              <a:spcAft>
                <a:spcPts val="0"/>
              </a:spcAft>
              <a:buClr>
                <a:schemeClr val="dk1"/>
              </a:buClr>
              <a:buSzPts val="1030"/>
              <a:buChar char="-"/>
            </a:pPr>
            <a:r>
              <a:rPr lang="en" sz="1030">
                <a:solidFill>
                  <a:schemeClr val="dk1"/>
                </a:solidFill>
                <a:highlight>
                  <a:srgbClr val="FFFFFF"/>
                </a:highlight>
              </a:rPr>
              <a:t>Review all of the closing documents carefully to ensure that they accurately reflect the terms of the sale. Make sure you understand all of the fees and costs associated with the transaction.</a:t>
            </a:r>
            <a:endParaRPr sz="1030">
              <a:solidFill>
                <a:schemeClr val="dk1"/>
              </a:solidFill>
              <a:highlight>
                <a:srgbClr val="FFFFFF"/>
              </a:highlight>
            </a:endParaRPr>
          </a:p>
          <a:p>
            <a:pPr indent="-294005" lvl="0" marL="457200" rtl="0" algn="l">
              <a:lnSpc>
                <a:spcPct val="140000"/>
              </a:lnSpc>
              <a:spcBef>
                <a:spcPts val="0"/>
              </a:spcBef>
              <a:spcAft>
                <a:spcPts val="0"/>
              </a:spcAft>
              <a:buClr>
                <a:schemeClr val="dk1"/>
              </a:buClr>
              <a:buSzPts val="1030"/>
              <a:buChar char="-"/>
            </a:pPr>
            <a:r>
              <a:rPr lang="en" sz="1030">
                <a:solidFill>
                  <a:schemeClr val="dk1"/>
                </a:solidFill>
                <a:highlight>
                  <a:srgbClr val="FFFFFF"/>
                </a:highlight>
              </a:rPr>
              <a:t>Coordinate with the buyer: Coordinate with the buyer to ensure a smooth closing process. This may include scheduling a final walkthrough of the property and coordinating the transfer of keys and other important items.</a:t>
            </a:r>
            <a:endParaRPr sz="1030">
              <a:solidFill>
                <a:schemeClr val="dk1"/>
              </a:solidFill>
              <a:highlight>
                <a:srgbClr val="FFFFFF"/>
              </a:highlight>
            </a:endParaRPr>
          </a:p>
          <a:p>
            <a:pPr indent="-294005" lvl="0" marL="457200" rtl="0" algn="l">
              <a:lnSpc>
                <a:spcPct val="140000"/>
              </a:lnSpc>
              <a:spcBef>
                <a:spcPts val="0"/>
              </a:spcBef>
              <a:spcAft>
                <a:spcPts val="0"/>
              </a:spcAft>
              <a:buClr>
                <a:schemeClr val="dk1"/>
              </a:buClr>
              <a:buSzPts val="1030"/>
              <a:buChar char="-"/>
            </a:pPr>
            <a:r>
              <a:rPr lang="en" sz="1030">
                <a:solidFill>
                  <a:schemeClr val="dk1"/>
                </a:solidFill>
                <a:highlight>
                  <a:srgbClr val="FFFFFF"/>
                </a:highlight>
              </a:rPr>
              <a:t>Arrange for payment: Arrange for payment of the purchase price and any closing costs. This may involve working with your lender to pay off any outstanding mortgages or liens on the property.</a:t>
            </a:r>
            <a:endParaRPr sz="1030">
              <a:solidFill>
                <a:schemeClr val="dk1"/>
              </a:solidFill>
              <a:highlight>
                <a:srgbClr val="FFFFFF"/>
              </a:highlight>
            </a:endParaRPr>
          </a:p>
          <a:p>
            <a:pPr indent="-294005" lvl="0" marL="457200" rtl="0" algn="l">
              <a:lnSpc>
                <a:spcPct val="140000"/>
              </a:lnSpc>
              <a:spcBef>
                <a:spcPts val="0"/>
              </a:spcBef>
              <a:spcAft>
                <a:spcPts val="0"/>
              </a:spcAft>
              <a:buClr>
                <a:schemeClr val="dk1"/>
              </a:buClr>
              <a:buSzPts val="1030"/>
              <a:buChar char="-"/>
            </a:pPr>
            <a:r>
              <a:rPr lang="en" sz="1030">
                <a:solidFill>
                  <a:schemeClr val="dk1"/>
                </a:solidFill>
                <a:highlight>
                  <a:srgbClr val="FFFFFF"/>
                </a:highlight>
              </a:rPr>
              <a:t>Consider tax implications: Consider the tax implications of the sale and consult with a tax professional if necessary. You may need to pay capital gains taxes on any profits from the sale.</a:t>
            </a:r>
            <a:endParaRPr sz="1030">
              <a:solidFill>
                <a:schemeClr val="dk1"/>
              </a:solidFill>
              <a:highlight>
                <a:srgbClr val="FFFFFF"/>
              </a:highlight>
            </a:endParaRPr>
          </a:p>
          <a:p>
            <a:pPr indent="-294005" lvl="0" marL="457200" rtl="0" algn="l">
              <a:lnSpc>
                <a:spcPct val="140000"/>
              </a:lnSpc>
              <a:spcBef>
                <a:spcPts val="0"/>
              </a:spcBef>
              <a:spcAft>
                <a:spcPts val="0"/>
              </a:spcAft>
              <a:buClr>
                <a:schemeClr val="dk1"/>
              </a:buClr>
              <a:buSzPts val="1030"/>
              <a:buChar char="-"/>
            </a:pPr>
            <a:r>
              <a:rPr lang="en" sz="1030">
                <a:solidFill>
                  <a:schemeClr val="dk1"/>
                </a:solidFill>
                <a:highlight>
                  <a:srgbClr val="FFFFFF"/>
                </a:highlight>
              </a:rPr>
              <a:t>Cancel utility services: Cancel all utility services and transfer any remaining balances to your new address.</a:t>
            </a:r>
            <a:endParaRPr sz="1030">
              <a:solidFill>
                <a:schemeClr val="dk1"/>
              </a:solidFill>
              <a:highlight>
                <a:srgbClr val="FFFFFF"/>
              </a:highlight>
            </a:endParaRPr>
          </a:p>
          <a:p>
            <a:pPr indent="-294005" lvl="0" marL="457200" rtl="0" algn="l">
              <a:lnSpc>
                <a:spcPct val="140000"/>
              </a:lnSpc>
              <a:spcBef>
                <a:spcPts val="0"/>
              </a:spcBef>
              <a:spcAft>
                <a:spcPts val="0"/>
              </a:spcAft>
              <a:buClr>
                <a:schemeClr val="dk1"/>
              </a:buClr>
              <a:buSzPts val="1030"/>
              <a:buChar char="-"/>
            </a:pPr>
            <a:r>
              <a:rPr lang="en" sz="1030">
                <a:solidFill>
                  <a:schemeClr val="dk1"/>
                </a:solidFill>
                <a:highlight>
                  <a:srgbClr val="FFFFFF"/>
                </a:highlight>
              </a:rPr>
              <a:t>Maintain property insurance: Maintain property insurance until the transaction is complete to ensure that you are protected in the event of any unforeseen issues.</a:t>
            </a:r>
            <a:endParaRPr sz="1030">
              <a:solidFill>
                <a:schemeClr val="dk1"/>
              </a:solidFill>
              <a:highlight>
                <a:srgbClr val="FFFFFF"/>
              </a:highlight>
            </a:endParaRPr>
          </a:p>
          <a:p>
            <a:pPr indent="-294005" lvl="0" marL="457200" rtl="0" algn="l">
              <a:lnSpc>
                <a:spcPct val="140000"/>
              </a:lnSpc>
              <a:spcBef>
                <a:spcPts val="0"/>
              </a:spcBef>
              <a:spcAft>
                <a:spcPts val="0"/>
              </a:spcAft>
              <a:buClr>
                <a:schemeClr val="dk1"/>
              </a:buClr>
              <a:buSzPts val="1030"/>
              <a:buChar char="-"/>
            </a:pPr>
            <a:r>
              <a:rPr lang="en" sz="1030">
                <a:solidFill>
                  <a:schemeClr val="dk1"/>
                </a:solidFill>
                <a:highlight>
                  <a:srgbClr val="FFFFFF"/>
                </a:highlight>
              </a:rPr>
              <a:t>Work with your agent: Work closely with your agent to ensure that all of the necessary steps are completed and that the transaction is successful.</a:t>
            </a:r>
            <a:endParaRPr sz="1030">
              <a:solidFill>
                <a:schemeClr val="dk1"/>
              </a:solidFill>
              <a:highlight>
                <a:srgbClr val="FFFFFF"/>
              </a:highlight>
            </a:endParaRPr>
          </a:p>
          <a:p>
            <a:pPr indent="-294005" lvl="0" marL="457200" rtl="0" algn="l">
              <a:lnSpc>
                <a:spcPct val="140000"/>
              </a:lnSpc>
              <a:spcBef>
                <a:spcPts val="0"/>
              </a:spcBef>
              <a:spcAft>
                <a:spcPts val="0"/>
              </a:spcAft>
              <a:buClr>
                <a:schemeClr val="dk1"/>
              </a:buClr>
              <a:buSzPts val="1030"/>
              <a:buChar char="-"/>
            </a:pPr>
            <a:r>
              <a:rPr lang="en" sz="1030">
                <a:solidFill>
                  <a:schemeClr val="dk1"/>
                </a:solidFill>
                <a:highlight>
                  <a:srgbClr val="FFFFFF"/>
                </a:highlight>
              </a:rPr>
              <a:t>By keeping these factors in mind, you can help ensure a smooth and successful closing process for the sale of your home. It's also important to work closely with your agent throughout the process to address any issues that may arise and ensure a successful sale.</a:t>
            </a:r>
            <a:endParaRPr sz="1495"/>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CHANGE </a:t>
            </a:r>
            <a:r>
              <a:rPr lang="en"/>
              <a:t>{SECRETS} </a:t>
            </a:r>
            <a:r>
              <a:rPr lang="en"/>
              <a:t>Did You Know?</a:t>
            </a:r>
            <a:endParaRPr/>
          </a:p>
          <a:p>
            <a:pPr indent="0" lvl="0" marL="0" rtl="0" algn="l">
              <a:spcBef>
                <a:spcPts val="0"/>
              </a:spcBef>
              <a:spcAft>
                <a:spcPts val="0"/>
              </a:spcAft>
              <a:buNone/>
            </a:pPr>
            <a:r>
              <a:t/>
            </a:r>
            <a:endParaRPr/>
          </a:p>
        </p:txBody>
      </p:sp>
      <p:sp>
        <p:nvSpPr>
          <p:cNvPr id="189" name="Google Shape;189;p3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1000">
                <a:solidFill>
                  <a:schemeClr val="dk1"/>
                </a:solidFill>
                <a:highlight>
                  <a:srgbClr val="FFFFFF"/>
                </a:highlight>
              </a:rPr>
              <a:t>There are some very useful program(s) for homesellers in {CITY/AREA}.</a:t>
            </a:r>
            <a:endParaRPr i="1" sz="10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t/>
            </a:r>
            <a:endParaRPr b="1" i="1" sz="10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rPr b="1" i="1" lang="en" sz="1000">
                <a:solidFill>
                  <a:schemeClr val="dk1"/>
                </a:solidFill>
                <a:highlight>
                  <a:srgbClr val="FFFFFF"/>
                </a:highlight>
              </a:rPr>
              <a:t>Let an inspector 300-400 usd so you know the problems before the prospective buyer knows about them. depending on the area In Utah a meth test would be good so if there was meth inside it can be remediated. Do inspection before listings so you know what’s going to happen because there’s a high chance the buyer will hire one anyway so you know beforehand what to fix so that you don’t run into any specialists. For example: If the same issue in the house does come up again you have proof of fixing. You want to know about all the problems before hand</a:t>
            </a:r>
            <a:endParaRPr b="1" i="1" sz="10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t/>
            </a:r>
            <a:endParaRPr b="1" i="1" sz="1000">
              <a:solidFill>
                <a:schemeClr val="dk1"/>
              </a:solidFill>
              <a:highlight>
                <a:srgbClr val="FFFFFF"/>
              </a:highlight>
            </a:endParaRPr>
          </a:p>
          <a:p>
            <a:pPr indent="0" lvl="0" marL="0" rtl="0" algn="l">
              <a:spcBef>
                <a:spcPts val="1600"/>
              </a:spcBef>
              <a:spcAft>
                <a:spcPts val="0"/>
              </a:spcAft>
              <a:buClr>
                <a:schemeClr val="dk1"/>
              </a:buClr>
              <a:buSzPts val="1100"/>
              <a:buFont typeface="Arial"/>
              <a:buNone/>
            </a:pPr>
            <a:r>
              <a:rPr b="1" i="1" lang="en" sz="1000">
                <a:solidFill>
                  <a:schemeClr val="dk1"/>
                </a:solidFill>
                <a:highlight>
                  <a:srgbClr val="FFFFFF"/>
                </a:highlight>
              </a:rPr>
              <a:t>Secret2</a:t>
            </a:r>
            <a:endParaRPr b="1" i="1" sz="1000">
              <a:solidFill>
                <a:schemeClr val="dk1"/>
              </a:solidFill>
              <a:highlight>
                <a:srgbClr val="FFFFFF"/>
              </a:highlight>
            </a:endParaRPr>
          </a:p>
          <a:p>
            <a:pPr indent="0" lvl="0" marL="0" rtl="0" algn="l">
              <a:spcBef>
                <a:spcPts val="1600"/>
              </a:spcBef>
              <a:spcAft>
                <a:spcPts val="1600"/>
              </a:spcAft>
              <a:buClr>
                <a:schemeClr val="dk1"/>
              </a:buClr>
              <a:buSzPts val="1100"/>
              <a:buFont typeface="Arial"/>
              <a:buNone/>
            </a:pPr>
            <a:r>
              <a:rPr b="1" i="1" lang="en" sz="1000">
                <a:solidFill>
                  <a:schemeClr val="dk1"/>
                </a:solidFill>
                <a:highlight>
                  <a:srgbClr val="FFFFFF"/>
                </a:highlight>
              </a:rPr>
              <a:t>Call 3 Realtors in the area. Make pictures and videos and send this to them. Say ‘hey im thinking of selling my house, can you give me an estimate of what you think i can list it for’.</a:t>
            </a:r>
            <a:br>
              <a:rPr b="1" i="1" lang="en" sz="1000">
                <a:solidFill>
                  <a:schemeClr val="dk1"/>
                </a:solidFill>
                <a:highlight>
                  <a:srgbClr val="FFFFFF"/>
                </a:highlight>
              </a:rPr>
            </a:br>
            <a:endParaRPr sz="1000">
              <a:solidFill>
                <a:schemeClr val="dk1"/>
              </a:solidFill>
              <a:highlight>
                <a:srgbClr val="FFFFFF"/>
              </a:high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Option 1 - You Try To Sell Your Home Yourself</a:t>
            </a:r>
            <a:endParaRPr/>
          </a:p>
        </p:txBody>
      </p:sp>
      <p:sp>
        <p:nvSpPr>
          <p:cNvPr id="195" name="Google Shape;195;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62500"/>
          </a:bodyPr>
          <a:lstStyle/>
          <a:p>
            <a:pPr indent="0" lvl="0" marL="0" rtl="0" algn="l">
              <a:spcBef>
                <a:spcPts val="0"/>
              </a:spcBef>
              <a:spcAft>
                <a:spcPts val="0"/>
              </a:spcAft>
              <a:buClr>
                <a:schemeClr val="dk1"/>
              </a:buClr>
              <a:buSzPct val="61111"/>
              <a:buFont typeface="Arial"/>
              <a:buNone/>
            </a:pPr>
            <a:r>
              <a:rPr lang="en"/>
              <a:t>Limited Exposure: Without the help of a real estate agent, you may not be able to market your home as effectively as you would with professional help. This can limit your exposure to potential buyers, which can result in a longer sales process.</a:t>
            </a:r>
            <a:endParaRPr/>
          </a:p>
          <a:p>
            <a:pPr indent="0" lvl="0" marL="0" rtl="0" algn="l">
              <a:spcBef>
                <a:spcPts val="1200"/>
              </a:spcBef>
              <a:spcAft>
                <a:spcPts val="0"/>
              </a:spcAft>
              <a:buClr>
                <a:schemeClr val="dk1"/>
              </a:buClr>
              <a:buSzPct val="61111"/>
              <a:buFont typeface="Arial"/>
              <a:buNone/>
            </a:pPr>
            <a:r>
              <a:rPr lang="en"/>
              <a:t>Pricing Challenges: Determining the right price for your home can be challenging without the help of a professional. Overpricing can result in your home sitting on the market for too long, while underpricing can mean leaving money on the table.</a:t>
            </a:r>
            <a:endParaRPr/>
          </a:p>
          <a:p>
            <a:pPr indent="0" lvl="0" marL="0" rtl="0" algn="l">
              <a:spcBef>
                <a:spcPts val="1200"/>
              </a:spcBef>
              <a:spcAft>
                <a:spcPts val="0"/>
              </a:spcAft>
              <a:buClr>
                <a:schemeClr val="dk1"/>
              </a:buClr>
              <a:buSzPct val="61111"/>
              <a:buFont typeface="Arial"/>
              <a:buNone/>
            </a:pPr>
            <a:r>
              <a:rPr lang="en"/>
              <a:t>Legal and Contractual Issues: Selling a home involves a lot of legal and contractual issues that can be difficult to navigate without the help of a professional. These issues include drafting and negotiating contracts, complying with disclosure laws, and understanding local zoning laws.</a:t>
            </a:r>
            <a:endParaRPr/>
          </a:p>
          <a:p>
            <a:pPr indent="0" lvl="0" marL="0" rtl="0" algn="l">
              <a:spcBef>
                <a:spcPts val="1200"/>
              </a:spcBef>
              <a:spcAft>
                <a:spcPts val="0"/>
              </a:spcAft>
              <a:buClr>
                <a:schemeClr val="dk1"/>
              </a:buClr>
              <a:buSzPct val="61111"/>
              <a:buFont typeface="Arial"/>
              <a:buNone/>
            </a:pPr>
            <a:r>
              <a:rPr lang="en"/>
              <a:t>Time and Effort: Selling a home requires a lot of time and effort, from marketing and staging your home to showing it to potential buyers and negotiating contracts. Without the help of a real estate agent, you may need to take on more of this work yourself.</a:t>
            </a:r>
            <a:endParaRPr/>
          </a:p>
          <a:p>
            <a:pPr indent="0" lvl="0" marL="0" rtl="0" algn="l">
              <a:spcBef>
                <a:spcPts val="1200"/>
              </a:spcBef>
              <a:spcAft>
                <a:spcPts val="0"/>
              </a:spcAft>
              <a:buClr>
                <a:schemeClr val="dk1"/>
              </a:buClr>
              <a:buSzPct val="61111"/>
              <a:buFont typeface="Arial"/>
              <a:buNone/>
            </a:pPr>
            <a:r>
              <a:rPr lang="en"/>
              <a:t>Emotional Attachment: As a homeowner, you may have a lot of emotional attachment to your home, which can make it difficult to make objective decisions about pricing and negotiating.</a:t>
            </a:r>
            <a:endParaRPr/>
          </a:p>
          <a:p>
            <a:pPr indent="0" lvl="0" marL="0" rtl="0" algn="l">
              <a:spcBef>
                <a:spcPts val="1200"/>
              </a:spcBef>
              <a:spcAft>
                <a:spcPts val="12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Option 2 - Find the </a:t>
            </a:r>
            <a:r>
              <a:rPr i="1" lang="en"/>
              <a:t>Right</a:t>
            </a:r>
            <a:r>
              <a:rPr lang="en"/>
              <a:t> Agent Yourself</a:t>
            </a:r>
            <a:endParaRPr/>
          </a:p>
          <a:p>
            <a:pPr indent="0" lvl="0" marL="0" rtl="0" algn="l">
              <a:spcBef>
                <a:spcPts val="0"/>
              </a:spcBef>
              <a:spcAft>
                <a:spcPts val="0"/>
              </a:spcAft>
              <a:buNone/>
            </a:pPr>
            <a:r>
              <a:t/>
            </a:r>
            <a:endParaRPr/>
          </a:p>
        </p:txBody>
      </p:sp>
      <p:sp>
        <p:nvSpPr>
          <p:cNvPr id="201" name="Google Shape;201;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chemeClr val="dk1"/>
              </a:buClr>
              <a:buSzPts val="1200"/>
              <a:buChar char="-"/>
            </a:pPr>
            <a:r>
              <a:rPr lang="en" sz="1200">
                <a:solidFill>
                  <a:schemeClr val="dk1"/>
                </a:solidFill>
              </a:rPr>
              <a:t>Look for another agent that is experienced, trustworthy, aware of market trends, responsive, attentive (treats you as their </a:t>
            </a:r>
            <a:r>
              <a:rPr i="1" lang="en" sz="1200">
                <a:solidFill>
                  <a:schemeClr val="dk1"/>
                </a:solidFill>
              </a:rPr>
              <a:t>only</a:t>
            </a:r>
            <a:r>
              <a:rPr lang="en" sz="1200">
                <a:solidFill>
                  <a:schemeClr val="dk1"/>
                </a:solidFill>
              </a:rPr>
              <a:t> client) and has a good overall economic knowledge. </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You’ll waste hours of your time interviewing and finding the right agent. </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You can try to sell a home yourself, however it isn’t recommended especially if it’s your first time. The home selling process can be complicated and emotional. </a:t>
            </a:r>
            <a:r>
              <a:rPr lang="en" sz="1200">
                <a:solidFill>
                  <a:schemeClr val="dk1"/>
                </a:solidFill>
                <a:highlight>
                  <a:schemeClr val="lt1"/>
                </a:highlight>
              </a:rPr>
              <a:t>Having an agent by your side can help you navigate the housing market, submit a legally sound offer and avoid getting less than expected.</a:t>
            </a:r>
            <a:endParaRPr sz="1200">
              <a:solidFill>
                <a:schemeClr val="dk1"/>
              </a:solidFill>
              <a:highlight>
                <a:schemeClr val="lt1"/>
              </a:highlight>
            </a:endParaRPr>
          </a:p>
          <a:p>
            <a:pPr indent="-304800" lvl="0" marL="457200" rtl="0" algn="l">
              <a:spcBef>
                <a:spcPts val="0"/>
              </a:spcBef>
              <a:spcAft>
                <a:spcPts val="0"/>
              </a:spcAft>
              <a:buClr>
                <a:schemeClr val="dk1"/>
              </a:buClr>
              <a:buSzPts val="1200"/>
              <a:buChar char="-"/>
            </a:pPr>
            <a:r>
              <a:rPr lang="en" sz="1200">
                <a:solidFill>
                  <a:schemeClr val="dk1"/>
                </a:solidFill>
                <a:highlight>
                  <a:schemeClr val="lt1"/>
                </a:highlight>
              </a:rPr>
              <a:t>Many agents may not even know about the exclusive programs and grants available so you will miss out on the best deal. </a:t>
            </a:r>
            <a:endParaRPr sz="1200">
              <a:solidFill>
                <a:schemeClr val="dk1"/>
              </a:solidFill>
              <a:highlight>
                <a:schemeClr val="lt1"/>
              </a:highlight>
            </a:endParaRPr>
          </a:p>
          <a:p>
            <a:pPr indent="0" lvl="0" marL="0" rtl="0" algn="l">
              <a:spcBef>
                <a:spcPts val="1600"/>
              </a:spcBef>
              <a:spcAft>
                <a:spcPts val="120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Option 3: Work With Me</a:t>
            </a:r>
            <a:endParaRPr/>
          </a:p>
          <a:p>
            <a:pPr indent="0" lvl="0" marL="0" rtl="0" algn="l">
              <a:spcBef>
                <a:spcPts val="0"/>
              </a:spcBef>
              <a:spcAft>
                <a:spcPts val="0"/>
              </a:spcAft>
              <a:buNone/>
            </a:pPr>
            <a:r>
              <a:t/>
            </a:r>
            <a:endParaRPr/>
          </a:p>
        </p:txBody>
      </p:sp>
      <p:sp>
        <p:nvSpPr>
          <p:cNvPr id="207" name="Google Shape;207;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chemeClr val="dk1"/>
              </a:buClr>
              <a:buSzPts val="1200"/>
              <a:buChar char="-"/>
            </a:pPr>
            <a:r>
              <a:rPr lang="en" sz="1200">
                <a:solidFill>
                  <a:schemeClr val="dk1"/>
                </a:solidFill>
              </a:rPr>
              <a:t>You can hire me to represent you and get access to our VIP Home Sellers Program.</a:t>
            </a:r>
            <a:endParaRPr sz="1200">
              <a:solidFill>
                <a:schemeClr val="dk1"/>
              </a:solidFill>
            </a:endParaRPr>
          </a:p>
        </p:txBody>
      </p:sp>
      <p:pic>
        <p:nvPicPr>
          <p:cNvPr id="208" name="Google Shape;208;p38"/>
          <p:cNvPicPr preferRelativeResize="0"/>
          <p:nvPr/>
        </p:nvPicPr>
        <p:blipFill>
          <a:blip r:embed="rId3">
            <a:alphaModFix/>
          </a:blip>
          <a:stretch>
            <a:fillRect/>
          </a:stretch>
        </p:blipFill>
        <p:spPr>
          <a:xfrm>
            <a:off x="3146300" y="1694400"/>
            <a:ext cx="2785602" cy="278560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Again, this is for: </a:t>
            </a:r>
            <a:endParaRPr/>
          </a:p>
          <a:p>
            <a:pPr indent="0" lvl="0" marL="0" rtl="0" algn="l">
              <a:spcBef>
                <a:spcPts val="0"/>
              </a:spcBef>
              <a:spcAft>
                <a:spcPts val="0"/>
              </a:spcAft>
              <a:buNone/>
            </a:pPr>
            <a:r>
              <a:t/>
            </a:r>
            <a:endParaRPr/>
          </a:p>
        </p:txBody>
      </p:sp>
      <p:sp>
        <p:nvSpPr>
          <p:cNvPr id="214" name="Google Shape;214;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chemeClr val="dk1"/>
              </a:buClr>
              <a:buSzPts val="1200"/>
              <a:buAutoNum type="arabicPeriod"/>
            </a:pPr>
            <a:r>
              <a:rPr lang="en" sz="1200">
                <a:solidFill>
                  <a:schemeClr val="dk1"/>
                </a:solidFill>
              </a:rPr>
              <a:t>You’re a homebuyer who’s looking to buy your dream home for the best bang for your buck, but feeling overwhelmed/intimidated.</a:t>
            </a:r>
            <a:endParaRPr sz="1200">
              <a:solidFill>
                <a:schemeClr val="dk1"/>
              </a:solidFill>
            </a:endParaRPr>
          </a:p>
          <a:p>
            <a:pPr indent="-304800" lvl="0" marL="457200" rtl="0" algn="l">
              <a:spcBef>
                <a:spcPts val="0"/>
              </a:spcBef>
              <a:spcAft>
                <a:spcPts val="0"/>
              </a:spcAft>
              <a:buClr>
                <a:schemeClr val="dk1"/>
              </a:buClr>
              <a:buSzPts val="1200"/>
              <a:buAutoNum type="arabicPeriod"/>
            </a:pPr>
            <a:r>
              <a:rPr lang="en" sz="1200">
                <a:solidFill>
                  <a:schemeClr val="dk1"/>
                </a:solidFill>
              </a:rPr>
              <a:t>You’re a homebuyer with bad credit or little to no cash for a downpayment </a:t>
            </a:r>
            <a:endParaRPr sz="1200">
              <a:solidFill>
                <a:schemeClr val="dk1"/>
              </a:solidFill>
            </a:endParaRPr>
          </a:p>
          <a:p>
            <a:pPr indent="-304800" lvl="0" marL="457200" rtl="0" algn="l">
              <a:spcBef>
                <a:spcPts val="0"/>
              </a:spcBef>
              <a:spcAft>
                <a:spcPts val="0"/>
              </a:spcAft>
              <a:buClr>
                <a:schemeClr val="dk1"/>
              </a:buClr>
              <a:buSzPts val="1200"/>
              <a:buAutoNum type="arabicPeriod"/>
            </a:pPr>
            <a:r>
              <a:rPr lang="en" sz="1200">
                <a:solidFill>
                  <a:schemeClr val="dk1"/>
                </a:solidFill>
              </a:rPr>
              <a:t>You’re actively searching online but need advice from an experienced agent (also access to exclusive listings not found online)</a:t>
            </a:r>
            <a:endParaRPr sz="1200">
              <a:solidFill>
                <a:schemeClr val="dk1"/>
              </a:solidFill>
            </a:endParaRPr>
          </a:p>
          <a:p>
            <a:pPr indent="-304800" lvl="0" marL="457200" rtl="0" algn="l">
              <a:spcBef>
                <a:spcPts val="0"/>
              </a:spcBef>
              <a:spcAft>
                <a:spcPts val="0"/>
              </a:spcAft>
              <a:buClr>
                <a:schemeClr val="dk1"/>
              </a:buClr>
              <a:buSzPts val="1200"/>
              <a:buAutoNum type="arabicPeriod"/>
            </a:pPr>
            <a:r>
              <a:rPr lang="en" sz="1200">
                <a:solidFill>
                  <a:schemeClr val="dk1"/>
                </a:solidFill>
              </a:rPr>
              <a:t>Fear of overpaying or working with a dishonest agent that’s looking for a quick commission cheque  </a:t>
            </a:r>
            <a:endParaRPr sz="1200">
              <a:solidFill>
                <a:schemeClr val="dk1"/>
              </a:solidFill>
            </a:endParaRPr>
          </a:p>
          <a:p>
            <a:pPr indent="-304800" lvl="0" marL="457200" rtl="0" algn="l">
              <a:spcBef>
                <a:spcPts val="0"/>
              </a:spcBef>
              <a:spcAft>
                <a:spcPts val="0"/>
              </a:spcAft>
              <a:buClr>
                <a:schemeClr val="dk1"/>
              </a:buClr>
              <a:buSzPts val="1200"/>
              <a:buAutoNum type="arabicPeriod"/>
            </a:pPr>
            <a:r>
              <a:rPr lang="en" sz="1200">
                <a:solidFill>
                  <a:schemeClr val="dk1"/>
                </a:solidFill>
              </a:rPr>
              <a:t>You’ve searched online but unable to find a home that fits your criteria and budget. You’ve worked with an agent that you don’t trust. You’ve worked with an agent that is not responsive and lacks clear communication. </a:t>
            </a:r>
            <a:endParaRPr sz="1200">
              <a:solidFill>
                <a:schemeClr val="dk1"/>
              </a:solidFill>
            </a:endParaRPr>
          </a:p>
          <a:p>
            <a:pPr indent="-304800" lvl="0" marL="457200" rtl="0" algn="l">
              <a:spcBef>
                <a:spcPts val="0"/>
              </a:spcBef>
              <a:spcAft>
                <a:spcPts val="0"/>
              </a:spcAft>
              <a:buClr>
                <a:schemeClr val="dk1"/>
              </a:buClr>
              <a:buSzPts val="1200"/>
              <a:buAutoNum type="arabicPeriod"/>
            </a:pPr>
            <a:r>
              <a:rPr lang="en" sz="1200">
                <a:solidFill>
                  <a:schemeClr val="dk1"/>
                </a:solidFill>
              </a:rPr>
              <a:t>You want full disclosure at all times for every document. You want to be given the heads up about important changes to housing regulations and mortgage rules. You want to be advised of realistic expectations to buying a home, and dislike last-minute changes.</a:t>
            </a:r>
            <a:endParaRPr sz="1200">
              <a:solidFill>
                <a:schemeClr val="dk1"/>
              </a:solidFill>
            </a:endParaRPr>
          </a:p>
          <a:p>
            <a:pPr indent="0" lvl="0" marL="0" rtl="0" algn="l">
              <a:spcBef>
                <a:spcPts val="1600"/>
              </a:spcBef>
              <a:spcAft>
                <a:spcPts val="12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Proof Case 1 - Transformation 1</a:t>
            </a:r>
            <a:endParaRPr/>
          </a:p>
        </p:txBody>
      </p:sp>
      <p:sp>
        <p:nvSpPr>
          <p:cNvPr id="220" name="Google Shape;220;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chemeClr val="dk1"/>
              </a:buClr>
              <a:buSzPts val="1200"/>
              <a:buChar char="-"/>
            </a:pPr>
            <a:r>
              <a:rPr lang="en" sz="1200">
                <a:solidFill>
                  <a:schemeClr val="dk1"/>
                </a:solidFill>
              </a:rPr>
              <a:t>State 1</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State 2</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Timeframe</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Image</a:t>
            </a:r>
            <a:endParaRPr sz="120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Proof Case 2 - Transformation 2</a:t>
            </a:r>
            <a:endParaRPr/>
          </a:p>
        </p:txBody>
      </p:sp>
      <p:sp>
        <p:nvSpPr>
          <p:cNvPr id="226" name="Google Shape;226;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chemeClr val="dk1"/>
              </a:buClr>
              <a:buSzPts val="1200"/>
              <a:buChar char="-"/>
            </a:pPr>
            <a:r>
              <a:rPr lang="en" sz="1200">
                <a:solidFill>
                  <a:schemeClr val="dk1"/>
                </a:solidFill>
              </a:rPr>
              <a:t>State 1</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State 2</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Timeframe</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Image</a:t>
            </a:r>
            <a:endParaRPr sz="1200">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Proof Case 3 - Transformation 3</a:t>
            </a:r>
            <a:endParaRPr/>
          </a:p>
        </p:txBody>
      </p:sp>
      <p:sp>
        <p:nvSpPr>
          <p:cNvPr id="232" name="Google Shape;232;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chemeClr val="dk1"/>
              </a:buClr>
              <a:buSzPts val="1200"/>
              <a:buChar char="-"/>
            </a:pPr>
            <a:r>
              <a:rPr lang="en" sz="1200">
                <a:solidFill>
                  <a:schemeClr val="dk1"/>
                </a:solidFill>
              </a:rPr>
              <a:t>State 1</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State 2</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Timeframe</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Image</a:t>
            </a:r>
            <a:endParaRPr sz="12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Proof Case 3 - Transformation 3</a:t>
            </a:r>
            <a:endParaRPr/>
          </a:p>
        </p:txBody>
      </p:sp>
      <p:sp>
        <p:nvSpPr>
          <p:cNvPr id="238" name="Google Shape;238;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chemeClr val="dk1"/>
              </a:buClr>
              <a:buSzPts val="1200"/>
              <a:buChar char="-"/>
            </a:pPr>
            <a:r>
              <a:rPr lang="en" sz="1200">
                <a:solidFill>
                  <a:schemeClr val="dk1"/>
                </a:solidFill>
              </a:rPr>
              <a:t>State 1</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State 2</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Timeframe</a:t>
            </a:r>
            <a:endParaRPr sz="1200">
              <a:solidFill>
                <a:schemeClr val="dk1"/>
              </a:solidFill>
            </a:endParaRPr>
          </a:p>
          <a:p>
            <a:pPr indent="-304800" lvl="0" marL="457200" rtl="0" algn="l">
              <a:spcBef>
                <a:spcPts val="0"/>
              </a:spcBef>
              <a:spcAft>
                <a:spcPts val="0"/>
              </a:spcAft>
              <a:buClr>
                <a:schemeClr val="dk1"/>
              </a:buClr>
              <a:buSzPts val="1200"/>
              <a:buChar char="-"/>
            </a:pPr>
            <a:r>
              <a:rPr lang="en" sz="1200">
                <a:solidFill>
                  <a:schemeClr val="dk1"/>
                </a:solidFill>
              </a:rPr>
              <a:t>Image</a:t>
            </a:r>
            <a:endParaRPr sz="12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Us?</a:t>
            </a:r>
            <a:endParaRPr/>
          </a:p>
        </p:txBody>
      </p:sp>
      <p:sp>
        <p:nvSpPr>
          <p:cNvPr id="244" name="Google Shape;244;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Clr>
                <a:srgbClr val="1C1B1A"/>
              </a:buClr>
              <a:buSzPts val="1200"/>
              <a:buChar char="-"/>
            </a:pPr>
            <a:r>
              <a:rPr lang="en" sz="1200">
                <a:solidFill>
                  <a:srgbClr val="1C1B1A"/>
                </a:solidFill>
              </a:rPr>
              <a:t>You will get access to our Exclusive VIP Home Sellers Program.</a:t>
            </a:r>
            <a:endParaRPr sz="1200">
              <a:solidFill>
                <a:srgbClr val="1C1B1A"/>
              </a:solidFill>
            </a:endParaRPr>
          </a:p>
          <a:p>
            <a:pPr indent="-304800" lvl="0" marL="457200" rtl="0" algn="l">
              <a:spcBef>
                <a:spcPts val="0"/>
              </a:spcBef>
              <a:spcAft>
                <a:spcPts val="0"/>
              </a:spcAft>
              <a:buClr>
                <a:srgbClr val="1C1B1A"/>
              </a:buClr>
              <a:buSzPts val="1200"/>
              <a:buChar char="-"/>
            </a:pPr>
            <a:r>
              <a:rPr lang="en" sz="1200">
                <a:solidFill>
                  <a:srgbClr val="1C1B1A"/>
                </a:solidFill>
              </a:rPr>
              <a:t>You will be able to find the best home that fits your criteria and budget FAST.</a:t>
            </a:r>
            <a:endParaRPr sz="1200">
              <a:solidFill>
                <a:srgbClr val="1C1B1A"/>
              </a:solidFill>
            </a:endParaRPr>
          </a:p>
          <a:p>
            <a:pPr indent="-304800" lvl="0" marL="457200" rtl="0" algn="l">
              <a:spcBef>
                <a:spcPts val="0"/>
              </a:spcBef>
              <a:spcAft>
                <a:spcPts val="0"/>
              </a:spcAft>
              <a:buClr>
                <a:srgbClr val="1C1B1A"/>
              </a:buClr>
              <a:buSzPts val="1200"/>
              <a:buChar char="-"/>
            </a:pPr>
            <a:r>
              <a:rPr lang="en" sz="1200">
                <a:solidFill>
                  <a:srgbClr val="1C1B1A"/>
                </a:solidFill>
              </a:rPr>
              <a:t>You can forget about other agents taking advantage of you for a quick commission cheque. </a:t>
            </a:r>
            <a:endParaRPr sz="1200">
              <a:solidFill>
                <a:srgbClr val="1C1B1A"/>
              </a:solidFill>
            </a:endParaRPr>
          </a:p>
          <a:p>
            <a:pPr indent="-304800" lvl="0" marL="457200" rtl="0" algn="l">
              <a:spcBef>
                <a:spcPts val="0"/>
              </a:spcBef>
              <a:spcAft>
                <a:spcPts val="0"/>
              </a:spcAft>
              <a:buClr>
                <a:srgbClr val="1C1B1A"/>
              </a:buClr>
              <a:buSzPts val="1200"/>
              <a:buChar char="-"/>
            </a:pPr>
            <a:r>
              <a:rPr lang="en" sz="1200">
                <a:solidFill>
                  <a:srgbClr val="1C1B1A"/>
                </a:solidFill>
              </a:rPr>
              <a:t>You will feel relieved because we have a hand-held, educational approach towards working with our clients. </a:t>
            </a:r>
            <a:endParaRPr sz="1200">
              <a:solidFill>
                <a:srgbClr val="1C1B1A"/>
              </a:solidFill>
            </a:endParaRPr>
          </a:p>
          <a:p>
            <a:pPr indent="-304800" lvl="0" marL="457200" rtl="0" algn="l">
              <a:spcBef>
                <a:spcPts val="0"/>
              </a:spcBef>
              <a:spcAft>
                <a:spcPts val="0"/>
              </a:spcAft>
              <a:buClr>
                <a:srgbClr val="1C1B1A"/>
              </a:buClr>
              <a:buSzPts val="1200"/>
              <a:buChar char="-"/>
            </a:pPr>
            <a:r>
              <a:rPr lang="en" sz="1200">
                <a:solidFill>
                  <a:srgbClr val="1C1B1A"/>
                </a:solidFill>
              </a:rPr>
              <a:t>We developed our home buyers program after having worked with many </a:t>
            </a:r>
            <a:r>
              <a:rPr lang="en" sz="1200">
                <a:solidFill>
                  <a:srgbClr val="1C1B1A"/>
                </a:solidFill>
              </a:rPr>
              <a:t>clients</a:t>
            </a:r>
            <a:r>
              <a:rPr lang="en" sz="1200">
                <a:solidFill>
                  <a:srgbClr val="1C1B1A"/>
                </a:solidFill>
              </a:rPr>
              <a:t> </a:t>
            </a:r>
            <a:endParaRPr sz="1200">
              <a:solidFill>
                <a:srgbClr val="1C1B1A"/>
              </a:solidFill>
            </a:endParaRPr>
          </a:p>
          <a:p>
            <a:pPr indent="-304800" lvl="0" marL="457200" rtl="0" algn="l">
              <a:spcBef>
                <a:spcPts val="0"/>
              </a:spcBef>
              <a:spcAft>
                <a:spcPts val="0"/>
              </a:spcAft>
              <a:buClr>
                <a:srgbClr val="1C1B1A"/>
              </a:buClr>
              <a:buSzPts val="1200"/>
              <a:buChar char="-"/>
            </a:pPr>
            <a:r>
              <a:rPr lang="en" sz="1200">
                <a:solidFill>
                  <a:srgbClr val="1C1B1A"/>
                </a:solidFill>
              </a:rPr>
              <a:t>Many of our </a:t>
            </a:r>
            <a:r>
              <a:rPr lang="en" sz="1200">
                <a:solidFill>
                  <a:srgbClr val="1C1B1A"/>
                </a:solidFill>
              </a:rPr>
              <a:t>clients</a:t>
            </a:r>
            <a:r>
              <a:rPr lang="en" sz="1200">
                <a:solidFill>
                  <a:srgbClr val="1C1B1A"/>
                </a:solidFill>
              </a:rPr>
              <a:t> have used this program to start building their net worth and ultimately enjoy their dream home</a:t>
            </a:r>
            <a:endParaRPr sz="1200">
              <a:solidFill>
                <a:srgbClr val="1C1B1A"/>
              </a:solidFill>
            </a:endParaRPr>
          </a:p>
          <a:p>
            <a:pPr indent="-304800" lvl="0" marL="457200" rtl="0" algn="l">
              <a:spcBef>
                <a:spcPts val="0"/>
              </a:spcBef>
              <a:spcAft>
                <a:spcPts val="0"/>
              </a:spcAft>
              <a:buClr>
                <a:srgbClr val="1C1B1A"/>
              </a:buClr>
              <a:buSzPts val="1200"/>
              <a:buChar char="-"/>
            </a:pPr>
            <a:r>
              <a:rPr lang="en" sz="1200">
                <a:solidFill>
                  <a:srgbClr val="1C1B1A"/>
                </a:solidFill>
              </a:rPr>
              <a:t>We have a great network of resources </a:t>
            </a:r>
            <a:r>
              <a:rPr lang="en" sz="1200">
                <a:solidFill>
                  <a:srgbClr val="1C1B1A"/>
                </a:solidFill>
              </a:rPr>
              <a:t>available to you that will help you get the best deal on your next property purchase.</a:t>
            </a:r>
            <a:endParaRPr sz="1200">
              <a:solidFill>
                <a:srgbClr val="1C1B1A"/>
              </a:solidFill>
            </a:endParaRPr>
          </a:p>
          <a:p>
            <a:pPr indent="-304800" lvl="0" marL="457200" rtl="0" algn="l">
              <a:spcBef>
                <a:spcPts val="0"/>
              </a:spcBef>
              <a:spcAft>
                <a:spcPts val="0"/>
              </a:spcAft>
              <a:buClr>
                <a:srgbClr val="1C1B1A"/>
              </a:buClr>
              <a:buSzPts val="1200"/>
              <a:buChar char="-"/>
            </a:pPr>
            <a:r>
              <a:rPr lang="en" sz="1200">
                <a:solidFill>
                  <a:srgbClr val="1C1B1A"/>
                </a:solidFill>
              </a:rPr>
              <a:t>We will help you get access to all the programs mentioned earlier in this training and walk you through the process step-by-step ensuring you get the best deal</a:t>
            </a:r>
            <a:endParaRPr sz="1200">
              <a:solidFill>
                <a:srgbClr val="1C1B1A"/>
              </a:solidFill>
            </a:endParaRPr>
          </a:p>
          <a:p>
            <a:pPr indent="-304800" lvl="0" marL="457200" rtl="0" algn="l">
              <a:spcBef>
                <a:spcPts val="0"/>
              </a:spcBef>
              <a:spcAft>
                <a:spcPts val="0"/>
              </a:spcAft>
              <a:buClr>
                <a:srgbClr val="1C1B1A"/>
              </a:buClr>
              <a:buSzPts val="1200"/>
              <a:buChar char="-"/>
            </a:pPr>
            <a:r>
              <a:rPr lang="en" sz="1200">
                <a:solidFill>
                  <a:srgbClr val="1C1B1A"/>
                </a:solidFill>
              </a:rPr>
              <a:t>We practice what we preach.</a:t>
            </a:r>
            <a:endParaRPr sz="1200">
              <a:solidFill>
                <a:srgbClr val="1C1B1A"/>
              </a:solidFill>
            </a:endParaRPr>
          </a:p>
          <a:p>
            <a:pPr indent="0" lvl="0" marL="457200" rtl="0" algn="l">
              <a:spcBef>
                <a:spcPts val="1600"/>
              </a:spcBef>
              <a:spcAft>
                <a:spcPts val="0"/>
              </a:spcAft>
              <a:buNone/>
            </a:pPr>
            <a:r>
              <a:t/>
            </a:r>
            <a:endParaRPr sz="1200">
              <a:solidFill>
                <a:srgbClr val="1C1B1A"/>
              </a:solidFill>
            </a:endParaRPr>
          </a:p>
          <a:p>
            <a:pPr indent="0" lvl="0" marL="0" rtl="0" algn="l">
              <a:spcBef>
                <a:spcPts val="1600"/>
              </a:spcBef>
              <a:spcAft>
                <a:spcPts val="120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Our Offer</a:t>
            </a:r>
            <a:endParaRPr/>
          </a:p>
        </p:txBody>
      </p:sp>
      <p:sp>
        <p:nvSpPr>
          <p:cNvPr id="250" name="Google Shape;250;p45"/>
          <p:cNvSpPr txBox="1"/>
          <p:nvPr>
            <p:ph idx="1" type="body"/>
          </p:nvPr>
        </p:nvSpPr>
        <p:spPr>
          <a:xfrm>
            <a:off x="311700" y="101772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rPr>
              <a:t>Before, when you wanted to purchase a home, you would have to bank of finding the </a:t>
            </a:r>
            <a:r>
              <a:rPr i="1" lang="en" sz="1200">
                <a:solidFill>
                  <a:schemeClr val="dk1"/>
                </a:solidFill>
              </a:rPr>
              <a:t>right</a:t>
            </a:r>
            <a:r>
              <a:rPr lang="en" sz="1200">
                <a:solidFill>
                  <a:schemeClr val="dk1"/>
                </a:solidFill>
              </a:rPr>
              <a:t> realtor and bear all of the risk. But now, you can use our VIP Home Buyers Program to purchase your dream home eliminating any form of risk. Do you see how easy that is? </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sz="800">
              <a:solidFill>
                <a:schemeClr val="dk1"/>
              </a:solidFill>
            </a:endParaRPr>
          </a:p>
          <a:p>
            <a:pPr indent="0" lvl="0" marL="457200" rtl="0" algn="l">
              <a:spcBef>
                <a:spcPts val="0"/>
              </a:spcBef>
              <a:spcAft>
                <a:spcPts val="0"/>
              </a:spcAft>
              <a:buClr>
                <a:schemeClr val="dk1"/>
              </a:buClr>
              <a:buSzPts val="1100"/>
              <a:buFont typeface="Arial"/>
              <a:buNone/>
            </a:pPr>
            <a:r>
              <a:rPr lang="en" sz="800">
                <a:solidFill>
                  <a:schemeClr val="dk1"/>
                </a:solidFill>
              </a:rPr>
              <a:t>✅</a:t>
            </a:r>
            <a:r>
              <a:rPr b="1" lang="en" sz="800">
                <a:solidFill>
                  <a:schemeClr val="dk1"/>
                </a:solidFill>
              </a:rPr>
              <a:t> 12 Month Satisfaction Guaranteed</a:t>
            </a:r>
            <a:r>
              <a:rPr lang="en" sz="800">
                <a:solidFill>
                  <a:schemeClr val="dk1"/>
                </a:solidFill>
              </a:rPr>
              <a:t> - If for any reason you aren’t satisfied or want to sell your home in the first 12 months, we’ll sell it for 0% commission!</a:t>
            </a:r>
            <a:endParaRPr sz="800">
              <a:solidFill>
                <a:schemeClr val="dk1"/>
              </a:solidFill>
            </a:endParaRPr>
          </a:p>
          <a:p>
            <a:pPr indent="0" lvl="0" marL="457200" rtl="0" algn="l">
              <a:spcBef>
                <a:spcPts val="800"/>
              </a:spcBef>
              <a:spcAft>
                <a:spcPts val="0"/>
              </a:spcAft>
              <a:buClr>
                <a:schemeClr val="dk1"/>
              </a:buClr>
              <a:buSzPts val="1100"/>
              <a:buFont typeface="Arial"/>
              <a:buNone/>
            </a:pPr>
            <a:r>
              <a:rPr lang="en" sz="800">
                <a:solidFill>
                  <a:schemeClr val="dk1"/>
                </a:solidFill>
              </a:rPr>
              <a:t>✅</a:t>
            </a:r>
            <a:r>
              <a:rPr b="1" lang="en" sz="800">
                <a:solidFill>
                  <a:schemeClr val="dk1"/>
                </a:solidFill>
              </a:rPr>
              <a:t> Dream Home Finder - </a:t>
            </a:r>
            <a:r>
              <a:rPr lang="en" sz="800">
                <a:solidFill>
                  <a:schemeClr val="dk1"/>
                </a:solidFill>
              </a:rPr>
              <a:t>We will send out mailers, cold call homeowners and door knock in the area you’re looking for if we cannot find what you’re looking for on the MLS. </a:t>
            </a:r>
            <a:endParaRPr sz="800">
              <a:solidFill>
                <a:schemeClr val="dk1"/>
              </a:solidFill>
            </a:endParaRPr>
          </a:p>
          <a:p>
            <a:pPr indent="0" lvl="0" marL="457200" rtl="0" algn="l">
              <a:spcBef>
                <a:spcPts val="800"/>
              </a:spcBef>
              <a:spcAft>
                <a:spcPts val="0"/>
              </a:spcAft>
              <a:buClr>
                <a:schemeClr val="dk1"/>
              </a:buClr>
              <a:buSzPts val="1100"/>
              <a:buFont typeface="Arial"/>
              <a:buNone/>
            </a:pPr>
            <a:r>
              <a:rPr lang="en" sz="800">
                <a:solidFill>
                  <a:schemeClr val="dk1"/>
                </a:solidFill>
              </a:rPr>
              <a:t>✅</a:t>
            </a:r>
            <a:r>
              <a:rPr b="1" lang="en" sz="800">
                <a:solidFill>
                  <a:schemeClr val="dk1"/>
                </a:solidFill>
              </a:rPr>
              <a:t> Contractor Certified Program</a:t>
            </a:r>
            <a:r>
              <a:rPr lang="en" sz="800">
                <a:solidFill>
                  <a:schemeClr val="dk1"/>
                </a:solidFill>
              </a:rPr>
              <a:t> - Our licensed contractor ensures mandatory repairs are made correctly by the seller so there is no additional cost to you!</a:t>
            </a:r>
            <a:endParaRPr sz="800">
              <a:solidFill>
                <a:schemeClr val="dk1"/>
              </a:solidFill>
            </a:endParaRPr>
          </a:p>
          <a:p>
            <a:pPr indent="0" lvl="0" marL="457200" rtl="0" algn="l">
              <a:spcBef>
                <a:spcPts val="800"/>
              </a:spcBef>
              <a:spcAft>
                <a:spcPts val="0"/>
              </a:spcAft>
              <a:buClr>
                <a:schemeClr val="dk1"/>
              </a:buClr>
              <a:buSzPts val="1100"/>
              <a:buFont typeface="Arial"/>
              <a:buNone/>
            </a:pPr>
            <a:r>
              <a:rPr lang="en" sz="800">
                <a:solidFill>
                  <a:schemeClr val="dk1"/>
                </a:solidFill>
              </a:rPr>
              <a:t>✅</a:t>
            </a:r>
            <a:r>
              <a:rPr b="1" lang="en" sz="800">
                <a:solidFill>
                  <a:schemeClr val="dk1"/>
                </a:solidFill>
              </a:rPr>
              <a:t> No Obligation Certificate - </a:t>
            </a:r>
            <a:r>
              <a:rPr lang="en" sz="800">
                <a:solidFill>
                  <a:schemeClr val="dk1"/>
                </a:solidFill>
              </a:rPr>
              <a:t>If for any reason you aren’t satisfied working with us, you’re able to walk away. No strings attached! </a:t>
            </a:r>
            <a:endParaRPr sz="800">
              <a:solidFill>
                <a:schemeClr val="dk1"/>
              </a:solidFill>
            </a:endParaRPr>
          </a:p>
          <a:p>
            <a:pPr indent="0" lvl="0" marL="457200" rtl="0" algn="l">
              <a:spcBef>
                <a:spcPts val="800"/>
              </a:spcBef>
              <a:spcAft>
                <a:spcPts val="0"/>
              </a:spcAft>
              <a:buClr>
                <a:schemeClr val="dk1"/>
              </a:buClr>
              <a:buSzPts val="1100"/>
              <a:buFont typeface="Arial"/>
              <a:buNone/>
            </a:pPr>
            <a:r>
              <a:rPr lang="en" sz="800">
                <a:solidFill>
                  <a:schemeClr val="dk1"/>
                </a:solidFill>
              </a:rPr>
              <a:t>✅</a:t>
            </a:r>
            <a:r>
              <a:rPr b="1" lang="en" sz="800">
                <a:solidFill>
                  <a:schemeClr val="dk1"/>
                </a:solidFill>
              </a:rPr>
              <a:t> </a:t>
            </a:r>
            <a:r>
              <a:rPr b="1" lang="en" sz="800">
                <a:solidFill>
                  <a:schemeClr val="dk1"/>
                </a:solidFill>
              </a:rPr>
              <a:t> Essential Services Program - </a:t>
            </a:r>
            <a:r>
              <a:rPr lang="en" sz="800">
                <a:solidFill>
                  <a:schemeClr val="dk1"/>
                </a:solidFill>
              </a:rPr>
              <a:t>Are you a police officer, firefighter, teacher, healthcare worker or military veteran? If so, you qualify for thousands in savings through a free home appraisal and home warranty. </a:t>
            </a:r>
            <a:endParaRPr b="1" sz="800">
              <a:solidFill>
                <a:schemeClr val="dk1"/>
              </a:solidFill>
            </a:endParaRPr>
          </a:p>
          <a:p>
            <a:pPr indent="0" lvl="0" marL="457200" rtl="0" algn="l">
              <a:spcBef>
                <a:spcPts val="800"/>
              </a:spcBef>
              <a:spcAft>
                <a:spcPts val="0"/>
              </a:spcAft>
              <a:buClr>
                <a:schemeClr val="dk1"/>
              </a:buClr>
              <a:buSzPts val="1100"/>
              <a:buFont typeface="Arial"/>
              <a:buNone/>
            </a:pPr>
            <a:r>
              <a:rPr lang="en" sz="800">
                <a:solidFill>
                  <a:schemeClr val="dk1"/>
                </a:solidFill>
              </a:rPr>
              <a:t>✅</a:t>
            </a:r>
            <a:r>
              <a:rPr b="1" lang="en" sz="800">
                <a:solidFill>
                  <a:schemeClr val="dk1"/>
                </a:solidFill>
              </a:rPr>
              <a:t> Performance Guarantee - </a:t>
            </a:r>
            <a:r>
              <a:rPr lang="en" sz="800">
                <a:solidFill>
                  <a:schemeClr val="dk1"/>
                </a:solidFill>
              </a:rPr>
              <a:t>I will make sure I call you at minimum 1X a week and find a home that we can agree upon in 1 month or I will personally give you 1000 from my commission. That is my promise to you!</a:t>
            </a:r>
            <a:endParaRPr sz="800">
              <a:solidFill>
                <a:schemeClr val="dk1"/>
              </a:solidFill>
            </a:endParaRPr>
          </a:p>
          <a:p>
            <a:pPr indent="0" lvl="0" marL="457200" rtl="0" algn="l">
              <a:spcBef>
                <a:spcPts val="800"/>
              </a:spcBef>
              <a:spcAft>
                <a:spcPts val="0"/>
              </a:spcAft>
              <a:buClr>
                <a:schemeClr val="dk1"/>
              </a:buClr>
              <a:buSzPts val="1100"/>
              <a:buFont typeface="Arial"/>
              <a:buNone/>
            </a:pPr>
            <a:r>
              <a:rPr lang="en" sz="800">
                <a:solidFill>
                  <a:schemeClr val="dk1"/>
                </a:solidFill>
              </a:rPr>
              <a:t>✅ </a:t>
            </a:r>
            <a:r>
              <a:rPr b="1" lang="en" sz="800">
                <a:solidFill>
                  <a:schemeClr val="dk1"/>
                </a:solidFill>
              </a:rPr>
              <a:t>0% Listing Fee</a:t>
            </a:r>
            <a:r>
              <a:rPr lang="en" sz="800">
                <a:solidFill>
                  <a:schemeClr val="dk1"/>
                </a:solidFill>
              </a:rPr>
              <a:t> - If you purchase one of our current listings, we’ll sell your home for free. That is no listing commission! </a:t>
            </a:r>
            <a:endParaRPr sz="800">
              <a:solidFill>
                <a:schemeClr val="dk1"/>
              </a:solidFill>
            </a:endParaRPr>
          </a:p>
          <a:p>
            <a:pPr indent="0" lvl="0" marL="457200" rtl="0" algn="l">
              <a:spcBef>
                <a:spcPts val="800"/>
              </a:spcBef>
              <a:spcAft>
                <a:spcPts val="0"/>
              </a:spcAft>
              <a:buClr>
                <a:schemeClr val="dk1"/>
              </a:buClr>
              <a:buSzPts val="1100"/>
              <a:buFont typeface="Arial"/>
              <a:buNone/>
            </a:pPr>
            <a:r>
              <a:rPr lang="en" sz="800">
                <a:solidFill>
                  <a:schemeClr val="dk1"/>
                </a:solidFill>
              </a:rPr>
              <a:t>✅ </a:t>
            </a:r>
            <a:r>
              <a:rPr b="1" lang="en" sz="800">
                <a:solidFill>
                  <a:schemeClr val="dk1"/>
                </a:solidFill>
              </a:rPr>
              <a:t>Exclusive Listings</a:t>
            </a:r>
            <a:r>
              <a:rPr lang="en" sz="800">
                <a:solidFill>
                  <a:schemeClr val="dk1"/>
                </a:solidFill>
              </a:rPr>
              <a:t>- Get access to listings not found online. Off-market listings, bank-owned properties, foreclosure properties, etc…</a:t>
            </a:r>
            <a:endParaRPr sz="800">
              <a:solidFill>
                <a:schemeClr val="dk1"/>
              </a:solidFill>
            </a:endParaRPr>
          </a:p>
          <a:p>
            <a:pPr indent="0" lvl="0" marL="457200" rtl="0" algn="l">
              <a:spcBef>
                <a:spcPts val="0"/>
              </a:spcBef>
              <a:spcAft>
                <a:spcPts val="0"/>
              </a:spcAft>
              <a:buClr>
                <a:schemeClr val="dk1"/>
              </a:buClr>
              <a:buSzPts val="1100"/>
              <a:buFont typeface="Arial"/>
              <a:buNone/>
            </a:pPr>
            <a:r>
              <a:t/>
            </a:r>
            <a:endParaRPr sz="800">
              <a:solidFill>
                <a:schemeClr val="dk1"/>
              </a:solidFill>
            </a:endParaRPr>
          </a:p>
          <a:p>
            <a:pPr indent="0" lvl="0" marL="457200" rtl="0" algn="l">
              <a:spcBef>
                <a:spcPts val="0"/>
              </a:spcBef>
              <a:spcAft>
                <a:spcPts val="0"/>
              </a:spcAft>
              <a:buClr>
                <a:schemeClr val="dk1"/>
              </a:buClr>
              <a:buSzPts val="1100"/>
              <a:buFont typeface="Arial"/>
              <a:buNone/>
            </a:pPr>
            <a:r>
              <a:rPr lang="en" sz="800">
                <a:solidFill>
                  <a:schemeClr val="dk1"/>
                </a:solidFill>
              </a:rPr>
              <a:t>✅ </a:t>
            </a:r>
            <a:r>
              <a:rPr b="1" lang="en" sz="800">
                <a:solidFill>
                  <a:schemeClr val="dk1"/>
                </a:solidFill>
              </a:rPr>
              <a:t>Proprietary Data Access</a:t>
            </a:r>
            <a:r>
              <a:rPr lang="en" sz="800">
                <a:solidFill>
                  <a:schemeClr val="dk1"/>
                </a:solidFill>
              </a:rPr>
              <a:t>- Get exclusive access to data of previous home sales in your area. </a:t>
            </a:r>
            <a:br>
              <a:rPr lang="en" sz="1100">
                <a:solidFill>
                  <a:schemeClr val="dk1"/>
                </a:solidFill>
              </a:rPr>
            </a:br>
            <a:br>
              <a:rPr lang="en" sz="1100">
                <a:solidFill>
                  <a:schemeClr val="dk1"/>
                </a:solidFill>
              </a:rPr>
            </a:br>
            <a:endParaRPr sz="1000">
              <a:solidFill>
                <a:schemeClr val="dk1"/>
              </a:solidFill>
            </a:endParaRPr>
          </a:p>
          <a:p>
            <a:pPr indent="0" lvl="0" marL="457200" rtl="0" algn="l">
              <a:spcBef>
                <a:spcPts val="0"/>
              </a:spcBef>
              <a:spcAft>
                <a:spcPts val="0"/>
              </a:spcAft>
              <a:buClr>
                <a:schemeClr val="dk1"/>
              </a:buClr>
              <a:buSzPts val="1100"/>
              <a:buFont typeface="Arial"/>
              <a:buNone/>
            </a:pPr>
            <a:r>
              <a:t/>
            </a:r>
            <a:endParaRPr b="1" sz="1200">
              <a:solidFill>
                <a:schemeClr val="dk1"/>
              </a:solidFill>
            </a:endParaRPr>
          </a:p>
          <a:p>
            <a:pPr indent="0" lvl="0" marL="0" rtl="0" algn="l">
              <a:spcBef>
                <a:spcPts val="800"/>
              </a:spcBef>
              <a:spcAft>
                <a:spcPts val="120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Book a Call Now </a:t>
            </a:r>
            <a:endParaRPr/>
          </a:p>
        </p:txBody>
      </p:sp>
      <p:sp>
        <p:nvSpPr>
          <p:cNvPr id="256" name="Google Shape;256;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lang="en" sz="1200">
                <a:solidFill>
                  <a:schemeClr val="dk1"/>
                </a:solidFill>
              </a:rPr>
              <a:t>Book A Call Now Today to Start Your Homebuying Process</a:t>
            </a:r>
            <a:endParaRPr sz="1200">
              <a:solidFill>
                <a:schemeClr val="dk1"/>
              </a:solidFill>
            </a:endParaRPr>
          </a:p>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pic>
        <p:nvPicPr>
          <p:cNvPr id="257" name="Google Shape;257;p46"/>
          <p:cNvPicPr preferRelativeResize="0"/>
          <p:nvPr/>
        </p:nvPicPr>
        <p:blipFill>
          <a:blip r:embed="rId3">
            <a:alphaModFix/>
          </a:blip>
          <a:stretch>
            <a:fillRect/>
          </a:stretch>
        </p:blipFill>
        <p:spPr>
          <a:xfrm>
            <a:off x="3645300" y="1968571"/>
            <a:ext cx="2168725" cy="21687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But Wait...</a:t>
            </a:r>
            <a:endParaRPr/>
          </a:p>
          <a:p>
            <a:pPr indent="0" lvl="0" marL="0" rtl="0" algn="l">
              <a:spcBef>
                <a:spcPts val="0"/>
              </a:spcBef>
              <a:spcAft>
                <a:spcPts val="0"/>
              </a:spcAft>
              <a:buNone/>
            </a:pPr>
            <a:r>
              <a:t/>
            </a:r>
            <a:endParaRPr/>
          </a:p>
        </p:txBody>
      </p:sp>
      <p:sp>
        <p:nvSpPr>
          <p:cNvPr id="263" name="Google Shape;263;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lang="en" sz="1200">
                <a:solidFill>
                  <a:schemeClr val="dk1"/>
                </a:solidFill>
              </a:rPr>
              <a:t>We can only take on </a:t>
            </a:r>
            <a:r>
              <a:rPr b="1" lang="en" sz="1200">
                <a:solidFill>
                  <a:schemeClr val="dk1"/>
                </a:solidFill>
              </a:rPr>
              <a:t>5 </a:t>
            </a:r>
            <a:r>
              <a:rPr lang="en" sz="1200">
                <a:solidFill>
                  <a:schemeClr val="dk1"/>
                </a:solidFill>
              </a:rPr>
              <a:t>new clients per month so make sure you grab your spot or we may not be able to work with you.  </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rPr>
              <a:t>Our motto is </a:t>
            </a:r>
            <a:r>
              <a:rPr i="1" lang="en" sz="1200">
                <a:solidFill>
                  <a:schemeClr val="dk1"/>
                </a:solidFill>
              </a:rPr>
              <a:t>Treat Every Client as If They’re Only Only Client. </a:t>
            </a:r>
            <a:r>
              <a:rPr lang="en" sz="1200">
                <a:solidFill>
                  <a:schemeClr val="dk1"/>
                </a:solidFill>
              </a:rPr>
              <a:t>We’ll treat you as our only client. </a:t>
            </a:r>
            <a:endParaRPr sz="1200">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Your Exclusive Bonus</a:t>
            </a:r>
            <a:endParaRPr/>
          </a:p>
        </p:txBody>
      </p:sp>
      <p:sp>
        <p:nvSpPr>
          <p:cNvPr id="269" name="Google Shape;269;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lang="en" sz="1200">
                <a:solidFill>
                  <a:schemeClr val="dk1"/>
                </a:solidFill>
              </a:rPr>
              <a:t>Now because you’re watching this video and invested your time, we’re going to do something very special. </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rPr>
              <a:t>Now for a limited time, we’re going to offer you our VIP bonus package if you act now. </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00000"/>
              </a:lnSpc>
              <a:spcBef>
                <a:spcPts val="0"/>
              </a:spcBef>
              <a:spcAft>
                <a:spcPts val="0"/>
              </a:spcAft>
              <a:buClr>
                <a:schemeClr val="dk1"/>
              </a:buClr>
              <a:buSzPts val="1100"/>
              <a:buFont typeface="Arial"/>
              <a:buNone/>
            </a:pPr>
            <a:r>
              <a:rPr b="1" lang="en" sz="1200">
                <a:solidFill>
                  <a:schemeClr val="dk1"/>
                </a:solidFill>
              </a:rPr>
              <a:t>VIP Bonus Package:</a:t>
            </a:r>
            <a:endParaRPr b="1" sz="1200">
              <a:solidFill>
                <a:schemeClr val="dk1"/>
              </a:solidFill>
            </a:endParaRPr>
          </a:p>
          <a:p>
            <a:pPr indent="0" lvl="0" marL="457200" rtl="0" algn="l">
              <a:lnSpc>
                <a:spcPct val="100000"/>
              </a:lnSpc>
              <a:spcBef>
                <a:spcPts val="0"/>
              </a:spcBef>
              <a:spcAft>
                <a:spcPts val="0"/>
              </a:spcAft>
              <a:buNone/>
            </a:pPr>
            <a:r>
              <a:t/>
            </a:r>
            <a:endParaRPr sz="1200">
              <a:solidFill>
                <a:schemeClr val="dk1"/>
              </a:solidFill>
            </a:endParaRPr>
          </a:p>
          <a:p>
            <a:pPr indent="-304800" lvl="0" marL="457200" rtl="0" algn="l">
              <a:lnSpc>
                <a:spcPct val="100000"/>
              </a:lnSpc>
              <a:spcBef>
                <a:spcPts val="0"/>
              </a:spcBef>
              <a:spcAft>
                <a:spcPts val="0"/>
              </a:spcAft>
              <a:buClr>
                <a:schemeClr val="dk1"/>
              </a:buClr>
              <a:buSzPts val="1200"/>
              <a:buAutoNum type="arabicPeriod"/>
            </a:pPr>
            <a:r>
              <a:rPr i="1" lang="en" sz="1200">
                <a:solidFill>
                  <a:schemeClr val="dk1"/>
                </a:solidFill>
              </a:rPr>
              <a:t>Free Homebuyers Success Academy Course</a:t>
            </a:r>
            <a:endParaRPr i="1" sz="1200">
              <a:solidFill>
                <a:schemeClr val="dk1"/>
              </a:solidFill>
            </a:endParaRPr>
          </a:p>
          <a:p>
            <a:pPr indent="-304800" lvl="0" marL="457200" rtl="0" algn="l">
              <a:lnSpc>
                <a:spcPct val="100000"/>
              </a:lnSpc>
              <a:spcBef>
                <a:spcPts val="0"/>
              </a:spcBef>
              <a:spcAft>
                <a:spcPts val="0"/>
              </a:spcAft>
              <a:buClr>
                <a:schemeClr val="dk1"/>
              </a:buClr>
              <a:buSzPts val="1200"/>
              <a:buAutoNum type="arabicPeriod"/>
            </a:pPr>
            <a:r>
              <a:rPr i="1" lang="en" sz="1200">
                <a:solidFill>
                  <a:schemeClr val="dk1"/>
                </a:solidFill>
              </a:rPr>
              <a:t>Yearly Entry To Win A Vacation To Cancun For 2</a:t>
            </a:r>
            <a:endParaRPr i="1" sz="1200">
              <a:solidFill>
                <a:schemeClr val="dk1"/>
              </a:solidFill>
            </a:endParaRPr>
          </a:p>
          <a:p>
            <a:pPr indent="-304800" lvl="0" marL="457200" rtl="0" algn="l">
              <a:lnSpc>
                <a:spcPct val="100000"/>
              </a:lnSpc>
              <a:spcBef>
                <a:spcPts val="0"/>
              </a:spcBef>
              <a:spcAft>
                <a:spcPts val="0"/>
              </a:spcAft>
              <a:buClr>
                <a:schemeClr val="dk1"/>
              </a:buClr>
              <a:buSzPts val="1200"/>
              <a:buAutoNum type="arabicPeriod"/>
            </a:pPr>
            <a:r>
              <a:rPr i="1" lang="en" sz="1200">
                <a:solidFill>
                  <a:schemeClr val="dk1"/>
                </a:solidFill>
              </a:rPr>
              <a:t>Exclusive Possession Day Surprise Homebuyers Gift Basket</a:t>
            </a:r>
            <a:endParaRPr i="1" sz="1200">
              <a:solidFill>
                <a:schemeClr val="dk1"/>
              </a:solidFill>
            </a:endParaRPr>
          </a:p>
          <a:p>
            <a:pPr indent="-304800" lvl="0" marL="457200" rtl="0" algn="l">
              <a:lnSpc>
                <a:spcPct val="100000"/>
              </a:lnSpc>
              <a:spcBef>
                <a:spcPts val="0"/>
              </a:spcBef>
              <a:spcAft>
                <a:spcPts val="0"/>
              </a:spcAft>
              <a:buClr>
                <a:schemeClr val="dk1"/>
              </a:buClr>
              <a:buSzPts val="1200"/>
              <a:buAutoNum type="arabicPeriod"/>
            </a:pPr>
            <a:r>
              <a:rPr i="1" lang="en" sz="1200">
                <a:solidFill>
                  <a:schemeClr val="dk1"/>
                </a:solidFill>
              </a:rPr>
              <a:t>Exclusive Network Access</a:t>
            </a:r>
            <a:endParaRPr i="1" sz="1200">
              <a:solidFill>
                <a:schemeClr val="dk1"/>
              </a:solidFill>
            </a:endParaRPr>
          </a:p>
          <a:p>
            <a:pPr indent="-304800" lvl="0" marL="457200" rtl="0" algn="l">
              <a:lnSpc>
                <a:spcPct val="100000"/>
              </a:lnSpc>
              <a:spcBef>
                <a:spcPts val="0"/>
              </a:spcBef>
              <a:spcAft>
                <a:spcPts val="0"/>
              </a:spcAft>
              <a:buClr>
                <a:schemeClr val="dk1"/>
              </a:buClr>
              <a:buSzPts val="1200"/>
              <a:buAutoNum type="arabicPeriod"/>
            </a:pPr>
            <a:r>
              <a:rPr i="1" lang="en" sz="1200">
                <a:solidFill>
                  <a:schemeClr val="dk1"/>
                </a:solidFill>
              </a:rPr>
              <a:t>VIP Referral Program</a:t>
            </a:r>
            <a:endParaRPr i="1" sz="1200">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In Summary...</a:t>
            </a:r>
            <a:endParaRPr/>
          </a:p>
          <a:p>
            <a:pPr indent="0" lvl="0" marL="0" rtl="0" algn="l">
              <a:spcBef>
                <a:spcPts val="0"/>
              </a:spcBef>
              <a:spcAft>
                <a:spcPts val="0"/>
              </a:spcAft>
              <a:buNone/>
            </a:pPr>
            <a:r>
              <a:t/>
            </a:r>
            <a:endParaRPr/>
          </a:p>
        </p:txBody>
      </p:sp>
      <p:sp>
        <p:nvSpPr>
          <p:cNvPr id="275" name="Google Shape;275;p49"/>
          <p:cNvSpPr txBox="1"/>
          <p:nvPr>
            <p:ph idx="1" type="body"/>
          </p:nvPr>
        </p:nvSpPr>
        <p:spPr>
          <a:xfrm>
            <a:off x="311700" y="991950"/>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rPr>
              <a:t>So let’s summarize this offer. You get:</a:t>
            </a:r>
            <a:endParaRPr sz="1200">
              <a:solidFill>
                <a:schemeClr val="dk1"/>
              </a:solidFill>
            </a:endParaRPr>
          </a:p>
          <a:p>
            <a:pPr indent="0" lvl="0" marL="0" rtl="0" algn="l">
              <a:spcBef>
                <a:spcPts val="800"/>
              </a:spcBef>
              <a:spcAft>
                <a:spcPts val="0"/>
              </a:spcAft>
              <a:buClr>
                <a:schemeClr val="dk1"/>
              </a:buClr>
              <a:buSzPts val="1100"/>
              <a:buFont typeface="Arial"/>
              <a:buNone/>
            </a:pPr>
            <a:r>
              <a:t/>
            </a:r>
            <a:endParaRPr sz="800">
              <a:solidFill>
                <a:schemeClr val="dk1"/>
              </a:solidFill>
            </a:endParaRPr>
          </a:p>
          <a:p>
            <a:pPr indent="0" lvl="0" marL="457200" rtl="0" algn="l">
              <a:spcBef>
                <a:spcPts val="0"/>
              </a:spcBef>
              <a:spcAft>
                <a:spcPts val="0"/>
              </a:spcAft>
              <a:buClr>
                <a:schemeClr val="dk1"/>
              </a:buClr>
              <a:buSzPts val="1100"/>
              <a:buFont typeface="Arial"/>
              <a:buNone/>
            </a:pPr>
            <a:r>
              <a:rPr lang="en" sz="800">
                <a:solidFill>
                  <a:schemeClr val="dk1"/>
                </a:solidFill>
              </a:rPr>
              <a:t>✅</a:t>
            </a:r>
            <a:r>
              <a:rPr b="1" lang="en" sz="800">
                <a:solidFill>
                  <a:schemeClr val="dk1"/>
                </a:solidFill>
              </a:rPr>
              <a:t> 12 Month Satisfaction Guaranteed</a:t>
            </a:r>
            <a:r>
              <a:rPr lang="en" sz="800">
                <a:solidFill>
                  <a:schemeClr val="dk1"/>
                </a:solidFill>
              </a:rPr>
              <a:t> - If for any reason you aren’t satisfied or want to sell your home in the first 12 months, we’ll sell it for 0% commission!</a:t>
            </a:r>
            <a:endParaRPr sz="800">
              <a:solidFill>
                <a:schemeClr val="dk1"/>
              </a:solidFill>
            </a:endParaRPr>
          </a:p>
          <a:p>
            <a:pPr indent="0" lvl="0" marL="457200" rtl="0" algn="l">
              <a:spcBef>
                <a:spcPts val="800"/>
              </a:spcBef>
              <a:spcAft>
                <a:spcPts val="0"/>
              </a:spcAft>
              <a:buClr>
                <a:schemeClr val="dk1"/>
              </a:buClr>
              <a:buSzPts val="1100"/>
              <a:buFont typeface="Arial"/>
              <a:buNone/>
            </a:pPr>
            <a:r>
              <a:rPr lang="en" sz="800">
                <a:solidFill>
                  <a:schemeClr val="dk1"/>
                </a:solidFill>
              </a:rPr>
              <a:t>✅</a:t>
            </a:r>
            <a:r>
              <a:rPr b="1" lang="en" sz="800">
                <a:solidFill>
                  <a:schemeClr val="dk1"/>
                </a:solidFill>
              </a:rPr>
              <a:t> Dream Home Finder - </a:t>
            </a:r>
            <a:r>
              <a:rPr lang="en" sz="800">
                <a:solidFill>
                  <a:schemeClr val="dk1"/>
                </a:solidFill>
              </a:rPr>
              <a:t>We will send out mailers, cold call homeowners and door knock in the area you’re looking for if we cannot find what you’re looking for on the MLS. </a:t>
            </a:r>
            <a:endParaRPr sz="800">
              <a:solidFill>
                <a:schemeClr val="dk1"/>
              </a:solidFill>
            </a:endParaRPr>
          </a:p>
          <a:p>
            <a:pPr indent="0" lvl="0" marL="457200" rtl="0" algn="l">
              <a:spcBef>
                <a:spcPts val="800"/>
              </a:spcBef>
              <a:spcAft>
                <a:spcPts val="0"/>
              </a:spcAft>
              <a:buClr>
                <a:schemeClr val="dk1"/>
              </a:buClr>
              <a:buSzPts val="1100"/>
              <a:buFont typeface="Arial"/>
              <a:buNone/>
            </a:pPr>
            <a:r>
              <a:rPr lang="en" sz="800">
                <a:solidFill>
                  <a:schemeClr val="dk1"/>
                </a:solidFill>
              </a:rPr>
              <a:t>✅</a:t>
            </a:r>
            <a:r>
              <a:rPr b="1" lang="en" sz="800">
                <a:solidFill>
                  <a:schemeClr val="dk1"/>
                </a:solidFill>
              </a:rPr>
              <a:t> Contractor Certified Program</a:t>
            </a:r>
            <a:r>
              <a:rPr lang="en" sz="800">
                <a:solidFill>
                  <a:schemeClr val="dk1"/>
                </a:solidFill>
              </a:rPr>
              <a:t> - Our licensed contractor ensures mandatory repairs are made correctly by the seller so there is no additional cost to you!</a:t>
            </a:r>
            <a:endParaRPr sz="800">
              <a:solidFill>
                <a:schemeClr val="dk1"/>
              </a:solidFill>
            </a:endParaRPr>
          </a:p>
          <a:p>
            <a:pPr indent="0" lvl="0" marL="457200" rtl="0" algn="l">
              <a:spcBef>
                <a:spcPts val="800"/>
              </a:spcBef>
              <a:spcAft>
                <a:spcPts val="0"/>
              </a:spcAft>
              <a:buClr>
                <a:schemeClr val="dk1"/>
              </a:buClr>
              <a:buSzPts val="1100"/>
              <a:buFont typeface="Arial"/>
              <a:buNone/>
            </a:pPr>
            <a:r>
              <a:rPr lang="en" sz="800">
                <a:solidFill>
                  <a:schemeClr val="dk1"/>
                </a:solidFill>
              </a:rPr>
              <a:t>✅</a:t>
            </a:r>
            <a:r>
              <a:rPr b="1" lang="en" sz="800">
                <a:solidFill>
                  <a:schemeClr val="dk1"/>
                </a:solidFill>
              </a:rPr>
              <a:t> No Obligation Certificate - </a:t>
            </a:r>
            <a:r>
              <a:rPr lang="en" sz="800">
                <a:solidFill>
                  <a:schemeClr val="dk1"/>
                </a:solidFill>
              </a:rPr>
              <a:t>If for any reason you aren’t satisfied working with us, you’re able to walk away. No strings attached! </a:t>
            </a:r>
            <a:endParaRPr sz="800">
              <a:solidFill>
                <a:schemeClr val="dk1"/>
              </a:solidFill>
            </a:endParaRPr>
          </a:p>
          <a:p>
            <a:pPr indent="0" lvl="0" marL="457200" rtl="0" algn="l">
              <a:spcBef>
                <a:spcPts val="800"/>
              </a:spcBef>
              <a:spcAft>
                <a:spcPts val="0"/>
              </a:spcAft>
              <a:buClr>
                <a:schemeClr val="dk1"/>
              </a:buClr>
              <a:buSzPts val="1100"/>
              <a:buFont typeface="Arial"/>
              <a:buNone/>
            </a:pPr>
            <a:r>
              <a:rPr lang="en" sz="800">
                <a:solidFill>
                  <a:schemeClr val="dk1"/>
                </a:solidFill>
              </a:rPr>
              <a:t>✅</a:t>
            </a:r>
            <a:r>
              <a:rPr b="1" lang="en" sz="800">
                <a:solidFill>
                  <a:schemeClr val="dk1"/>
                </a:solidFill>
              </a:rPr>
              <a:t>  Essential Services Program - </a:t>
            </a:r>
            <a:r>
              <a:rPr lang="en" sz="800">
                <a:solidFill>
                  <a:schemeClr val="dk1"/>
                </a:solidFill>
              </a:rPr>
              <a:t>Are you a police officer, firefighter, teacher, healthcare worker or military veteran? If so, you qualify for thousands in savings through a free home appraisal and home warranty. </a:t>
            </a:r>
            <a:endParaRPr b="1" sz="800">
              <a:solidFill>
                <a:schemeClr val="dk1"/>
              </a:solidFill>
            </a:endParaRPr>
          </a:p>
          <a:p>
            <a:pPr indent="0" lvl="0" marL="457200" rtl="0" algn="l">
              <a:spcBef>
                <a:spcPts val="800"/>
              </a:spcBef>
              <a:spcAft>
                <a:spcPts val="0"/>
              </a:spcAft>
              <a:buClr>
                <a:schemeClr val="dk1"/>
              </a:buClr>
              <a:buSzPts val="1100"/>
              <a:buFont typeface="Arial"/>
              <a:buNone/>
            </a:pPr>
            <a:r>
              <a:rPr lang="en" sz="800">
                <a:solidFill>
                  <a:schemeClr val="dk1"/>
                </a:solidFill>
              </a:rPr>
              <a:t>✅</a:t>
            </a:r>
            <a:r>
              <a:rPr b="1" lang="en" sz="800">
                <a:solidFill>
                  <a:schemeClr val="dk1"/>
                </a:solidFill>
              </a:rPr>
              <a:t> Performance Guarantee - </a:t>
            </a:r>
            <a:r>
              <a:rPr lang="en" sz="800">
                <a:solidFill>
                  <a:schemeClr val="dk1"/>
                </a:solidFill>
              </a:rPr>
              <a:t>I will make sure I call you at minimum 1X a week and find a home that we can agree upon in 1 month or I will personally give you $1000 from my commission. That is my promise to you!</a:t>
            </a:r>
            <a:endParaRPr sz="800">
              <a:solidFill>
                <a:schemeClr val="dk1"/>
              </a:solidFill>
            </a:endParaRPr>
          </a:p>
          <a:p>
            <a:pPr indent="0" lvl="0" marL="457200" rtl="0" algn="l">
              <a:spcBef>
                <a:spcPts val="800"/>
              </a:spcBef>
              <a:spcAft>
                <a:spcPts val="0"/>
              </a:spcAft>
              <a:buClr>
                <a:schemeClr val="dk1"/>
              </a:buClr>
              <a:buSzPts val="1100"/>
              <a:buFont typeface="Arial"/>
              <a:buNone/>
            </a:pPr>
            <a:r>
              <a:rPr lang="en" sz="800">
                <a:solidFill>
                  <a:schemeClr val="dk1"/>
                </a:solidFill>
              </a:rPr>
              <a:t>✅ </a:t>
            </a:r>
            <a:r>
              <a:rPr b="1" lang="en" sz="800">
                <a:solidFill>
                  <a:schemeClr val="dk1"/>
                </a:solidFill>
              </a:rPr>
              <a:t>0% Listing Fee</a:t>
            </a:r>
            <a:r>
              <a:rPr lang="en" sz="800">
                <a:solidFill>
                  <a:schemeClr val="dk1"/>
                </a:solidFill>
              </a:rPr>
              <a:t> - If you purchase one of our current listings, we’ll sell your home for free. That is no listing commission! </a:t>
            </a:r>
            <a:endParaRPr sz="800">
              <a:solidFill>
                <a:schemeClr val="dk1"/>
              </a:solidFill>
            </a:endParaRPr>
          </a:p>
          <a:p>
            <a:pPr indent="0" lvl="0" marL="457200" rtl="0" algn="l">
              <a:spcBef>
                <a:spcPts val="800"/>
              </a:spcBef>
              <a:spcAft>
                <a:spcPts val="0"/>
              </a:spcAft>
              <a:buClr>
                <a:schemeClr val="dk1"/>
              </a:buClr>
              <a:buSzPts val="1100"/>
              <a:buFont typeface="Arial"/>
              <a:buNone/>
            </a:pPr>
            <a:r>
              <a:rPr lang="en" sz="800">
                <a:solidFill>
                  <a:schemeClr val="dk1"/>
                </a:solidFill>
              </a:rPr>
              <a:t>✅ </a:t>
            </a:r>
            <a:r>
              <a:rPr b="1" lang="en" sz="800">
                <a:solidFill>
                  <a:schemeClr val="dk1"/>
                </a:solidFill>
              </a:rPr>
              <a:t>[BONUS] </a:t>
            </a:r>
            <a:r>
              <a:rPr lang="en" sz="800">
                <a:solidFill>
                  <a:schemeClr val="dk1"/>
                </a:solidFill>
              </a:rPr>
              <a:t>- Get access to listings not found online. Off-market listings, bank-owned properties, foreclosure properties, etc…</a:t>
            </a:r>
            <a:endParaRPr sz="800">
              <a:solidFill>
                <a:schemeClr val="dk1"/>
              </a:solidFill>
            </a:endParaRPr>
          </a:p>
          <a:p>
            <a:pPr indent="0" lvl="0" marL="457200" rtl="0" algn="l">
              <a:spcBef>
                <a:spcPts val="0"/>
              </a:spcBef>
              <a:spcAft>
                <a:spcPts val="0"/>
              </a:spcAft>
              <a:buClr>
                <a:schemeClr val="dk1"/>
              </a:buClr>
              <a:buSzPts val="1100"/>
              <a:buFont typeface="Arial"/>
              <a:buNone/>
            </a:pPr>
            <a:r>
              <a:t/>
            </a:r>
            <a:endParaRPr sz="800">
              <a:solidFill>
                <a:schemeClr val="dk1"/>
              </a:solidFill>
            </a:endParaRPr>
          </a:p>
          <a:p>
            <a:pPr indent="0" lvl="0" marL="457200" rtl="0" algn="l">
              <a:spcBef>
                <a:spcPts val="0"/>
              </a:spcBef>
              <a:spcAft>
                <a:spcPts val="0"/>
              </a:spcAft>
              <a:buClr>
                <a:schemeClr val="dk1"/>
              </a:buClr>
              <a:buSzPts val="1100"/>
              <a:buFont typeface="Arial"/>
              <a:buNone/>
            </a:pPr>
            <a:r>
              <a:rPr lang="en" sz="800">
                <a:solidFill>
                  <a:schemeClr val="dk1"/>
                </a:solidFill>
              </a:rPr>
              <a:t>✅ </a:t>
            </a:r>
            <a:r>
              <a:rPr b="1" lang="en" sz="800">
                <a:solidFill>
                  <a:schemeClr val="dk1"/>
                </a:solidFill>
              </a:rPr>
              <a:t>[BONUS]</a:t>
            </a:r>
            <a:r>
              <a:rPr lang="en" sz="800">
                <a:solidFill>
                  <a:schemeClr val="dk1"/>
                </a:solidFill>
              </a:rPr>
              <a:t> - Get exclusive access to data of previous home sales in your area. </a:t>
            </a:r>
            <a:endParaRPr sz="1200">
              <a:solidFill>
                <a:schemeClr val="dk1"/>
              </a:solidFill>
            </a:endParaRPr>
          </a:p>
          <a:p>
            <a:pPr indent="0" lvl="0" marL="457200" rtl="0" algn="l">
              <a:spcBef>
                <a:spcPts val="0"/>
              </a:spcBef>
              <a:spcAft>
                <a:spcPts val="0"/>
              </a:spcAft>
              <a:buClr>
                <a:schemeClr val="dk1"/>
              </a:buClr>
              <a:buSzPts val="1100"/>
              <a:buFont typeface="Arial"/>
              <a:buNone/>
            </a:pPr>
            <a:r>
              <a:t/>
            </a:r>
            <a:endParaRPr sz="1200">
              <a:solidFill>
                <a:schemeClr val="dk1"/>
              </a:solidFill>
            </a:endParaRPr>
          </a:p>
          <a:p>
            <a:pPr indent="-292100" lvl="0" marL="457200" rtl="0" algn="l">
              <a:spcBef>
                <a:spcPts val="0"/>
              </a:spcBef>
              <a:spcAft>
                <a:spcPts val="0"/>
              </a:spcAft>
              <a:buClr>
                <a:schemeClr val="dk1"/>
              </a:buClr>
              <a:buSzPts val="1000"/>
              <a:buChar char="+"/>
            </a:pPr>
            <a:r>
              <a:rPr b="1" lang="en" sz="1000">
                <a:solidFill>
                  <a:schemeClr val="dk1"/>
                </a:solidFill>
              </a:rPr>
              <a:t>VIP Bonus Package</a:t>
            </a:r>
            <a:endParaRPr b="1" sz="1000">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FAQ</a:t>
            </a:r>
            <a:endParaRPr/>
          </a:p>
        </p:txBody>
      </p:sp>
      <p:sp>
        <p:nvSpPr>
          <p:cNvPr id="281" name="Google Shape;281;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62500" lnSpcReduction="20000"/>
          </a:bodyPr>
          <a:lstStyle/>
          <a:p>
            <a:pPr indent="0" lvl="0" marL="0" rtl="0" algn="l">
              <a:lnSpc>
                <a:spcPct val="100000"/>
              </a:lnSpc>
              <a:spcBef>
                <a:spcPts val="0"/>
              </a:spcBef>
              <a:spcAft>
                <a:spcPts val="0"/>
              </a:spcAft>
              <a:buClr>
                <a:schemeClr val="dk1"/>
              </a:buClr>
              <a:buSzPct val="64706"/>
              <a:buFont typeface="Arial"/>
              <a:buNone/>
            </a:pPr>
            <a:r>
              <a:rPr lang="en" sz="1700">
                <a:solidFill>
                  <a:schemeClr val="dk1"/>
                </a:solidFill>
              </a:rPr>
              <a:t>Now some of you may be asking:</a:t>
            </a:r>
            <a:endParaRPr sz="1700">
              <a:solidFill>
                <a:schemeClr val="dk1"/>
              </a:solidFill>
            </a:endParaRPr>
          </a:p>
          <a:p>
            <a:pPr indent="0" lvl="0" marL="0" rtl="0" algn="l">
              <a:lnSpc>
                <a:spcPct val="100000"/>
              </a:lnSpc>
              <a:spcBef>
                <a:spcPts val="0"/>
              </a:spcBef>
              <a:spcAft>
                <a:spcPts val="0"/>
              </a:spcAft>
              <a:buClr>
                <a:schemeClr val="dk1"/>
              </a:buClr>
              <a:buSzPct val="64706"/>
              <a:buFont typeface="Arial"/>
              <a:buNone/>
            </a:pPr>
            <a:r>
              <a:t/>
            </a:r>
            <a:endParaRPr b="1" sz="1700">
              <a:solidFill>
                <a:schemeClr val="dk1"/>
              </a:solidFill>
            </a:endParaRPr>
          </a:p>
          <a:p>
            <a:pPr indent="-296069" lvl="0" marL="457200" rtl="0" algn="l">
              <a:lnSpc>
                <a:spcPct val="100000"/>
              </a:lnSpc>
              <a:spcBef>
                <a:spcPts val="0"/>
              </a:spcBef>
              <a:spcAft>
                <a:spcPts val="0"/>
              </a:spcAft>
              <a:buClr>
                <a:schemeClr val="dk1"/>
              </a:buClr>
              <a:buSzPct val="100000"/>
              <a:buAutoNum type="arabicPeriod"/>
            </a:pPr>
            <a:r>
              <a:rPr b="1" lang="en" sz="1700">
                <a:solidFill>
                  <a:schemeClr val="dk1"/>
                </a:solidFill>
              </a:rPr>
              <a:t>Will this work if I have bad credit?</a:t>
            </a:r>
            <a:endParaRPr b="1" sz="1700">
              <a:solidFill>
                <a:schemeClr val="dk1"/>
              </a:solidFill>
            </a:endParaRPr>
          </a:p>
          <a:p>
            <a:pPr indent="0" lvl="0" marL="457200" rtl="0" algn="l">
              <a:lnSpc>
                <a:spcPct val="100000"/>
              </a:lnSpc>
              <a:spcBef>
                <a:spcPts val="0"/>
              </a:spcBef>
              <a:spcAft>
                <a:spcPts val="0"/>
              </a:spcAft>
              <a:buClr>
                <a:schemeClr val="dk1"/>
              </a:buClr>
              <a:buSzPct val="64706"/>
              <a:buFont typeface="Arial"/>
              <a:buNone/>
            </a:pPr>
            <a:r>
              <a:t/>
            </a:r>
            <a:endParaRPr sz="1700">
              <a:solidFill>
                <a:schemeClr val="dk1"/>
              </a:solidFill>
            </a:endParaRPr>
          </a:p>
          <a:p>
            <a:pPr indent="0" lvl="0" marL="457200" rtl="0" algn="l">
              <a:lnSpc>
                <a:spcPct val="100000"/>
              </a:lnSpc>
              <a:spcBef>
                <a:spcPts val="0"/>
              </a:spcBef>
              <a:spcAft>
                <a:spcPts val="0"/>
              </a:spcAft>
              <a:buClr>
                <a:schemeClr val="dk1"/>
              </a:buClr>
              <a:buSzPct val="64706"/>
              <a:buFont typeface="Arial"/>
              <a:buNone/>
            </a:pPr>
            <a:r>
              <a:rPr lang="en" sz="1700">
                <a:solidFill>
                  <a:schemeClr val="dk1"/>
                </a:solidFill>
              </a:rPr>
              <a:t>Yes! We will need to evaluate your credit score and see the right options available for you.</a:t>
            </a:r>
            <a:endParaRPr sz="1700">
              <a:solidFill>
                <a:schemeClr val="dk1"/>
              </a:solidFill>
            </a:endParaRPr>
          </a:p>
          <a:p>
            <a:pPr indent="0" lvl="0" marL="457200" rtl="0" algn="l">
              <a:lnSpc>
                <a:spcPct val="100000"/>
              </a:lnSpc>
              <a:spcBef>
                <a:spcPts val="0"/>
              </a:spcBef>
              <a:spcAft>
                <a:spcPts val="0"/>
              </a:spcAft>
              <a:buClr>
                <a:schemeClr val="dk1"/>
              </a:buClr>
              <a:buSzPct val="64706"/>
              <a:buFont typeface="Arial"/>
              <a:buNone/>
            </a:pPr>
            <a:r>
              <a:t/>
            </a:r>
            <a:endParaRPr sz="1700">
              <a:solidFill>
                <a:schemeClr val="dk1"/>
              </a:solidFill>
            </a:endParaRPr>
          </a:p>
          <a:p>
            <a:pPr indent="-296069" lvl="0" marL="457200" rtl="0" algn="l">
              <a:lnSpc>
                <a:spcPct val="100000"/>
              </a:lnSpc>
              <a:spcBef>
                <a:spcPts val="0"/>
              </a:spcBef>
              <a:spcAft>
                <a:spcPts val="0"/>
              </a:spcAft>
              <a:buClr>
                <a:schemeClr val="dk1"/>
              </a:buClr>
              <a:buSzPct val="100000"/>
              <a:buAutoNum type="arabicPeriod"/>
            </a:pPr>
            <a:r>
              <a:rPr b="1" lang="en" sz="1700">
                <a:solidFill>
                  <a:schemeClr val="dk1"/>
                </a:solidFill>
              </a:rPr>
              <a:t>Will this work if I have little to no down payment?</a:t>
            </a:r>
            <a:endParaRPr b="1" sz="1700">
              <a:solidFill>
                <a:schemeClr val="dk1"/>
              </a:solidFill>
            </a:endParaRPr>
          </a:p>
          <a:p>
            <a:pPr indent="0" lvl="0" marL="457200" rtl="0" algn="l">
              <a:lnSpc>
                <a:spcPct val="100000"/>
              </a:lnSpc>
              <a:spcBef>
                <a:spcPts val="0"/>
              </a:spcBef>
              <a:spcAft>
                <a:spcPts val="0"/>
              </a:spcAft>
              <a:buClr>
                <a:schemeClr val="dk1"/>
              </a:buClr>
              <a:buSzPct val="64706"/>
              <a:buFont typeface="Arial"/>
              <a:buNone/>
            </a:pPr>
            <a:r>
              <a:t/>
            </a:r>
            <a:endParaRPr sz="1700">
              <a:solidFill>
                <a:schemeClr val="dk1"/>
              </a:solidFill>
            </a:endParaRPr>
          </a:p>
          <a:p>
            <a:pPr indent="0" lvl="0" marL="457200" rtl="0" algn="l">
              <a:lnSpc>
                <a:spcPct val="100000"/>
              </a:lnSpc>
              <a:spcBef>
                <a:spcPts val="0"/>
              </a:spcBef>
              <a:spcAft>
                <a:spcPts val="0"/>
              </a:spcAft>
              <a:buClr>
                <a:schemeClr val="dk1"/>
              </a:buClr>
              <a:buSzPct val="64706"/>
              <a:buFont typeface="Arial"/>
              <a:buNone/>
            </a:pPr>
            <a:r>
              <a:rPr lang="en" sz="1700">
                <a:solidFill>
                  <a:schemeClr val="dk1"/>
                </a:solidFill>
              </a:rPr>
              <a:t>We will work with you to explore the different options. I would require more details about your situation. </a:t>
            </a:r>
            <a:endParaRPr sz="1700">
              <a:solidFill>
                <a:schemeClr val="dk1"/>
              </a:solidFill>
            </a:endParaRPr>
          </a:p>
          <a:p>
            <a:pPr indent="0" lvl="0" marL="457200" rtl="0" algn="l">
              <a:lnSpc>
                <a:spcPct val="100000"/>
              </a:lnSpc>
              <a:spcBef>
                <a:spcPts val="0"/>
              </a:spcBef>
              <a:spcAft>
                <a:spcPts val="0"/>
              </a:spcAft>
              <a:buClr>
                <a:schemeClr val="dk1"/>
              </a:buClr>
              <a:buSzPct val="64706"/>
              <a:buFont typeface="Arial"/>
              <a:buNone/>
            </a:pPr>
            <a:r>
              <a:t/>
            </a:r>
            <a:endParaRPr sz="1700">
              <a:solidFill>
                <a:schemeClr val="dk1"/>
              </a:solidFill>
            </a:endParaRPr>
          </a:p>
          <a:p>
            <a:pPr indent="-296069" lvl="0" marL="457200" rtl="0" algn="l">
              <a:lnSpc>
                <a:spcPct val="100000"/>
              </a:lnSpc>
              <a:spcBef>
                <a:spcPts val="0"/>
              </a:spcBef>
              <a:spcAft>
                <a:spcPts val="0"/>
              </a:spcAft>
              <a:buClr>
                <a:schemeClr val="dk1"/>
              </a:buClr>
              <a:buSzPct val="100000"/>
              <a:buAutoNum type="arabicPeriod"/>
            </a:pPr>
            <a:r>
              <a:rPr b="1" lang="en" sz="1700">
                <a:solidFill>
                  <a:schemeClr val="dk1"/>
                </a:solidFill>
              </a:rPr>
              <a:t>Are there any long term contracts?</a:t>
            </a:r>
            <a:endParaRPr b="1" sz="1700">
              <a:solidFill>
                <a:schemeClr val="dk1"/>
              </a:solidFill>
            </a:endParaRPr>
          </a:p>
          <a:p>
            <a:pPr indent="0" lvl="0" marL="457200" rtl="0" algn="l">
              <a:lnSpc>
                <a:spcPct val="100000"/>
              </a:lnSpc>
              <a:spcBef>
                <a:spcPts val="0"/>
              </a:spcBef>
              <a:spcAft>
                <a:spcPts val="0"/>
              </a:spcAft>
              <a:buClr>
                <a:schemeClr val="dk1"/>
              </a:buClr>
              <a:buSzPct val="64706"/>
              <a:buFont typeface="Arial"/>
              <a:buNone/>
            </a:pPr>
            <a:r>
              <a:t/>
            </a:r>
            <a:endParaRPr sz="1700">
              <a:solidFill>
                <a:schemeClr val="dk1"/>
              </a:solidFill>
            </a:endParaRPr>
          </a:p>
          <a:p>
            <a:pPr indent="0" lvl="0" marL="457200" rtl="0" algn="l">
              <a:lnSpc>
                <a:spcPct val="100000"/>
              </a:lnSpc>
              <a:spcBef>
                <a:spcPts val="0"/>
              </a:spcBef>
              <a:spcAft>
                <a:spcPts val="0"/>
              </a:spcAft>
              <a:buClr>
                <a:schemeClr val="dk1"/>
              </a:buClr>
              <a:buSzPct val="64706"/>
              <a:buFont typeface="Arial"/>
              <a:buNone/>
            </a:pPr>
            <a:r>
              <a:rPr lang="en" sz="1700">
                <a:solidFill>
                  <a:schemeClr val="dk1"/>
                </a:solidFill>
              </a:rPr>
              <a:t>We have a no-obligation certificate. If for any reason you aren’t satisfied working with us, you’re able to walk away. No strings attached! </a:t>
            </a:r>
            <a:endParaRPr sz="1700">
              <a:solidFill>
                <a:schemeClr val="dk1"/>
              </a:solidFill>
            </a:endParaRPr>
          </a:p>
          <a:p>
            <a:pPr indent="0" lvl="0" marL="457200" rtl="0" algn="l">
              <a:lnSpc>
                <a:spcPct val="100000"/>
              </a:lnSpc>
              <a:spcBef>
                <a:spcPts val="0"/>
              </a:spcBef>
              <a:spcAft>
                <a:spcPts val="0"/>
              </a:spcAft>
              <a:buClr>
                <a:schemeClr val="dk1"/>
              </a:buClr>
              <a:buSzPct val="64706"/>
              <a:buFont typeface="Arial"/>
              <a:buNone/>
            </a:pPr>
            <a:r>
              <a:t/>
            </a:r>
            <a:endParaRPr sz="1700">
              <a:solidFill>
                <a:schemeClr val="dk1"/>
              </a:solidFill>
            </a:endParaRPr>
          </a:p>
          <a:p>
            <a:pPr indent="-296069" lvl="0" marL="457200" rtl="0" algn="l">
              <a:lnSpc>
                <a:spcPct val="100000"/>
              </a:lnSpc>
              <a:spcBef>
                <a:spcPts val="0"/>
              </a:spcBef>
              <a:spcAft>
                <a:spcPts val="0"/>
              </a:spcAft>
              <a:buClr>
                <a:schemeClr val="dk1"/>
              </a:buClr>
              <a:buSzPct val="100000"/>
              <a:buAutoNum type="arabicPeriod"/>
            </a:pPr>
            <a:r>
              <a:rPr b="1" lang="en" sz="1700">
                <a:solidFill>
                  <a:schemeClr val="dk1"/>
                </a:solidFill>
              </a:rPr>
              <a:t>What are the exact terms of the 12 month satisfaction guarantee? </a:t>
            </a:r>
            <a:endParaRPr b="1" sz="1700">
              <a:solidFill>
                <a:schemeClr val="dk1"/>
              </a:solidFill>
            </a:endParaRPr>
          </a:p>
          <a:p>
            <a:pPr indent="0" lvl="0" marL="457200" rtl="0" algn="l">
              <a:lnSpc>
                <a:spcPct val="100000"/>
              </a:lnSpc>
              <a:spcBef>
                <a:spcPts val="0"/>
              </a:spcBef>
              <a:spcAft>
                <a:spcPts val="0"/>
              </a:spcAft>
              <a:buClr>
                <a:schemeClr val="dk1"/>
              </a:buClr>
              <a:buSzPct val="64706"/>
              <a:buFont typeface="Arial"/>
              <a:buNone/>
            </a:pPr>
            <a:r>
              <a:t/>
            </a:r>
            <a:endParaRPr sz="1700">
              <a:solidFill>
                <a:schemeClr val="dk1"/>
              </a:solidFill>
            </a:endParaRPr>
          </a:p>
          <a:p>
            <a:pPr indent="0" lvl="0" marL="457200" rtl="0" algn="l">
              <a:spcBef>
                <a:spcPts val="0"/>
              </a:spcBef>
              <a:spcAft>
                <a:spcPts val="0"/>
              </a:spcAft>
              <a:buClr>
                <a:schemeClr val="dk1"/>
              </a:buClr>
              <a:buSzPct val="64706"/>
              <a:buFont typeface="Arial"/>
              <a:buNone/>
            </a:pPr>
            <a:r>
              <a:rPr lang="en" sz="1700">
                <a:solidFill>
                  <a:schemeClr val="dk1"/>
                </a:solidFill>
              </a:rPr>
              <a:t>If for any reason you aren’t satisfied or want to sell your home in the first 12 months, we’ll sell it for 0% commission! We only require you to purchase your next home through us. </a:t>
            </a:r>
            <a:endParaRPr sz="1700">
              <a:solidFill>
                <a:schemeClr val="dk1"/>
              </a:solidFill>
            </a:endParaRPr>
          </a:p>
          <a:p>
            <a:pPr indent="0" lvl="0" marL="457200" rtl="0" algn="l">
              <a:spcBef>
                <a:spcPts val="800"/>
              </a:spcBef>
              <a:spcAft>
                <a:spcPts val="0"/>
              </a:spcAft>
              <a:buNone/>
            </a:pPr>
            <a:r>
              <a:t/>
            </a:r>
            <a:endParaRPr sz="1700">
              <a:solidFill>
                <a:schemeClr val="dk1"/>
              </a:solidFill>
            </a:endParaRPr>
          </a:p>
          <a:p>
            <a:pPr indent="0" lvl="0" marL="457200" rtl="0" algn="l">
              <a:spcBef>
                <a:spcPts val="800"/>
              </a:spcBef>
              <a:spcAft>
                <a:spcPts val="0"/>
              </a:spcAft>
              <a:buClr>
                <a:schemeClr val="dk1"/>
              </a:buClr>
              <a:buSzPct val="110000"/>
              <a:buFont typeface="Arial"/>
              <a:buNone/>
            </a:pPr>
            <a:r>
              <a:t/>
            </a:r>
            <a:endParaRPr sz="1000">
              <a:solidFill>
                <a:schemeClr val="dk1"/>
              </a:solidFill>
            </a:endParaRPr>
          </a:p>
          <a:p>
            <a:pPr indent="0" lvl="0" marL="0" rtl="0" algn="l">
              <a:spcBef>
                <a:spcPts val="800"/>
              </a:spcBef>
              <a:spcAft>
                <a:spcPts val="120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lang="en"/>
              <a:t>Book a Call Now </a:t>
            </a:r>
            <a:endParaRPr/>
          </a:p>
        </p:txBody>
      </p:sp>
      <p:sp>
        <p:nvSpPr>
          <p:cNvPr id="287" name="Google Shape;287;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lang="en" sz="1200">
                <a:solidFill>
                  <a:schemeClr val="dk1"/>
                </a:solidFill>
              </a:rPr>
              <a:t>Book A Call Now Today to Start Your Homebuying Process</a:t>
            </a:r>
            <a:endParaRPr sz="1200">
              <a:solidFill>
                <a:schemeClr val="dk1"/>
              </a:solidFill>
            </a:endParaRPr>
          </a:p>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pic>
        <p:nvPicPr>
          <p:cNvPr id="288" name="Google Shape;288;p51"/>
          <p:cNvPicPr preferRelativeResize="0"/>
          <p:nvPr/>
        </p:nvPicPr>
        <p:blipFill>
          <a:blip r:embed="rId3">
            <a:alphaModFix/>
          </a:blip>
          <a:stretch>
            <a:fillRect/>
          </a:stretch>
        </p:blipFill>
        <p:spPr>
          <a:xfrm>
            <a:off x="3645300" y="1968571"/>
            <a:ext cx="2168725" cy="21687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Offers</a:t>
            </a:r>
            <a:endParaRPr/>
          </a:p>
        </p:txBody>
      </p:sp>
      <p:sp>
        <p:nvSpPr>
          <p:cNvPr id="294" name="Google Shape;294;p52"/>
          <p:cNvSpPr txBox="1"/>
          <p:nvPr>
            <p:ph idx="1" type="body"/>
          </p:nvPr>
        </p:nvSpPr>
        <p:spPr>
          <a:xfrm>
            <a:off x="311700" y="1152475"/>
            <a:ext cx="8747100" cy="39165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en" sz="900">
                <a:solidFill>
                  <a:schemeClr val="dk1"/>
                </a:solidFill>
              </a:rPr>
              <a:t>EXCLUSIVE SPECIAL PROGRAMS FOR</a:t>
            </a:r>
            <a:endParaRPr sz="900">
              <a:solidFill>
                <a:schemeClr val="dk1"/>
              </a:solidFill>
            </a:endParaRPr>
          </a:p>
          <a:p>
            <a:pPr indent="0" lvl="0" marL="0" rtl="0" algn="l">
              <a:spcBef>
                <a:spcPts val="0"/>
              </a:spcBef>
              <a:spcAft>
                <a:spcPts val="0"/>
              </a:spcAft>
              <a:buClr>
                <a:schemeClr val="dk1"/>
              </a:buClr>
              <a:buSzPts val="1100"/>
              <a:buFont typeface="Arial"/>
              <a:buNone/>
            </a:pPr>
            <a:r>
              <a:rPr lang="en" sz="900">
                <a:solidFill>
                  <a:schemeClr val="dk1"/>
                </a:solidFill>
              </a:rPr>
              <a:t>MAXIMUM EFFECT</a:t>
            </a:r>
            <a:endParaRPr sz="900">
              <a:solidFill>
                <a:schemeClr val="dk1"/>
              </a:solidFill>
            </a:endParaRPr>
          </a:p>
          <a:p>
            <a:pPr indent="0" lvl="0" marL="0" rtl="0" algn="l">
              <a:spcBef>
                <a:spcPts val="0"/>
              </a:spcBef>
              <a:spcAft>
                <a:spcPts val="0"/>
              </a:spcAft>
              <a:buClr>
                <a:schemeClr val="dk1"/>
              </a:buClr>
              <a:buSzPts val="1100"/>
              <a:buFont typeface="Arial"/>
              <a:buNone/>
            </a:pPr>
            <a:r>
              <a:rPr lang="en" sz="900">
                <a:solidFill>
                  <a:schemeClr val="dk1"/>
                </a:solidFill>
              </a:rPr>
              <a:t>RbidDeals.com: Exclusive OnLine Bidding Program</a:t>
            </a:r>
            <a:endParaRPr sz="900">
              <a:solidFill>
                <a:schemeClr val="dk1"/>
              </a:solidFill>
            </a:endParaRPr>
          </a:p>
          <a:p>
            <a:pPr indent="-285750" lvl="0" marL="457200" rtl="0" algn="l">
              <a:spcBef>
                <a:spcPts val="1200"/>
              </a:spcBef>
              <a:spcAft>
                <a:spcPts val="0"/>
              </a:spcAft>
              <a:buClr>
                <a:schemeClr val="dk1"/>
              </a:buClr>
              <a:buSzPts val="900"/>
              <a:buChar char="●"/>
            </a:pPr>
            <a:r>
              <a:rPr lang="en" sz="900">
                <a:solidFill>
                  <a:schemeClr val="dk1"/>
                </a:solidFill>
              </a:rPr>
              <a:t>﻿﻿Rent To Own Program: Partnership With Home</a:t>
            </a:r>
            <a:endParaRPr sz="900">
              <a:solidFill>
                <a:schemeClr val="dk1"/>
              </a:solidFill>
            </a:endParaRPr>
          </a:p>
          <a:p>
            <a:pPr indent="-285750" lvl="0" marL="457200" rtl="0" algn="l">
              <a:spcBef>
                <a:spcPts val="0"/>
              </a:spcBef>
              <a:spcAft>
                <a:spcPts val="0"/>
              </a:spcAft>
              <a:buClr>
                <a:schemeClr val="dk1"/>
              </a:buClr>
              <a:buSzPts val="900"/>
              <a:buChar char="●"/>
            </a:pPr>
            <a:r>
              <a:rPr lang="en" sz="900">
                <a:solidFill>
                  <a:schemeClr val="dk1"/>
                </a:solidFill>
              </a:rPr>
              <a:t>Partners Of America's Lease-To-Own Program</a:t>
            </a:r>
            <a:endParaRPr sz="900">
              <a:solidFill>
                <a:schemeClr val="dk1"/>
              </a:solidFill>
            </a:endParaRPr>
          </a:p>
          <a:p>
            <a:pPr indent="-285750" lvl="0" marL="457200" rtl="0" algn="l">
              <a:spcBef>
                <a:spcPts val="0"/>
              </a:spcBef>
              <a:spcAft>
                <a:spcPts val="0"/>
              </a:spcAft>
              <a:buClr>
                <a:schemeClr val="dk1"/>
              </a:buClr>
              <a:buSzPts val="900"/>
              <a:buChar char="●"/>
            </a:pPr>
            <a:r>
              <a:rPr lang="en" sz="900">
                <a:solidFill>
                  <a:schemeClr val="dk1"/>
                </a:solidFill>
              </a:rPr>
              <a:t>﻿﻿Investor Network: Investors Offering Quick-Sale All</a:t>
            </a:r>
            <a:br>
              <a:rPr lang="en" sz="900">
                <a:solidFill>
                  <a:schemeClr val="dk1"/>
                </a:solidFill>
              </a:rPr>
            </a:br>
            <a:r>
              <a:rPr lang="en" sz="900">
                <a:solidFill>
                  <a:schemeClr val="dk1"/>
                </a:solidFill>
              </a:rPr>
              <a:t>Cash Offer Purchases</a:t>
            </a:r>
            <a:endParaRPr sz="900">
              <a:solidFill>
                <a:schemeClr val="dk1"/>
              </a:solidFill>
            </a:endParaRPr>
          </a:p>
          <a:p>
            <a:pPr indent="-285750" lvl="0" marL="457200" rtl="0" algn="l">
              <a:spcBef>
                <a:spcPts val="0"/>
              </a:spcBef>
              <a:spcAft>
                <a:spcPts val="0"/>
              </a:spcAft>
              <a:buClr>
                <a:schemeClr val="dk1"/>
              </a:buClr>
              <a:buSzPts val="900"/>
              <a:buChar char="●"/>
            </a:pPr>
            <a:r>
              <a:rPr lang="en" sz="900">
                <a:solidFill>
                  <a:schemeClr val="dk1"/>
                </a:solidFill>
              </a:rPr>
              <a:t>﻿﻿Coming Soon Program: Exclusive Pre-Listing/Pre-marketing Program for Marketing Testing &amp; Pre-Listing Sales</a:t>
            </a:r>
            <a:endParaRPr sz="900">
              <a:solidFill>
                <a:schemeClr val="dk1"/>
              </a:solidFill>
            </a:endParaRPr>
          </a:p>
          <a:p>
            <a:pPr indent="-285750" lvl="0" marL="457200" rtl="0" algn="l">
              <a:spcBef>
                <a:spcPts val="0"/>
              </a:spcBef>
              <a:spcAft>
                <a:spcPts val="0"/>
              </a:spcAft>
              <a:buClr>
                <a:schemeClr val="dk1"/>
              </a:buClr>
              <a:buSzPts val="900"/>
              <a:buChar char="●"/>
            </a:pPr>
            <a:r>
              <a:rPr lang="en" sz="900">
                <a:solidFill>
                  <a:schemeClr val="dk1"/>
                </a:solidFill>
              </a:rPr>
              <a:t>Needs own slide* The Buyers Profile System: </a:t>
            </a:r>
            <a:r>
              <a:rPr lang="en" sz="900">
                <a:solidFill>
                  <a:schemeClr val="dk1"/>
                </a:solidFill>
              </a:rPr>
              <a:t>exclusive</a:t>
            </a:r>
            <a:r>
              <a:rPr lang="en" sz="900">
                <a:solidFill>
                  <a:schemeClr val="dk1"/>
                </a:solidFill>
              </a:rPr>
              <a:t> database of buyers waiting to buy (Buyer Profile System PROBLEM Most agents pick 6 homes, Show Buyers 4, And try to sell them 1 Solution: Our one-of-a-kind Buyer Profile system gives buyers priority access to hot new listings that match their home buying criteria.) Buyer Profile System. Benefits To Home Sellers. Your home is exposed to group of highly pre-qualified and interested buyers Daily. The Property Alerts to our Data Base of Buyers in Waiting are very select and represent a powerful way of presenting your home to prospects matching your homes criteria. This service builds buyer loyalty, giving us a strong number of actual serious prospects to bring through your home.</a:t>
            </a:r>
            <a:endParaRPr sz="900">
              <a:solidFill>
                <a:schemeClr val="dk1"/>
              </a:solidFill>
            </a:endParaRPr>
          </a:p>
          <a:p>
            <a:pPr indent="-285750" lvl="0" marL="457200" rtl="0" algn="l">
              <a:spcBef>
                <a:spcPts val="0"/>
              </a:spcBef>
              <a:spcAft>
                <a:spcPts val="0"/>
              </a:spcAft>
              <a:buClr>
                <a:schemeClr val="dk1"/>
              </a:buClr>
              <a:buSzPts val="900"/>
              <a:buChar char="●"/>
            </a:pPr>
            <a:r>
              <a:rPr lang="en" sz="900">
                <a:solidFill>
                  <a:schemeClr val="dk1"/>
                </a:solidFill>
              </a:rPr>
              <a:t>24/7 online advertising</a:t>
            </a:r>
            <a:endParaRPr sz="900">
              <a:solidFill>
                <a:schemeClr val="dk1"/>
              </a:solidFill>
            </a:endParaRPr>
          </a:p>
          <a:p>
            <a:pPr indent="-285750" lvl="1" marL="914400" rtl="0" algn="l">
              <a:spcBef>
                <a:spcPts val="0"/>
              </a:spcBef>
              <a:spcAft>
                <a:spcPts val="0"/>
              </a:spcAft>
              <a:buClr>
                <a:schemeClr val="dk1"/>
              </a:buClr>
              <a:buSzPts val="900"/>
              <a:buAutoNum type="alphaLcPeriod"/>
            </a:pPr>
            <a:r>
              <a:rPr lang="en" sz="900">
                <a:solidFill>
                  <a:schemeClr val="dk1"/>
                </a:solidFill>
              </a:rPr>
              <a:t>Problem: Buyers drive around looking at houses and typically write down 15 or more telephone numbers from FOR SALE signs.They are unlikely to call those numbers! They are unlikely to have a clear, uncluttered pictüre of each home after the call.</a:t>
            </a:r>
            <a:endParaRPr sz="900">
              <a:solidFill>
                <a:schemeClr val="dk1"/>
              </a:solidFill>
            </a:endParaRPr>
          </a:p>
          <a:p>
            <a:pPr indent="-285750" lvl="1" marL="914400" rtl="0" algn="l">
              <a:spcBef>
                <a:spcPts val="0"/>
              </a:spcBef>
              <a:spcAft>
                <a:spcPts val="0"/>
              </a:spcAft>
              <a:buClr>
                <a:schemeClr val="dk1"/>
              </a:buClr>
              <a:buSzPts val="900"/>
              <a:buAutoNum type="alphaLcPeriod"/>
            </a:pPr>
            <a:r>
              <a:rPr lang="en" sz="900">
                <a:solidFill>
                  <a:schemeClr val="dk1"/>
                </a:solidFill>
              </a:rPr>
              <a:t>Solution</a:t>
            </a:r>
            <a:endParaRPr sz="900">
              <a:solidFill>
                <a:schemeClr val="dk1"/>
              </a:solidFill>
            </a:endParaRPr>
          </a:p>
          <a:p>
            <a:pPr indent="-285750" lvl="2" marL="1371600" rtl="0" algn="l">
              <a:spcBef>
                <a:spcPts val="0"/>
              </a:spcBef>
              <a:spcAft>
                <a:spcPts val="0"/>
              </a:spcAft>
              <a:buClr>
                <a:schemeClr val="dk1"/>
              </a:buClr>
              <a:buSzPts val="900"/>
              <a:buAutoNum type="romanLcPeriod"/>
            </a:pPr>
            <a:r>
              <a:rPr lang="en" sz="900">
                <a:solidFill>
                  <a:schemeClr val="dk1"/>
                </a:solidFill>
              </a:rPr>
              <a:t>Solution: yOur "House Talk system makes your home stand out and draws attention from prospedive home buyers.</a:t>
            </a:r>
            <a:endParaRPr sz="900">
              <a:solidFill>
                <a:schemeClr val="dk1"/>
              </a:solidFill>
            </a:endParaRPr>
          </a:p>
          <a:p>
            <a:pPr indent="-285750" lvl="2" marL="1371600" rtl="0" algn="l">
              <a:spcBef>
                <a:spcPts val="0"/>
              </a:spcBef>
              <a:spcAft>
                <a:spcPts val="0"/>
              </a:spcAft>
              <a:buClr>
                <a:schemeClr val="dk1"/>
              </a:buClr>
              <a:buSzPts val="900"/>
              <a:buAutoNum type="romanLcPeriod"/>
            </a:pPr>
            <a:r>
              <a:rPr lang="en" sz="900">
                <a:solidFill>
                  <a:schemeClr val="dk1"/>
                </a:solidFill>
              </a:rPr>
              <a:t>Buyers get information easily.</a:t>
            </a:r>
            <a:endParaRPr sz="900">
              <a:solidFill>
                <a:schemeClr val="dk1"/>
              </a:solidFill>
            </a:endParaRPr>
          </a:p>
          <a:p>
            <a:pPr indent="-285750" lvl="2" marL="1371600" rtl="0" algn="l">
              <a:spcBef>
                <a:spcPts val="0"/>
              </a:spcBef>
              <a:spcAft>
                <a:spcPts val="0"/>
              </a:spcAft>
              <a:buClr>
                <a:schemeClr val="dk1"/>
              </a:buClr>
              <a:buSzPts val="900"/>
              <a:buAutoNum type="romanLcPeriod"/>
            </a:pPr>
            <a:r>
              <a:rPr lang="en" sz="900">
                <a:solidFill>
                  <a:schemeClr val="dk1"/>
                </a:solidFill>
              </a:rPr>
              <a:t>immediately and can easily access it from theirsmart phone or car wifi. All without speaking to an agent.</a:t>
            </a:r>
            <a:endParaRPr sz="900">
              <a:solidFill>
                <a:schemeClr val="dk1"/>
              </a:solidFill>
            </a:endParaRPr>
          </a:p>
          <a:p>
            <a:pPr indent="-285750" lvl="2" marL="1371600" rtl="0" algn="l">
              <a:spcBef>
                <a:spcPts val="0"/>
              </a:spcBef>
              <a:spcAft>
                <a:spcPts val="0"/>
              </a:spcAft>
              <a:buClr>
                <a:schemeClr val="dk1"/>
              </a:buClr>
              <a:buSzPts val="900"/>
              <a:buAutoNum type="romanLcPeriod"/>
            </a:pPr>
            <a:r>
              <a:rPr lang="en" sz="900">
                <a:solidFill>
                  <a:schemeClr val="dk1"/>
                </a:solidFill>
              </a:rPr>
              <a:t>Detailed information about your home is available to interested buyers 24 hours a-day. 7 days a week</a:t>
            </a:r>
            <a:endParaRPr sz="900">
              <a:solidFill>
                <a:schemeClr val="dk1"/>
              </a:solidFill>
            </a:endParaRPr>
          </a:p>
          <a:p>
            <a:pPr indent="-285750" lvl="2" marL="1371600" rtl="0" algn="l">
              <a:spcBef>
                <a:spcPts val="0"/>
              </a:spcBef>
              <a:spcAft>
                <a:spcPts val="0"/>
              </a:spcAft>
              <a:buClr>
                <a:schemeClr val="dk1"/>
              </a:buClr>
              <a:buSzPts val="900"/>
              <a:buAutoNum type="romanLcPeriod"/>
            </a:pPr>
            <a:r>
              <a:rPr lang="en" sz="900">
                <a:solidFill>
                  <a:schemeClr val="dk1"/>
                </a:solidFill>
              </a:rPr>
              <a:t>We get 3 times as many calls because buyers don't </a:t>
            </a:r>
            <a:r>
              <a:rPr lang="en" sz="900">
                <a:solidFill>
                  <a:schemeClr val="dk1"/>
                </a:solidFill>
              </a:rPr>
              <a:t>have to speak to an agent</a:t>
            </a:r>
            <a:endParaRPr sz="900">
              <a:solidFill>
                <a:schemeClr val="dk1"/>
              </a:solidFill>
            </a:endParaRPr>
          </a:p>
          <a:p>
            <a:pPr indent="-285750" lvl="0" marL="457200" rtl="0" algn="l">
              <a:spcBef>
                <a:spcPts val="0"/>
              </a:spcBef>
              <a:spcAft>
                <a:spcPts val="0"/>
              </a:spcAft>
              <a:buClr>
                <a:schemeClr val="dk1"/>
              </a:buClr>
              <a:buSzPts val="900"/>
              <a:buChar char="●"/>
            </a:pPr>
            <a:r>
              <a:rPr lang="en" sz="900">
                <a:solidFill>
                  <a:schemeClr val="dk1"/>
                </a:solidFill>
              </a:rPr>
              <a:t>Our exclusive nation &amp; international wide buyers agents network for maximum exposure</a:t>
            </a:r>
            <a:endParaRPr sz="900">
              <a:solidFill>
                <a:schemeClr val="dk1"/>
              </a:solidFill>
            </a:endParaRPr>
          </a:p>
          <a:p>
            <a:pPr indent="-285750" lvl="0" marL="457200" rtl="0" algn="l">
              <a:spcBef>
                <a:spcPts val="0"/>
              </a:spcBef>
              <a:spcAft>
                <a:spcPts val="0"/>
              </a:spcAft>
              <a:buClr>
                <a:schemeClr val="dk1"/>
              </a:buClr>
              <a:buSzPts val="900"/>
              <a:buChar char="●"/>
            </a:pPr>
            <a:r>
              <a:rPr lang="en" sz="900">
                <a:solidFill>
                  <a:schemeClr val="dk1"/>
                </a:solidFill>
              </a:rPr>
              <a:t>Exclusive buyer relocation &amp; referral network. </a:t>
            </a:r>
            <a:endParaRPr sz="900">
              <a:solidFill>
                <a:schemeClr val="dk1"/>
              </a:solidFill>
            </a:endParaRPr>
          </a:p>
          <a:p>
            <a:pPr indent="-285750" lvl="0" marL="457200" rtl="0" algn="l">
              <a:spcBef>
                <a:spcPts val="0"/>
              </a:spcBef>
              <a:spcAft>
                <a:spcPts val="0"/>
              </a:spcAft>
              <a:buClr>
                <a:schemeClr val="dk1"/>
              </a:buClr>
              <a:buSzPts val="900"/>
              <a:buChar char="●"/>
            </a:pPr>
            <a:r>
              <a:rPr lang="en" sz="900">
                <a:solidFill>
                  <a:schemeClr val="dk1"/>
                </a:solidFill>
              </a:rPr>
              <a:t>Guaranteed sale program</a:t>
            </a:r>
            <a:endParaRPr sz="900">
              <a:solidFill>
                <a:schemeClr val="dk1"/>
              </a:solidFill>
            </a:endParaRPr>
          </a:p>
          <a:p>
            <a:pPr indent="-285750" lvl="0" marL="457200" rtl="0" algn="l">
              <a:spcBef>
                <a:spcPts val="0"/>
              </a:spcBef>
              <a:spcAft>
                <a:spcPts val="0"/>
              </a:spcAft>
              <a:buClr>
                <a:schemeClr val="dk1"/>
              </a:buClr>
              <a:buSzPts val="900"/>
              <a:buChar char="●"/>
            </a:pPr>
            <a:r>
              <a:rPr lang="en" sz="900">
                <a:solidFill>
                  <a:schemeClr val="dk1"/>
                </a:solidFill>
              </a:rPr>
              <a:t>Less hassle, fast and for top dollar</a:t>
            </a:r>
            <a:endParaRPr sz="9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