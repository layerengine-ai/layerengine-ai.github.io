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1049f563ea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1049f563ea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049f563ea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049f563ea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049f563ea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049f563ea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049f563ea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049f563ea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049f563ea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049f563ea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0803df87b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0803df87b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ede865849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ede865849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049f563ea1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049f563ea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049f563ea1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1049f563ea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049f563ea1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049f563ea1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049f563ea1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049f563ea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082ea7f3ec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082ea7f3ec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082ea7f3e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082ea7f3e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082ea7f3ec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082ea7f3ec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082ea7f3ec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082ea7f3ec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049f563ea1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049f563ea1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049f563ea1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049f563ea1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ede865849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ede865849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049f563ea1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049f563ea1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ede865849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ede865849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049f563ea1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049f563ea1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049f563ea1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049f563ea1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082ea7f3e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082ea7f3e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082ea7f3e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082ea7f3e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082ea7f3e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082ea7f3e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049f563ea1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049f563ea1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049f563ea1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049f563ea1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ede865849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1ede865849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082ea7f3ec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082ea7f3e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082ea7f3e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082ea7f3e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082ea7f3ec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082ea7f3ec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0803df87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0803df87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0803df87b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0803df87b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0803df87b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10803df87b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0803df87b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10803df87b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ede865849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ede865849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049f563ea1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049f563ea1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049f563ea1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049f563ea1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049f563ea1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1049f563ea1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049f563ea1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049f563ea1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1049f563ea1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1049f563ea1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094872c61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094872c61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094872c61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094872c61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094872c61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094872c61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094872c615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094872c61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049f563ea1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049f563ea1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049f563ea1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049f563ea1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049f563ea1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1049f563ea1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049f563ea1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1049f563ea1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049f563ea1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049f563ea1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0803df87b7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10803df87b7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rocketmortgage.com/learn/how-to-buy-a-house-with-no-money-dow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rocketmortgage.com/learn/how-to-repair-credit"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rocketmortgage.com/learn/what-does-a-real-estate-agent-do"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rocketmortgage.com/learn/house-shopping"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454850" y="299525"/>
            <a:ext cx="8393100" cy="39774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i="1" lang="en" sz="2900" u="sng">
                <a:solidFill>
                  <a:srgbClr val="000000"/>
                </a:solidFill>
              </a:rPr>
              <a:t>For Homebuyers: </a:t>
            </a:r>
            <a:br>
              <a:rPr b="1" i="1" lang="en" sz="2900">
                <a:solidFill>
                  <a:srgbClr val="000000"/>
                </a:solidFill>
              </a:rPr>
            </a:br>
            <a:br>
              <a:rPr b="1" i="1" lang="en" sz="2900">
                <a:solidFill>
                  <a:srgbClr val="000000"/>
                </a:solidFill>
              </a:rPr>
            </a:br>
            <a:r>
              <a:rPr b="1" i="1" lang="en" sz="2900">
                <a:solidFill>
                  <a:srgbClr val="000000"/>
                </a:solidFill>
              </a:rPr>
              <a:t>How </a:t>
            </a:r>
            <a:r>
              <a:rPr b="1" i="1" lang="en" sz="2900"/>
              <a:t>To Buy Your Dream Home For</a:t>
            </a:r>
            <a:r>
              <a:rPr b="1" i="1" lang="en" sz="2900">
                <a:solidFill>
                  <a:srgbClr val="000000"/>
                </a:solidFill>
              </a:rPr>
              <a:t> Less</a:t>
            </a:r>
            <a:r>
              <a:rPr b="1" i="1" lang="en" sz="2900">
                <a:solidFill>
                  <a:srgbClr val="000000"/>
                </a:solidFill>
              </a:rPr>
              <a:t> than the Market Value &amp; Get A Great Deal </a:t>
            </a:r>
            <a:r>
              <a:rPr b="1" i="1" lang="en" sz="2900"/>
              <a:t>I</a:t>
            </a:r>
            <a:r>
              <a:rPr b="1" i="1" lang="en" sz="2900">
                <a:solidFill>
                  <a:srgbClr val="000000"/>
                </a:solidFill>
              </a:rPr>
              <a:t>n </a:t>
            </a:r>
            <a:r>
              <a:rPr b="1" i="1" lang="en" sz="2900"/>
              <a:t>This Market</a:t>
            </a:r>
            <a:r>
              <a:rPr b="1" i="1" lang="en" sz="2900">
                <a:solidFill>
                  <a:srgbClr val="000000"/>
                </a:solidFill>
              </a:rPr>
              <a:t> </a:t>
            </a:r>
            <a:r>
              <a:rPr b="1" i="1" lang="en" sz="2900"/>
              <a:t>By Joining The Homebuyers </a:t>
            </a:r>
            <a:br>
              <a:rPr b="1" i="1" lang="en" sz="2900"/>
            </a:br>
            <a:r>
              <a:rPr b="1" i="1" lang="en" sz="2900"/>
              <a:t>Success Academy</a:t>
            </a:r>
            <a:br>
              <a:rPr b="1" i="1" lang="en" sz="3200">
                <a:solidFill>
                  <a:srgbClr val="000000"/>
                </a:solidFill>
              </a:rPr>
            </a:br>
            <a:endParaRPr b="1" i="1" sz="230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22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Proof Case 1 - Transformation 1</a:t>
            </a:r>
            <a:endParaRPr/>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lang="en" sz="1200">
                <a:solidFill>
                  <a:schemeClr val="dk1"/>
                </a:solidFill>
              </a:rPr>
              <a:t>State 1</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State 2</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Timeframe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Image</a:t>
            </a:r>
            <a:endParaRPr sz="12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Proof Case 2 - Transformation 2</a:t>
            </a:r>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lang="en" sz="1200">
                <a:solidFill>
                  <a:schemeClr val="dk1"/>
                </a:solidFill>
              </a:rPr>
              <a:t>State 1</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State 2</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Timeframe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Image</a:t>
            </a:r>
            <a:endParaRPr sz="12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Proof Case 3 - Transformation 3</a:t>
            </a:r>
            <a:endParaRPr/>
          </a:p>
        </p:txBody>
      </p:sp>
      <p:sp>
        <p:nvSpPr>
          <p:cNvPr id="72" name="Google Shape;72;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lang="en" sz="1200">
                <a:solidFill>
                  <a:schemeClr val="dk1"/>
                </a:solidFill>
              </a:rPr>
              <a:t>State 1</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State 2</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Timeframe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Image</a:t>
            </a:r>
            <a:endParaRPr sz="12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Who This Is For</a:t>
            </a:r>
            <a:endParaRPr b="1"/>
          </a:p>
        </p:txBody>
      </p:sp>
      <p:sp>
        <p:nvSpPr>
          <p:cNvPr id="78" name="Google Shape;78;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lang="en" sz="1200">
                <a:solidFill>
                  <a:schemeClr val="dk1"/>
                </a:solidFill>
              </a:rPr>
              <a:t>You’re a homebuyer who’s looking to buy your dream home for the best bang for your buck, but feeling overwhelmed/intimidated.</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You’re a homebuyer with bad credit or little to no cash for a downpayment </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You want to build equity and your personal net worth</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Buy for less than market value that meets budget </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Buy a home in a safe, preferred neighborhood (Close to downtown, school district, restaurants/shops)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You’re actively searching online but need advice from an experienced agent (also access to exclusive listings not found online)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Fear of overpaying or working with a dishonest agent that’s looking for a quick commission cheque  </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You’ve searched online but unable to find a home that fits your criteria and budget. You’ve worked with an agent that you don’t trust. You’ve worked with an agent that is not responsive and lacks clear communication. </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You want full disclosure at all times for every document. You want to be given the heads up about important changes to housing regulations and mortgage rules. You want to be advised of realistic expectations to buying a home, and dislike last-minute changes.</a:t>
            </a:r>
            <a:endParaRPr sz="1200">
              <a:solidFill>
                <a:schemeClr val="dk1"/>
              </a:solidFill>
            </a:endParaRPr>
          </a:p>
          <a:p>
            <a:pPr indent="0" lvl="0" marL="0" rtl="0" algn="l">
              <a:spcBef>
                <a:spcPts val="16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About Me…</a:t>
            </a:r>
            <a:endParaRPr b="1"/>
          </a:p>
        </p:txBody>
      </p:sp>
      <p:sp>
        <p:nvSpPr>
          <p:cNvPr id="84" name="Google Shape;84;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10000"/>
          </a:bodyPr>
          <a:lstStyle/>
          <a:p>
            <a:pPr indent="-282734" lvl="0" marL="457200" rtl="0" algn="l">
              <a:spcBef>
                <a:spcPts val="0"/>
              </a:spcBef>
              <a:spcAft>
                <a:spcPts val="0"/>
              </a:spcAft>
              <a:buClr>
                <a:schemeClr val="dk1"/>
              </a:buClr>
              <a:buSzPct val="100000"/>
              <a:buChar char="●"/>
            </a:pPr>
            <a:r>
              <a:rPr lang="en" sz="1100">
                <a:solidFill>
                  <a:schemeClr val="dk1"/>
                </a:solidFill>
              </a:rPr>
              <a:t>XX years in business…</a:t>
            </a:r>
            <a:endParaRPr sz="1100">
              <a:solidFill>
                <a:schemeClr val="dk1"/>
              </a:solidFill>
            </a:endParaRPr>
          </a:p>
          <a:p>
            <a:pPr indent="-282734" lvl="0" marL="457200" rtl="0" algn="l">
              <a:spcBef>
                <a:spcPts val="0"/>
              </a:spcBef>
              <a:spcAft>
                <a:spcPts val="0"/>
              </a:spcAft>
              <a:buClr>
                <a:schemeClr val="dk1"/>
              </a:buClr>
              <a:buSzPct val="100000"/>
              <a:buChar char="●"/>
            </a:pPr>
            <a:r>
              <a:rPr lang="en" sz="1100">
                <a:solidFill>
                  <a:schemeClr val="dk1"/>
                </a:solidFill>
              </a:rPr>
              <a:t>Sold over $XX in sales volume in [Year]</a:t>
            </a:r>
            <a:endParaRPr sz="1100">
              <a:solidFill>
                <a:schemeClr val="dk1"/>
              </a:solidFill>
            </a:endParaRPr>
          </a:p>
          <a:p>
            <a:pPr indent="-282734" lvl="0" marL="457200" rtl="0" algn="l">
              <a:spcBef>
                <a:spcPts val="0"/>
              </a:spcBef>
              <a:spcAft>
                <a:spcPts val="0"/>
              </a:spcAft>
              <a:buClr>
                <a:schemeClr val="dk1"/>
              </a:buClr>
              <a:buSzPct val="100000"/>
              <a:buChar char="●"/>
            </a:pPr>
            <a:r>
              <a:rPr lang="en" sz="1100">
                <a:solidFill>
                  <a:schemeClr val="dk1"/>
                </a:solidFill>
              </a:rPr>
              <a:t>Closed XX transactions in [Year]</a:t>
            </a:r>
            <a:endParaRPr sz="1100">
              <a:solidFill>
                <a:schemeClr val="dk1"/>
              </a:solidFill>
            </a:endParaRPr>
          </a:p>
          <a:p>
            <a:pPr indent="-282734" lvl="0" marL="457200" rtl="0" algn="l">
              <a:spcBef>
                <a:spcPts val="0"/>
              </a:spcBef>
              <a:spcAft>
                <a:spcPts val="0"/>
              </a:spcAft>
              <a:buClr>
                <a:schemeClr val="dk1"/>
              </a:buClr>
              <a:buSzPct val="100000"/>
              <a:buChar char="●"/>
            </a:pPr>
            <a:r>
              <a:rPr lang="en" sz="1100">
                <a:solidFill>
                  <a:schemeClr val="dk1"/>
                </a:solidFill>
              </a:rPr>
              <a:t>Realtor Association Top Producer Club in [Year]</a:t>
            </a:r>
            <a:endParaRPr sz="1100">
              <a:solidFill>
                <a:schemeClr val="dk1"/>
              </a:solidFill>
            </a:endParaRPr>
          </a:p>
          <a:p>
            <a:pPr indent="-282734" lvl="0" marL="457200" rtl="0" algn="l">
              <a:spcBef>
                <a:spcPts val="0"/>
              </a:spcBef>
              <a:spcAft>
                <a:spcPts val="0"/>
              </a:spcAft>
              <a:buClr>
                <a:schemeClr val="dk1"/>
              </a:buClr>
              <a:buSzPct val="100000"/>
              <a:buChar char="●"/>
            </a:pPr>
            <a:r>
              <a:rPr lang="en" sz="1100">
                <a:solidFill>
                  <a:schemeClr val="dk1"/>
                </a:solidFill>
              </a:rPr>
              <a:t>[Brokerage] Hall of Fame</a:t>
            </a:r>
            <a:endParaRPr sz="1100">
              <a:solidFill>
                <a:schemeClr val="dk1"/>
              </a:solidFill>
            </a:endParaRPr>
          </a:p>
          <a:p>
            <a:pPr indent="-282734" lvl="0" marL="457200" rtl="0" algn="l">
              <a:spcBef>
                <a:spcPts val="0"/>
              </a:spcBef>
              <a:spcAft>
                <a:spcPts val="0"/>
              </a:spcAft>
              <a:buClr>
                <a:schemeClr val="dk1"/>
              </a:buClr>
              <a:buSzPct val="100000"/>
              <a:buChar char="●"/>
            </a:pPr>
            <a:r>
              <a:rPr lang="en" sz="1100">
                <a:solidFill>
                  <a:schemeClr val="dk1"/>
                </a:solidFill>
              </a:rPr>
              <a:t>Top 1% Agent in [CITY/STATE]</a:t>
            </a:r>
            <a:endParaRPr sz="1100">
              <a:solidFill>
                <a:schemeClr val="dk1"/>
              </a:solidFill>
            </a:endParaRPr>
          </a:p>
          <a:p>
            <a:pPr indent="-282734" lvl="0" marL="457200" rtl="0" algn="l">
              <a:spcBef>
                <a:spcPts val="0"/>
              </a:spcBef>
              <a:spcAft>
                <a:spcPts val="0"/>
              </a:spcAft>
              <a:buClr>
                <a:schemeClr val="dk1"/>
              </a:buClr>
              <a:buSzPct val="100000"/>
              <a:buChar char="●"/>
            </a:pPr>
            <a:r>
              <a:rPr lang="en" sz="1100">
                <a:solidFill>
                  <a:schemeClr val="dk1"/>
                </a:solidFill>
              </a:rPr>
              <a:t>Featured in …</a:t>
            </a:r>
            <a:endParaRPr sz="1100">
              <a:solidFill>
                <a:schemeClr val="dk1"/>
              </a:solidFill>
            </a:endParaRPr>
          </a:p>
          <a:p>
            <a:pPr indent="-282734" lvl="0" marL="457200" rtl="0" algn="l">
              <a:spcBef>
                <a:spcPts val="0"/>
              </a:spcBef>
              <a:spcAft>
                <a:spcPts val="0"/>
              </a:spcAft>
              <a:buClr>
                <a:schemeClr val="dk1"/>
              </a:buClr>
              <a:buSzPct val="100000"/>
              <a:buChar char="●"/>
            </a:pPr>
            <a:r>
              <a:rPr lang="en" sz="1100">
                <a:solidFill>
                  <a:schemeClr val="dk1"/>
                </a:solidFill>
              </a:rPr>
              <a:t>We got recognized in [Year] for selling 40 homes 2x faster and 5% higher in sales price than the average agent in our market.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i="1" lang="en" sz="1100">
                <a:solidFill>
                  <a:schemeClr val="dk1"/>
                </a:solidFill>
              </a:rPr>
              <a:t>Tell Your Story! *VERY IMPORTANT* - Use similar template for your own story. ***PLEASE REMOVE WHEN DONE FOR FINAL VERSION**</a:t>
            </a:r>
            <a:br>
              <a:rPr i="1" lang="en" sz="1100">
                <a:solidFill>
                  <a:schemeClr val="dk1"/>
                </a:solidFill>
              </a:rPr>
            </a:br>
            <a:br>
              <a:rPr i="1" lang="en" sz="1100">
                <a:solidFill>
                  <a:schemeClr val="dk1"/>
                </a:solidFill>
              </a:rPr>
            </a:br>
            <a:r>
              <a:rPr i="1" lang="en" sz="1100">
                <a:solidFill>
                  <a:schemeClr val="dk1"/>
                </a:solidFill>
              </a:rPr>
              <a:t>I was just like you as a homebuyer before I became an agent. I constantly found myself in bad deals, not getting the best bang for my buck. I was frustrated, confused and stressed about the entire real estate process and what I really needed was education on how to find the absolute best deal…under the market value. I searched and searched for months until I decided to take matters into my own hands and get licensed myself. Over the years I realized that most agents offered the exact same thing to every single client. It was always the same pitch, the same promises and usually the same lackluster results. I had to do something different. This is when I decided to take inspiration from outside of the real estate industry and apply it directly towards the market. To explain, I took the typical real estate service but added in a component to it that was vastly different from all the other agents. I added in an online educational component backed with a program approach to finding a great deal. Most realtors only provide a service. I wanted to go above and beyond and ensure my clients won every single time. I soon realized that my new inspiration and idea was a success! I had now solved the equation to getting great deals with my clients and do so in a way where my client was always in a position to win. I am set forth on a mission to transform as many lives as possible through the homebuyers success academy program as this is truly fulfilling work for me. </a:t>
            </a:r>
            <a:endParaRPr i="1" sz="1100">
              <a:solidFill>
                <a:schemeClr val="dk1"/>
              </a:solidFill>
            </a:endParaRPr>
          </a:p>
          <a:p>
            <a:pPr indent="0" lvl="0" marL="457200" rtl="0" algn="l">
              <a:spcBef>
                <a:spcPts val="0"/>
              </a:spcBef>
              <a:spcAft>
                <a:spcPts val="0"/>
              </a:spcAft>
              <a:buNone/>
            </a:pPr>
            <a:r>
              <a:t/>
            </a:r>
            <a:endParaRPr sz="1100">
              <a:solidFill>
                <a:schemeClr val="dk1"/>
              </a:solidFill>
            </a:endParaRPr>
          </a:p>
          <a:p>
            <a:pPr indent="0" lvl="0" marL="0" rtl="0" algn="l">
              <a:spcBef>
                <a:spcPts val="0"/>
              </a:spcBef>
              <a:spcAft>
                <a:spcPts val="0"/>
              </a:spcAft>
              <a:buNone/>
            </a:pPr>
            <a:br>
              <a:rPr lang="en" sz="1100">
                <a:solidFill>
                  <a:schemeClr val="dk1"/>
                </a:solidFill>
              </a:rPr>
            </a:br>
            <a:endParaRPr sz="13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3146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The Truth…</a:t>
            </a:r>
            <a:endParaRPr b="1"/>
          </a:p>
        </p:txBody>
      </p:sp>
      <p:sp>
        <p:nvSpPr>
          <p:cNvPr id="90" name="Google Shape;90;p19"/>
          <p:cNvSpPr txBox="1"/>
          <p:nvPr>
            <p:ph idx="1" type="body"/>
          </p:nvPr>
        </p:nvSpPr>
        <p:spPr>
          <a:xfrm>
            <a:off x="311700" y="1017725"/>
            <a:ext cx="8520600" cy="3416400"/>
          </a:xfrm>
          <a:prstGeom prst="rect">
            <a:avLst/>
          </a:prstGeom>
        </p:spPr>
        <p:txBody>
          <a:bodyPr anchorCtr="0" anchor="t" bIns="91425" lIns="91425" spcFirstLastPara="1" rIns="91425" wrap="square" tIns="91425">
            <a:normAutofit lnSpcReduction="20000"/>
          </a:bodyPr>
          <a:lstStyle/>
          <a:p>
            <a:pPr indent="0" lvl="0" marL="457200" rtl="0" algn="l">
              <a:spcBef>
                <a:spcPts val="0"/>
              </a:spcBef>
              <a:spcAft>
                <a:spcPts val="0"/>
              </a:spcAft>
              <a:buNone/>
            </a:pPr>
            <a:r>
              <a:rPr lang="en" sz="1300">
                <a:solidFill>
                  <a:schemeClr val="dk1"/>
                </a:solidFill>
              </a:rPr>
              <a:t>It’s not your fault. There’s a lot of information online and it’s normal to feel confused. </a:t>
            </a:r>
            <a:br>
              <a:rPr lang="en" sz="1300">
                <a:solidFill>
                  <a:schemeClr val="dk1"/>
                </a:solidFill>
              </a:rPr>
            </a:br>
            <a:br>
              <a:rPr lang="en" sz="1300">
                <a:solidFill>
                  <a:schemeClr val="dk1"/>
                </a:solidFill>
              </a:rPr>
            </a:br>
            <a:r>
              <a:rPr lang="en" sz="1300">
                <a:solidFill>
                  <a:schemeClr val="dk1"/>
                </a:solidFill>
              </a:rPr>
              <a:t>The </a:t>
            </a:r>
            <a:r>
              <a:rPr b="1" lang="en" sz="1300">
                <a:solidFill>
                  <a:schemeClr val="dk1"/>
                </a:solidFill>
              </a:rPr>
              <a:t>Truth </a:t>
            </a:r>
            <a:r>
              <a:rPr lang="en" sz="1300">
                <a:solidFill>
                  <a:schemeClr val="dk1"/>
                </a:solidFill>
              </a:rPr>
              <a:t>is that</a:t>
            </a:r>
            <a:r>
              <a:rPr b="1" lang="en" sz="1300">
                <a:solidFill>
                  <a:schemeClr val="dk1"/>
                </a:solidFill>
              </a:rPr>
              <a:t> </a:t>
            </a:r>
            <a:r>
              <a:rPr lang="en" sz="1300">
                <a:solidFill>
                  <a:schemeClr val="dk1"/>
                </a:solidFill>
              </a:rPr>
              <a:t>in life, if y</a:t>
            </a:r>
            <a:r>
              <a:rPr lang="en" sz="1300">
                <a:solidFill>
                  <a:schemeClr val="dk1"/>
                </a:solidFill>
              </a:rPr>
              <a:t>ou do what everyone else is doing…you’re going to get the same results as them. In the real estate market, most people do not find great deals all the time because of this. </a:t>
            </a:r>
            <a:br>
              <a:rPr lang="en" sz="1300">
                <a:solidFill>
                  <a:schemeClr val="dk1"/>
                </a:solidFill>
              </a:rPr>
            </a:br>
            <a:br>
              <a:rPr lang="en" sz="1300">
                <a:solidFill>
                  <a:schemeClr val="dk1"/>
                </a:solidFill>
              </a:rPr>
            </a:br>
            <a:r>
              <a:rPr lang="en" sz="1300">
                <a:solidFill>
                  <a:schemeClr val="dk1"/>
                </a:solidFill>
              </a:rPr>
              <a:t>You need to do something different if you want to win. You can absolutely find a </a:t>
            </a:r>
            <a:r>
              <a:rPr b="1" lang="en" sz="1300">
                <a:solidFill>
                  <a:schemeClr val="dk1"/>
                </a:solidFill>
              </a:rPr>
              <a:t>good deal</a:t>
            </a:r>
            <a:r>
              <a:rPr lang="en" sz="1300">
                <a:solidFill>
                  <a:schemeClr val="dk1"/>
                </a:solidFill>
              </a:rPr>
              <a:t> without overpaying that fits your budget and criteria in this crazy market. This is also considering you may not know all the details about the real estate market and how to “hack it” to source the best deals. </a:t>
            </a:r>
            <a:br>
              <a:rPr lang="en" sz="1300">
                <a:solidFill>
                  <a:schemeClr val="dk1"/>
                </a:solidFill>
              </a:rPr>
            </a:br>
            <a:br>
              <a:rPr lang="en" sz="1300">
                <a:solidFill>
                  <a:schemeClr val="dk1"/>
                </a:solidFill>
              </a:rPr>
            </a:br>
            <a:r>
              <a:rPr lang="en" sz="1300">
                <a:solidFill>
                  <a:schemeClr val="dk1"/>
                </a:solidFill>
              </a:rPr>
              <a:t>The only way to do this is to understand the real estate process yourself in a way other homebuyers do not. This way you will always have the upper hand and advantage to find the best deals. </a:t>
            </a:r>
            <a:endParaRPr sz="1300">
              <a:solidFill>
                <a:schemeClr val="dk1"/>
              </a:solidFill>
            </a:endParaRPr>
          </a:p>
          <a:p>
            <a:pPr indent="0" lvl="0" marL="457200" rtl="0" algn="l">
              <a:spcBef>
                <a:spcPts val="1600"/>
              </a:spcBef>
              <a:spcAft>
                <a:spcPts val="1600"/>
              </a:spcAft>
              <a:buClr>
                <a:schemeClr val="dk1"/>
              </a:buClr>
              <a:buSzPts val="1100"/>
              <a:buFont typeface="Arial"/>
              <a:buNone/>
            </a:pPr>
            <a:r>
              <a:rPr lang="en" sz="1300">
                <a:solidFill>
                  <a:schemeClr val="dk1"/>
                </a:solidFill>
              </a:rPr>
              <a:t>Now this process can be hard but we are dedicated to helping solve this very </a:t>
            </a:r>
            <a:r>
              <a:rPr lang="en" sz="1300">
                <a:solidFill>
                  <a:schemeClr val="dk1"/>
                </a:solidFill>
              </a:rPr>
              <a:t>particular</a:t>
            </a:r>
            <a:r>
              <a:rPr lang="en" sz="1300">
                <a:solidFill>
                  <a:schemeClr val="dk1"/>
                </a:solidFill>
              </a:rPr>
              <a:t> problem for homebuyers and sellers all across the area. Since we are the only people operating the </a:t>
            </a:r>
            <a:r>
              <a:rPr b="1" lang="en" sz="1300">
                <a:solidFill>
                  <a:schemeClr val="dk1"/>
                </a:solidFill>
              </a:rPr>
              <a:t>homebuyers success academy</a:t>
            </a:r>
            <a:r>
              <a:rPr lang="en" sz="1300">
                <a:solidFill>
                  <a:schemeClr val="dk1"/>
                </a:solidFill>
              </a:rPr>
              <a:t> in the market, no one else is suited to helping solve this. We’re on a mission to change as many lives as </a:t>
            </a:r>
            <a:r>
              <a:rPr lang="en" sz="1300">
                <a:solidFill>
                  <a:schemeClr val="dk1"/>
                </a:solidFill>
              </a:rPr>
              <a:t>possible</a:t>
            </a:r>
            <a:r>
              <a:rPr lang="en" sz="1300">
                <a:solidFill>
                  <a:schemeClr val="dk1"/>
                </a:solidFill>
              </a:rPr>
              <a:t> through our work.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3146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The Golden Question…</a:t>
            </a:r>
            <a:endParaRPr b="1"/>
          </a:p>
        </p:txBody>
      </p:sp>
      <p:sp>
        <p:nvSpPr>
          <p:cNvPr id="96" name="Google Shape;96;p20"/>
          <p:cNvSpPr txBox="1"/>
          <p:nvPr>
            <p:ph idx="1" type="body"/>
          </p:nvPr>
        </p:nvSpPr>
        <p:spPr>
          <a:xfrm>
            <a:off x="96225" y="1363650"/>
            <a:ext cx="8520600" cy="3416400"/>
          </a:xfrm>
          <a:prstGeom prst="rect">
            <a:avLst/>
          </a:prstGeom>
        </p:spPr>
        <p:txBody>
          <a:bodyPr anchorCtr="0" anchor="t" bIns="91425" lIns="91425" spcFirstLastPara="1" rIns="91425" wrap="square" tIns="91425">
            <a:normAutofit/>
          </a:bodyPr>
          <a:lstStyle/>
          <a:p>
            <a:pPr indent="0" lvl="0" marL="457200" rtl="0" algn="ctr">
              <a:spcBef>
                <a:spcPts val="0"/>
              </a:spcBef>
              <a:spcAft>
                <a:spcPts val="1600"/>
              </a:spcAft>
              <a:buClr>
                <a:schemeClr val="dk1"/>
              </a:buClr>
              <a:buSzPts val="1100"/>
              <a:buFont typeface="Arial"/>
              <a:buNone/>
            </a:pPr>
            <a:r>
              <a:rPr lang="en" sz="2300">
                <a:solidFill>
                  <a:schemeClr val="dk1"/>
                </a:solidFill>
              </a:rPr>
              <a:t>How do you </a:t>
            </a:r>
            <a:r>
              <a:rPr lang="en" sz="2300">
                <a:solidFill>
                  <a:schemeClr val="dk1"/>
                </a:solidFill>
              </a:rPr>
              <a:t>actually</a:t>
            </a:r>
            <a:r>
              <a:rPr lang="en" sz="2300">
                <a:solidFill>
                  <a:schemeClr val="dk1"/>
                </a:solidFill>
              </a:rPr>
              <a:t> go about finding the </a:t>
            </a:r>
            <a:r>
              <a:rPr b="1" lang="en" sz="2300">
                <a:solidFill>
                  <a:schemeClr val="dk1"/>
                </a:solidFill>
              </a:rPr>
              <a:t>best deal</a:t>
            </a:r>
            <a:r>
              <a:rPr lang="en" sz="2300">
                <a:solidFill>
                  <a:schemeClr val="dk1"/>
                </a:solidFill>
              </a:rPr>
              <a:t> in the market? </a:t>
            </a:r>
            <a:br>
              <a:rPr lang="en" sz="2300">
                <a:solidFill>
                  <a:schemeClr val="dk1"/>
                </a:solidFill>
              </a:rPr>
            </a:br>
            <a:br>
              <a:rPr lang="en" sz="2300">
                <a:solidFill>
                  <a:schemeClr val="dk1"/>
                </a:solidFill>
              </a:rPr>
            </a:br>
            <a:r>
              <a:rPr lang="en" sz="2300">
                <a:solidFill>
                  <a:schemeClr val="dk1"/>
                </a:solidFill>
              </a:rPr>
              <a:t>Well, there is a </a:t>
            </a:r>
            <a:r>
              <a:rPr b="1" lang="en" sz="2300">
                <a:solidFill>
                  <a:schemeClr val="dk1"/>
                </a:solidFill>
              </a:rPr>
              <a:t>step by step</a:t>
            </a:r>
            <a:r>
              <a:rPr lang="en" sz="2300">
                <a:solidFill>
                  <a:schemeClr val="dk1"/>
                </a:solidFill>
              </a:rPr>
              <a:t> process which I’ll reveal next. </a:t>
            </a:r>
            <a:br>
              <a:rPr lang="en" sz="2300">
                <a:solidFill>
                  <a:schemeClr val="dk1"/>
                </a:solidFill>
              </a:rPr>
            </a:br>
            <a:br>
              <a:rPr lang="en" sz="2300">
                <a:solidFill>
                  <a:schemeClr val="dk1"/>
                </a:solidFill>
              </a:rPr>
            </a:br>
            <a:r>
              <a:rPr b="1" lang="en" sz="2300">
                <a:solidFill>
                  <a:schemeClr val="dk1"/>
                </a:solidFill>
              </a:rPr>
              <a:t>Let’s start first with step 1.</a:t>
            </a:r>
            <a:r>
              <a:rPr lang="en" sz="2300">
                <a:solidFill>
                  <a:schemeClr val="dk1"/>
                </a:solidFill>
              </a:rPr>
              <a:t> </a:t>
            </a:r>
            <a:endParaRPr sz="2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type="title"/>
          </p:nvPr>
        </p:nvSpPr>
        <p:spPr>
          <a:xfrm>
            <a:off x="272000" y="26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Step 1: Decide Whether You’re Ready to Buy a Home </a:t>
            </a:r>
            <a:endParaRPr b="1"/>
          </a:p>
          <a:p>
            <a:pPr indent="0" lvl="0" marL="0" rtl="0" algn="l">
              <a:spcBef>
                <a:spcPts val="0"/>
              </a:spcBef>
              <a:spcAft>
                <a:spcPts val="0"/>
              </a:spcAft>
              <a:buNone/>
            </a:pPr>
            <a:r>
              <a:t/>
            </a:r>
            <a:endParaRPr/>
          </a:p>
        </p:txBody>
      </p:sp>
      <p:sp>
        <p:nvSpPr>
          <p:cNvPr id="102" name="Google Shape;102;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b="1" lang="en" sz="1200">
                <a:solidFill>
                  <a:schemeClr val="dk1"/>
                </a:solidFill>
              </a:rPr>
              <a:t>A lot of people</a:t>
            </a:r>
            <a:r>
              <a:rPr lang="en" sz="1200">
                <a:solidFill>
                  <a:schemeClr val="dk1"/>
                </a:solidFill>
              </a:rPr>
              <a:t> start the process without any guidance. They don’t really know what to do and how to do it. This leads to frustration, anxiety and confusion about the biggest purchase in your life. </a:t>
            </a:r>
            <a:br>
              <a:rPr lang="en" sz="1200">
                <a:solidFill>
                  <a:schemeClr val="dk1"/>
                </a:solidFill>
              </a:rPr>
            </a:br>
            <a:br>
              <a:rPr lang="en" sz="1200">
                <a:solidFill>
                  <a:schemeClr val="dk1"/>
                </a:solidFill>
              </a:rPr>
            </a:br>
            <a:r>
              <a:rPr lang="en" sz="1200">
                <a:solidFill>
                  <a:schemeClr val="dk1"/>
                </a:solidFill>
              </a:rPr>
              <a:t>The </a:t>
            </a:r>
            <a:r>
              <a:rPr b="1" lang="en" sz="1200">
                <a:solidFill>
                  <a:schemeClr val="dk1"/>
                </a:solidFill>
              </a:rPr>
              <a:t>best way</a:t>
            </a:r>
            <a:r>
              <a:rPr lang="en" sz="1200">
                <a:solidFill>
                  <a:schemeClr val="dk1"/>
                </a:solidFill>
              </a:rPr>
              <a:t> to start is to consider the </a:t>
            </a:r>
            <a:r>
              <a:rPr b="1" lang="en" sz="1200">
                <a:solidFill>
                  <a:schemeClr val="dk1"/>
                </a:solidFill>
              </a:rPr>
              <a:t>factors</a:t>
            </a:r>
            <a:r>
              <a:rPr lang="en" sz="1200">
                <a:solidFill>
                  <a:schemeClr val="dk1"/>
                </a:solidFill>
              </a:rPr>
              <a:t> that dictate whether or not you are ready. </a:t>
            </a:r>
            <a:br>
              <a:rPr lang="en" sz="1200">
                <a:solidFill>
                  <a:schemeClr val="dk1"/>
                </a:solidFill>
              </a:rPr>
            </a:br>
            <a:br>
              <a:rPr lang="en" sz="1200">
                <a:solidFill>
                  <a:schemeClr val="dk1"/>
                </a:solidFill>
              </a:rPr>
            </a:br>
            <a:r>
              <a:rPr lang="en" sz="1200">
                <a:solidFill>
                  <a:schemeClr val="dk1"/>
                </a:solidFill>
              </a:rPr>
              <a:t>If you do this correctly and know that these factors make sense, you will have far less stress, make more </a:t>
            </a:r>
            <a:r>
              <a:rPr lang="en" sz="1200">
                <a:solidFill>
                  <a:schemeClr val="dk1"/>
                </a:solidFill>
              </a:rPr>
              <a:t>profit</a:t>
            </a:r>
            <a:r>
              <a:rPr lang="en" sz="1200">
                <a:solidFill>
                  <a:schemeClr val="dk1"/>
                </a:solidFill>
              </a:rPr>
              <a:t> and overall be much more satisfied with the homebuying process. </a:t>
            </a:r>
            <a:br>
              <a:rPr lang="en" sz="1200">
                <a:solidFill>
                  <a:schemeClr val="dk1"/>
                </a:solidFill>
              </a:rPr>
            </a:br>
            <a:br>
              <a:rPr lang="en" sz="1200">
                <a:solidFill>
                  <a:schemeClr val="dk1"/>
                </a:solidFill>
              </a:rPr>
            </a:br>
            <a:r>
              <a:rPr b="1" lang="en" sz="1200">
                <a:solidFill>
                  <a:schemeClr val="dk1"/>
                </a:solidFill>
              </a:rPr>
              <a:t>Here are some factors you should consider to ensure you’re ready to be a homeowner:</a:t>
            </a:r>
            <a:endParaRPr b="1" sz="1200">
              <a:solidFill>
                <a:schemeClr val="dk1"/>
              </a:solidFill>
            </a:endParaRPr>
          </a:p>
          <a:p>
            <a:pPr indent="-299085" lvl="0" marL="457200" rtl="0" algn="l">
              <a:spcBef>
                <a:spcPts val="1600"/>
              </a:spcBef>
              <a:spcAft>
                <a:spcPts val="0"/>
              </a:spcAft>
              <a:buClr>
                <a:schemeClr val="dk1"/>
              </a:buClr>
              <a:buSzPct val="100000"/>
              <a:buChar char="-"/>
            </a:pPr>
            <a:r>
              <a:rPr lang="en" sz="1200">
                <a:solidFill>
                  <a:schemeClr val="dk1"/>
                </a:solidFill>
              </a:rPr>
              <a:t>Income &amp; Employment Status  </a:t>
            </a:r>
            <a:endParaRPr sz="1200">
              <a:solidFill>
                <a:schemeClr val="dk1"/>
              </a:solidFill>
            </a:endParaRPr>
          </a:p>
          <a:p>
            <a:pPr indent="-299085" lvl="1" marL="914400" rtl="0" algn="l">
              <a:spcBef>
                <a:spcPts val="0"/>
              </a:spcBef>
              <a:spcAft>
                <a:spcPts val="0"/>
              </a:spcAft>
              <a:buClr>
                <a:schemeClr val="dk1"/>
              </a:buClr>
              <a:buSzPct val="100000"/>
              <a:buChar char="-"/>
            </a:pPr>
            <a:r>
              <a:rPr lang="en" sz="1200">
                <a:solidFill>
                  <a:schemeClr val="dk1"/>
                </a:solidFill>
              </a:rPr>
              <a:t>Lender will want to see a work history (usually about 2 years) to ensure stable and reliable income.</a:t>
            </a:r>
            <a:endParaRPr sz="1200">
              <a:solidFill>
                <a:schemeClr val="dk1"/>
              </a:solidFill>
            </a:endParaRPr>
          </a:p>
          <a:p>
            <a:pPr indent="-299085" lvl="1" marL="914400" rtl="0" algn="l">
              <a:spcBef>
                <a:spcPts val="0"/>
              </a:spcBef>
              <a:spcAft>
                <a:spcPts val="0"/>
              </a:spcAft>
              <a:buClr>
                <a:schemeClr val="dk1"/>
              </a:buClr>
              <a:buSzPct val="100000"/>
              <a:buChar char="-"/>
            </a:pPr>
            <a:r>
              <a:rPr lang="en" sz="1200">
                <a:solidFill>
                  <a:schemeClr val="dk1"/>
                </a:solidFill>
              </a:rPr>
              <a:t>If you’re on payroll, you’ll need to provide pay stubs and tax returns. (Other documents if you’re self employed)</a:t>
            </a:r>
            <a:endParaRPr sz="1200">
              <a:solidFill>
                <a:schemeClr val="dk1"/>
              </a:solidFill>
            </a:endParaRPr>
          </a:p>
          <a:p>
            <a:pPr indent="-299085" lvl="0" marL="457200" rtl="0" algn="l">
              <a:spcBef>
                <a:spcPts val="0"/>
              </a:spcBef>
              <a:spcAft>
                <a:spcPts val="0"/>
              </a:spcAft>
              <a:buClr>
                <a:schemeClr val="dk1"/>
              </a:buClr>
              <a:buSzPct val="100000"/>
              <a:buChar char="-"/>
            </a:pPr>
            <a:r>
              <a:rPr lang="en" sz="1200">
                <a:solidFill>
                  <a:schemeClr val="dk1"/>
                </a:solidFill>
              </a:rPr>
              <a:t>Liquid Assets </a:t>
            </a:r>
            <a:endParaRPr sz="1200">
              <a:solidFill>
                <a:schemeClr val="dk1"/>
              </a:solidFill>
            </a:endParaRPr>
          </a:p>
          <a:p>
            <a:pPr indent="-299085" lvl="1" marL="914400" rtl="0" algn="l">
              <a:spcBef>
                <a:spcPts val="0"/>
              </a:spcBef>
              <a:spcAft>
                <a:spcPts val="0"/>
              </a:spcAft>
              <a:buClr>
                <a:schemeClr val="dk1"/>
              </a:buClr>
              <a:buSzPct val="100000"/>
              <a:buChar char="-"/>
            </a:pPr>
            <a:r>
              <a:rPr lang="en" sz="1200">
                <a:solidFill>
                  <a:schemeClr val="dk1"/>
                </a:solidFill>
                <a:highlight>
                  <a:schemeClr val="lt1"/>
                </a:highlight>
              </a:rPr>
              <a:t>Buying a home with </a:t>
            </a:r>
            <a:r>
              <a:rPr lang="en" sz="1200">
                <a:solidFill>
                  <a:schemeClr val="dk1"/>
                </a:solidFill>
                <a:highlight>
                  <a:schemeClr val="lt1"/>
                </a:highlight>
                <a:uFill>
                  <a:noFill/>
                </a:uFill>
                <a:hlinkClick r:id="rId3">
                  <a:extLst>
                    <a:ext uri="{A12FA001-AC4F-418D-AE19-62706E023703}">
                      <ahyp:hlinkClr val="tx"/>
                    </a:ext>
                  </a:extLst>
                </a:hlinkClick>
              </a:rPr>
              <a:t>no money down</a:t>
            </a:r>
            <a:r>
              <a:rPr lang="en" sz="1200">
                <a:solidFill>
                  <a:schemeClr val="dk1"/>
                </a:solidFill>
                <a:highlight>
                  <a:schemeClr val="lt1"/>
                </a:highlight>
              </a:rPr>
              <a:t> is possible, but most homeowners need to have some cash for a down payment. The amount of money you’ll need for a down payment depends on your loan type and how much money you borrow. </a:t>
            </a:r>
            <a:endParaRPr sz="1200">
              <a:solidFill>
                <a:schemeClr val="dk1"/>
              </a:solidFill>
              <a:highlight>
                <a:schemeClr val="lt1"/>
              </a:highlight>
            </a:endParaRPr>
          </a:p>
          <a:p>
            <a:pPr indent="0" lvl="0" marL="457200" rtl="0" algn="l">
              <a:spcBef>
                <a:spcPts val="0"/>
              </a:spcBef>
              <a:spcAft>
                <a:spcPts val="1600"/>
              </a:spcAft>
              <a:buNone/>
            </a:pPr>
            <a:r>
              <a:t/>
            </a:r>
            <a:endParaRPr sz="1200">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ph type="title"/>
          </p:nvPr>
        </p:nvSpPr>
        <p:spPr>
          <a:xfrm>
            <a:off x="311700" y="2749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Step 1: Decide Whether You’re Ready to Buy a Home </a:t>
            </a:r>
            <a:endParaRPr b="1"/>
          </a:p>
          <a:p>
            <a:pPr indent="0" lvl="0" marL="0" rtl="0" algn="l">
              <a:spcBef>
                <a:spcPts val="0"/>
              </a:spcBef>
              <a:spcAft>
                <a:spcPts val="0"/>
              </a:spcAft>
              <a:buNone/>
            </a:pPr>
            <a:r>
              <a:t/>
            </a:r>
            <a:endParaRPr/>
          </a:p>
        </p:txBody>
      </p:sp>
      <p:sp>
        <p:nvSpPr>
          <p:cNvPr id="108" name="Google Shape;108;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lnSpc>
                <a:spcPct val="160000"/>
              </a:lnSpc>
              <a:spcBef>
                <a:spcPts val="0"/>
              </a:spcBef>
              <a:spcAft>
                <a:spcPts val="0"/>
              </a:spcAft>
              <a:buClr>
                <a:schemeClr val="dk1"/>
              </a:buClr>
              <a:buSzPts val="1200"/>
              <a:buChar char="-"/>
            </a:pPr>
            <a:r>
              <a:rPr lang="en" sz="1200">
                <a:solidFill>
                  <a:schemeClr val="dk1"/>
                </a:solidFill>
                <a:highlight>
                  <a:schemeClr val="lt1"/>
                </a:highlight>
              </a:rPr>
              <a:t>Credit Score</a:t>
            </a:r>
            <a:endParaRPr sz="1200">
              <a:solidFill>
                <a:schemeClr val="dk1"/>
              </a:solidFill>
              <a:highlight>
                <a:schemeClr val="lt1"/>
              </a:highlight>
            </a:endParaRPr>
          </a:p>
          <a:p>
            <a:pPr indent="-304800" lvl="1" marL="914400" rtl="0" algn="l">
              <a:spcBef>
                <a:spcPts val="0"/>
              </a:spcBef>
              <a:spcAft>
                <a:spcPts val="0"/>
              </a:spcAft>
              <a:buClr>
                <a:schemeClr val="dk1"/>
              </a:buClr>
              <a:buSzPts val="1200"/>
              <a:buChar char="-"/>
            </a:pPr>
            <a:r>
              <a:rPr lang="en" sz="1200">
                <a:solidFill>
                  <a:schemeClr val="dk1"/>
                </a:solidFill>
                <a:highlight>
                  <a:schemeClr val="lt1"/>
                </a:highlight>
              </a:rPr>
              <a:t>Credit score dictates what loans and interest rates you qualify for. Your credit score tells your lender how risky it is to lend money to you. This shows how consistently you pay off your bills and debts. </a:t>
            </a:r>
            <a:endParaRPr sz="1200">
              <a:solidFill>
                <a:schemeClr val="dk1"/>
              </a:solidFill>
              <a:highlight>
                <a:schemeClr val="lt1"/>
              </a:highlight>
            </a:endParaRPr>
          </a:p>
          <a:p>
            <a:pPr indent="-304800" lvl="1" marL="914400" rtl="0" algn="l">
              <a:spcBef>
                <a:spcPts val="0"/>
              </a:spcBef>
              <a:spcAft>
                <a:spcPts val="0"/>
              </a:spcAft>
              <a:buClr>
                <a:schemeClr val="dk1"/>
              </a:buClr>
              <a:buSzPts val="1200"/>
              <a:buChar char="-"/>
            </a:pPr>
            <a:r>
              <a:rPr lang="en" sz="1200">
                <a:solidFill>
                  <a:schemeClr val="dk1"/>
                </a:solidFill>
                <a:highlight>
                  <a:schemeClr val="lt1"/>
                </a:highlight>
              </a:rPr>
              <a:t>Taking steps to </a:t>
            </a:r>
            <a:r>
              <a:rPr lang="en" sz="1200">
                <a:solidFill>
                  <a:schemeClr val="dk1"/>
                </a:solidFill>
                <a:highlight>
                  <a:schemeClr val="lt1"/>
                </a:highlight>
                <a:uFill>
                  <a:noFill/>
                </a:uFill>
                <a:hlinkClick r:id="rId3">
                  <a:extLst>
                    <a:ext uri="{A12FA001-AC4F-418D-AE19-62706E023703}">
                      <ahyp:hlinkClr val="tx"/>
                    </a:ext>
                  </a:extLst>
                </a:hlinkClick>
              </a:rPr>
              <a:t>improve your credit score</a:t>
            </a:r>
            <a:r>
              <a:rPr lang="en" sz="1200">
                <a:solidFill>
                  <a:schemeClr val="dk1"/>
                </a:solidFill>
                <a:highlight>
                  <a:schemeClr val="lt1"/>
                </a:highlight>
              </a:rPr>
              <a:t> and reduce your debt can pay off big as you prepare to get a mortgage. Better numbers mean better loan options with lower interest rates.</a:t>
            </a:r>
            <a:endParaRPr sz="1200">
              <a:solidFill>
                <a:schemeClr val="dk1"/>
              </a:solidFill>
              <a:highlight>
                <a:schemeClr val="lt1"/>
              </a:highlight>
            </a:endParaRPr>
          </a:p>
          <a:p>
            <a:pPr indent="-304800" lvl="0" marL="457200" rtl="0" algn="l">
              <a:spcBef>
                <a:spcPts val="0"/>
              </a:spcBef>
              <a:spcAft>
                <a:spcPts val="0"/>
              </a:spcAft>
              <a:buClr>
                <a:schemeClr val="dk1"/>
              </a:buClr>
              <a:buSzPts val="1200"/>
              <a:buChar char="-"/>
            </a:pPr>
            <a:r>
              <a:rPr lang="en" sz="1200">
                <a:solidFill>
                  <a:schemeClr val="dk1"/>
                </a:solidFill>
                <a:highlight>
                  <a:schemeClr val="lt1"/>
                </a:highlight>
              </a:rPr>
              <a:t>Timing</a:t>
            </a:r>
            <a:endParaRPr sz="1200">
              <a:solidFill>
                <a:schemeClr val="dk1"/>
              </a:solidFill>
              <a:highlight>
                <a:schemeClr val="lt1"/>
              </a:highlight>
            </a:endParaRPr>
          </a:p>
          <a:p>
            <a:pPr indent="-304800" lvl="1" marL="914400" rtl="0" algn="l">
              <a:spcBef>
                <a:spcPts val="0"/>
              </a:spcBef>
              <a:spcAft>
                <a:spcPts val="0"/>
              </a:spcAft>
              <a:buClr>
                <a:schemeClr val="dk1"/>
              </a:buClr>
              <a:buSzPts val="1200"/>
              <a:buChar char="-"/>
            </a:pPr>
            <a:r>
              <a:rPr lang="en" sz="1200">
                <a:solidFill>
                  <a:schemeClr val="dk1"/>
                </a:solidFill>
                <a:highlight>
                  <a:schemeClr val="lt1"/>
                </a:highlight>
              </a:rPr>
              <a:t>Depends on personal factors (such as financial readiness and lifestyle preferences) and market conditions (such as economic health and current mortgage rates).</a:t>
            </a:r>
            <a:endParaRPr sz="1200">
              <a:solidFill>
                <a:schemeClr val="dk1"/>
              </a:solidFill>
              <a:highlight>
                <a:schemeClr val="lt1"/>
              </a:highlight>
            </a:endParaRPr>
          </a:p>
          <a:p>
            <a:pPr indent="-304800" lvl="1" marL="914400" rtl="0" algn="l">
              <a:spcBef>
                <a:spcPts val="0"/>
              </a:spcBef>
              <a:spcAft>
                <a:spcPts val="0"/>
              </a:spcAft>
              <a:buClr>
                <a:schemeClr val="dk1"/>
              </a:buClr>
              <a:buSzPts val="1200"/>
              <a:buChar char="-"/>
            </a:pPr>
            <a:r>
              <a:rPr lang="en" sz="1200">
                <a:solidFill>
                  <a:schemeClr val="dk1"/>
                </a:solidFill>
                <a:highlight>
                  <a:schemeClr val="lt1"/>
                </a:highlight>
              </a:rPr>
              <a:t>Consult with an expert before making a big financial decision to purchase a home. This is where an experienced agent comes into the process. </a:t>
            </a:r>
            <a:endParaRPr sz="1200">
              <a:solidFill>
                <a:schemeClr val="dk1"/>
              </a:solidFill>
            </a:endParaRPr>
          </a:p>
          <a:p>
            <a:pPr indent="0" lvl="0" marL="457200" rtl="0" algn="l">
              <a:spcBef>
                <a:spcPts val="0"/>
              </a:spcBef>
              <a:spcAft>
                <a:spcPts val="1600"/>
              </a:spcAft>
              <a:buNone/>
            </a:pPr>
            <a:r>
              <a:t/>
            </a:r>
            <a:endParaRPr sz="1200">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3"/>
          <p:cNvSpPr txBox="1"/>
          <p:nvPr>
            <p:ph type="title"/>
          </p:nvPr>
        </p:nvSpPr>
        <p:spPr>
          <a:xfrm>
            <a:off x="311700" y="2805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Step 1 FAQ</a:t>
            </a:r>
            <a:endParaRPr b="1"/>
          </a:p>
          <a:p>
            <a:pPr indent="0" lvl="0" marL="0" rtl="0" algn="l">
              <a:spcBef>
                <a:spcPts val="0"/>
              </a:spcBef>
              <a:spcAft>
                <a:spcPts val="0"/>
              </a:spcAft>
              <a:buNone/>
            </a:pPr>
            <a:r>
              <a:t/>
            </a:r>
            <a:endParaRPr/>
          </a:p>
        </p:txBody>
      </p:sp>
      <p:sp>
        <p:nvSpPr>
          <p:cNvPr id="114" name="Google Shape;114;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lnSpc>
                <a:spcPct val="150000"/>
              </a:lnSpc>
              <a:spcBef>
                <a:spcPts val="0"/>
              </a:spcBef>
              <a:spcAft>
                <a:spcPts val="0"/>
              </a:spcAft>
              <a:buClr>
                <a:schemeClr val="dk1"/>
              </a:buClr>
              <a:buSzPts val="1200"/>
              <a:buChar char="-"/>
            </a:pPr>
            <a:r>
              <a:rPr lang="en" sz="1200">
                <a:solidFill>
                  <a:schemeClr val="dk1"/>
                </a:solidFill>
              </a:rPr>
              <a:t>Question 1 - What score will you need to qualify for a home loan?  </a:t>
            </a:r>
            <a:endParaRPr sz="1200">
              <a:solidFill>
                <a:schemeClr val="dk1"/>
              </a:solidFill>
            </a:endParaRPr>
          </a:p>
          <a:p>
            <a:pPr indent="-292100" lvl="1" marL="914400" rtl="0" algn="l">
              <a:lnSpc>
                <a:spcPct val="150000"/>
              </a:lnSpc>
              <a:spcBef>
                <a:spcPts val="0"/>
              </a:spcBef>
              <a:spcAft>
                <a:spcPts val="0"/>
              </a:spcAft>
              <a:buClr>
                <a:schemeClr val="dk1"/>
              </a:buClr>
              <a:buSzPts val="1000"/>
              <a:buChar char="-"/>
            </a:pPr>
            <a:r>
              <a:rPr lang="en" sz="1000">
                <a:solidFill>
                  <a:schemeClr val="dk1"/>
                </a:solidFill>
                <a:highlight>
                  <a:schemeClr val="lt1"/>
                </a:highlight>
              </a:rPr>
              <a:t>Most lenders require a credit score of at least 620 to qualify for the majority of loans. A score above 720 will generally get you the very best loan terms. This can vary however the higher your score the better. </a:t>
            </a:r>
            <a:endParaRPr sz="10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Question 2 - What is your credit score based on? </a:t>
            </a:r>
            <a:endParaRPr sz="1200">
              <a:solidFill>
                <a:schemeClr val="dk1"/>
              </a:solidFill>
            </a:endParaRPr>
          </a:p>
          <a:p>
            <a:pPr indent="-292100" lvl="1" marL="914400" rtl="0" algn="l">
              <a:lnSpc>
                <a:spcPct val="150000"/>
              </a:lnSpc>
              <a:spcBef>
                <a:spcPts val="0"/>
              </a:spcBef>
              <a:spcAft>
                <a:spcPts val="0"/>
              </a:spcAft>
              <a:buClr>
                <a:schemeClr val="dk1"/>
              </a:buClr>
              <a:buSzPts val="1000"/>
              <a:buChar char="-"/>
            </a:pPr>
            <a:r>
              <a:rPr lang="en" sz="1000">
                <a:solidFill>
                  <a:schemeClr val="dk1"/>
                </a:solidFill>
                <a:highlight>
                  <a:schemeClr val="lt1"/>
                </a:highlight>
              </a:rPr>
              <a:t>Your payment history</a:t>
            </a:r>
            <a:endParaRPr sz="1000">
              <a:solidFill>
                <a:schemeClr val="dk1"/>
              </a:solidFill>
              <a:highlight>
                <a:schemeClr val="lt1"/>
              </a:highlight>
            </a:endParaRPr>
          </a:p>
          <a:p>
            <a:pPr indent="-292100" lvl="1" marL="914400" rtl="0" algn="l">
              <a:lnSpc>
                <a:spcPct val="150000"/>
              </a:lnSpc>
              <a:spcBef>
                <a:spcPts val="0"/>
              </a:spcBef>
              <a:spcAft>
                <a:spcPts val="0"/>
              </a:spcAft>
              <a:buClr>
                <a:schemeClr val="dk1"/>
              </a:buClr>
              <a:buSzPts val="1000"/>
              <a:buChar char="-"/>
            </a:pPr>
            <a:r>
              <a:rPr lang="en" sz="1000">
                <a:solidFill>
                  <a:schemeClr val="dk1"/>
                </a:solidFill>
                <a:highlight>
                  <a:schemeClr val="lt1"/>
                </a:highlight>
              </a:rPr>
              <a:t>The amount of money you owe</a:t>
            </a:r>
            <a:endParaRPr sz="1000">
              <a:solidFill>
                <a:schemeClr val="dk1"/>
              </a:solidFill>
              <a:highlight>
                <a:schemeClr val="lt1"/>
              </a:highlight>
            </a:endParaRPr>
          </a:p>
          <a:p>
            <a:pPr indent="-292100" lvl="1" marL="914400" rtl="0" algn="l">
              <a:lnSpc>
                <a:spcPct val="150000"/>
              </a:lnSpc>
              <a:spcBef>
                <a:spcPts val="0"/>
              </a:spcBef>
              <a:spcAft>
                <a:spcPts val="0"/>
              </a:spcAft>
              <a:buClr>
                <a:schemeClr val="dk1"/>
              </a:buClr>
              <a:buSzPts val="1000"/>
              <a:buChar char="-"/>
            </a:pPr>
            <a:r>
              <a:rPr lang="en" sz="1000">
                <a:solidFill>
                  <a:schemeClr val="dk1"/>
                </a:solidFill>
                <a:highlight>
                  <a:schemeClr val="lt1"/>
                </a:highlight>
              </a:rPr>
              <a:t>The length of your credit history</a:t>
            </a:r>
            <a:endParaRPr sz="1000">
              <a:solidFill>
                <a:schemeClr val="dk1"/>
              </a:solidFill>
              <a:highlight>
                <a:schemeClr val="lt1"/>
              </a:highlight>
            </a:endParaRPr>
          </a:p>
          <a:p>
            <a:pPr indent="-292100" lvl="1" marL="914400" rtl="0" algn="l">
              <a:lnSpc>
                <a:spcPct val="150000"/>
              </a:lnSpc>
              <a:spcBef>
                <a:spcPts val="0"/>
              </a:spcBef>
              <a:spcAft>
                <a:spcPts val="0"/>
              </a:spcAft>
              <a:buClr>
                <a:schemeClr val="dk1"/>
              </a:buClr>
              <a:buSzPts val="1000"/>
              <a:buChar char="-"/>
            </a:pPr>
            <a:r>
              <a:rPr lang="en" sz="1000">
                <a:solidFill>
                  <a:schemeClr val="dk1"/>
                </a:solidFill>
                <a:highlight>
                  <a:schemeClr val="lt1"/>
                </a:highlight>
              </a:rPr>
              <a:t>Types of credit you’ve used</a:t>
            </a:r>
            <a:endParaRPr sz="1000">
              <a:solidFill>
                <a:schemeClr val="dk1"/>
              </a:solidFill>
              <a:highlight>
                <a:schemeClr val="lt1"/>
              </a:highlight>
            </a:endParaRPr>
          </a:p>
          <a:p>
            <a:pPr indent="-292100" lvl="1" marL="914400" rtl="0" algn="l">
              <a:lnSpc>
                <a:spcPct val="150000"/>
              </a:lnSpc>
              <a:spcBef>
                <a:spcPts val="0"/>
              </a:spcBef>
              <a:spcAft>
                <a:spcPts val="0"/>
              </a:spcAft>
              <a:buClr>
                <a:schemeClr val="dk1"/>
              </a:buClr>
              <a:buSzPts val="1000"/>
              <a:buChar char="-"/>
            </a:pPr>
            <a:r>
              <a:rPr lang="en" sz="1000">
                <a:solidFill>
                  <a:schemeClr val="dk1"/>
                </a:solidFill>
                <a:highlight>
                  <a:schemeClr val="lt1"/>
                </a:highlight>
              </a:rPr>
              <a:t>Your pursuit of new credit</a:t>
            </a:r>
            <a:endParaRPr sz="1000">
              <a:solidFill>
                <a:schemeClr val="dk1"/>
              </a:solidFill>
              <a:highlight>
                <a:schemeClr val="lt1"/>
              </a:highlight>
            </a:endParaRPr>
          </a:p>
          <a:p>
            <a:pPr indent="0" lvl="0" marL="457200" rtl="0" algn="l">
              <a:lnSpc>
                <a:spcPct val="150000"/>
              </a:lnSpc>
              <a:spcBef>
                <a:spcPts val="2400"/>
              </a:spcBef>
              <a:spcAft>
                <a:spcPts val="0"/>
              </a:spcAft>
              <a:buNone/>
            </a:pPr>
            <a:r>
              <a:t/>
            </a:r>
            <a:endParaRPr sz="1200">
              <a:solidFill>
                <a:schemeClr val="dk1"/>
              </a:solidFill>
              <a:highlight>
                <a:schemeClr val="lt1"/>
              </a:highlight>
            </a:endParaRPr>
          </a:p>
          <a:p>
            <a:pPr indent="0" lvl="0" marL="457200" rtl="0" algn="l">
              <a:spcBef>
                <a:spcPts val="0"/>
              </a:spcBef>
              <a:spcAft>
                <a:spcPts val="1600"/>
              </a:spcAft>
              <a:buNone/>
            </a:pPr>
            <a:r>
              <a:t/>
            </a:r>
            <a:endParaRPr sz="1200">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Step 2: See What You Can Actually Get</a:t>
            </a:r>
            <a:endParaRPr b="1"/>
          </a:p>
          <a:p>
            <a:pPr indent="0" lvl="0" marL="0" rtl="0" algn="l">
              <a:spcBef>
                <a:spcPts val="0"/>
              </a:spcBef>
              <a:spcAft>
                <a:spcPts val="0"/>
              </a:spcAft>
              <a:buNone/>
            </a:pPr>
            <a:r>
              <a:t/>
            </a:r>
            <a:endParaRPr/>
          </a:p>
        </p:txBody>
      </p:sp>
      <p:sp>
        <p:nvSpPr>
          <p:cNvPr id="120" name="Google Shape;120;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chemeClr val="dk1"/>
                </a:solidFill>
                <a:highlight>
                  <a:schemeClr val="lt1"/>
                </a:highlight>
              </a:rPr>
              <a:t>In business and life in general…time is money. </a:t>
            </a:r>
            <a:r>
              <a:rPr b="1" lang="en" sz="1200">
                <a:solidFill>
                  <a:schemeClr val="dk1"/>
                </a:solidFill>
                <a:highlight>
                  <a:schemeClr val="lt1"/>
                </a:highlight>
              </a:rPr>
              <a:t>Most people</a:t>
            </a:r>
            <a:r>
              <a:rPr lang="en" sz="1200">
                <a:solidFill>
                  <a:schemeClr val="dk1"/>
                </a:solidFill>
                <a:highlight>
                  <a:schemeClr val="lt1"/>
                </a:highlight>
              </a:rPr>
              <a:t> waste a lot of precious time finding homes and searching for real estate they may not even qualify for. If you do not know what you can actually afford, you will likely cause </a:t>
            </a:r>
            <a:r>
              <a:rPr lang="en" sz="1200">
                <a:solidFill>
                  <a:schemeClr val="dk1"/>
                </a:solidFill>
                <a:highlight>
                  <a:schemeClr val="lt1"/>
                </a:highlight>
              </a:rPr>
              <a:t>yourself</a:t>
            </a:r>
            <a:r>
              <a:rPr lang="en" sz="1200">
                <a:solidFill>
                  <a:schemeClr val="dk1"/>
                </a:solidFill>
                <a:highlight>
                  <a:schemeClr val="lt1"/>
                </a:highlight>
              </a:rPr>
              <a:t> a lot of </a:t>
            </a:r>
            <a:r>
              <a:rPr b="1" lang="en" sz="1200">
                <a:solidFill>
                  <a:schemeClr val="dk1"/>
                </a:solidFill>
                <a:highlight>
                  <a:schemeClr val="lt1"/>
                </a:highlight>
              </a:rPr>
              <a:t>stress </a:t>
            </a:r>
            <a:r>
              <a:rPr lang="en" sz="1200">
                <a:solidFill>
                  <a:schemeClr val="dk1"/>
                </a:solidFill>
                <a:highlight>
                  <a:schemeClr val="lt1"/>
                </a:highlight>
              </a:rPr>
              <a:t>and </a:t>
            </a:r>
            <a:r>
              <a:rPr b="1" lang="en" sz="1200">
                <a:solidFill>
                  <a:schemeClr val="dk1"/>
                </a:solidFill>
                <a:highlight>
                  <a:schemeClr val="lt1"/>
                </a:highlight>
              </a:rPr>
              <a:t>frustration</a:t>
            </a:r>
            <a:r>
              <a:rPr lang="en" sz="1200">
                <a:solidFill>
                  <a:schemeClr val="dk1"/>
                </a:solidFill>
                <a:highlight>
                  <a:schemeClr val="lt1"/>
                </a:highlight>
              </a:rPr>
              <a:t> from the wasted time and unmet expectations. Furthermore, it could also prevent you from winning offers. </a:t>
            </a:r>
            <a:br>
              <a:rPr lang="en" sz="1200">
                <a:solidFill>
                  <a:schemeClr val="dk1"/>
                </a:solidFill>
                <a:highlight>
                  <a:schemeClr val="lt1"/>
                </a:highlight>
              </a:rPr>
            </a:br>
            <a:br>
              <a:rPr lang="en" sz="1200">
                <a:solidFill>
                  <a:schemeClr val="dk1"/>
                </a:solidFill>
                <a:highlight>
                  <a:schemeClr val="lt1"/>
                </a:highlight>
              </a:rPr>
            </a:br>
            <a:r>
              <a:rPr lang="en" sz="1200">
                <a:solidFill>
                  <a:schemeClr val="dk1"/>
                </a:solidFill>
                <a:highlight>
                  <a:schemeClr val="lt1"/>
                </a:highlight>
              </a:rPr>
              <a:t>The </a:t>
            </a:r>
            <a:r>
              <a:rPr b="1" lang="en" sz="1200">
                <a:solidFill>
                  <a:schemeClr val="dk1"/>
                </a:solidFill>
                <a:highlight>
                  <a:schemeClr val="lt1"/>
                </a:highlight>
              </a:rPr>
              <a:t>best way</a:t>
            </a:r>
            <a:r>
              <a:rPr lang="en" sz="1200">
                <a:solidFill>
                  <a:schemeClr val="dk1"/>
                </a:solidFill>
                <a:highlight>
                  <a:schemeClr val="lt1"/>
                </a:highlight>
              </a:rPr>
              <a:t> to see what you can actually get is to get </a:t>
            </a:r>
            <a:r>
              <a:rPr b="1" lang="en" sz="1200">
                <a:solidFill>
                  <a:schemeClr val="dk1"/>
                </a:solidFill>
                <a:highlight>
                  <a:schemeClr val="lt1"/>
                </a:highlight>
              </a:rPr>
              <a:t>pre approved</a:t>
            </a:r>
            <a:r>
              <a:rPr lang="en" sz="1200">
                <a:solidFill>
                  <a:schemeClr val="dk1"/>
                </a:solidFill>
                <a:highlight>
                  <a:schemeClr val="lt1"/>
                </a:highlight>
              </a:rPr>
              <a:t> from a lender to see your purchasing power. </a:t>
            </a:r>
            <a:br>
              <a:rPr lang="en" sz="1200">
                <a:solidFill>
                  <a:schemeClr val="dk1"/>
                </a:solidFill>
                <a:highlight>
                  <a:schemeClr val="lt1"/>
                </a:highlight>
              </a:rPr>
            </a:br>
            <a:br>
              <a:rPr lang="en" sz="1200">
                <a:solidFill>
                  <a:schemeClr val="dk1"/>
                </a:solidFill>
                <a:highlight>
                  <a:schemeClr val="lt1"/>
                </a:highlight>
              </a:rPr>
            </a:br>
            <a:r>
              <a:rPr lang="en" sz="1200">
                <a:solidFill>
                  <a:schemeClr val="dk1"/>
                </a:solidFill>
                <a:highlight>
                  <a:schemeClr val="lt1"/>
                </a:highlight>
              </a:rPr>
              <a:t>When you apply, your lender will give you a preapproval letter that states how much you’re approved for based on your credit, assets and income. You can show your pre-approval letter to your real estate agent so they can help you find homes within your budget.</a:t>
            </a:r>
            <a:endParaRPr sz="1200">
              <a:solidFill>
                <a:schemeClr val="dk1"/>
              </a:solidFill>
              <a:highlight>
                <a:schemeClr val="lt1"/>
              </a:highlight>
            </a:endParaRPr>
          </a:p>
          <a:p>
            <a:pPr indent="-304800" lvl="0" marL="457200" rtl="0" algn="l">
              <a:spcBef>
                <a:spcPts val="1600"/>
              </a:spcBef>
              <a:spcAft>
                <a:spcPts val="0"/>
              </a:spcAft>
              <a:buClr>
                <a:schemeClr val="dk1"/>
              </a:buClr>
              <a:buSzPts val="1200"/>
              <a:buChar char="-"/>
            </a:pPr>
            <a:r>
              <a:rPr lang="en" sz="1200">
                <a:solidFill>
                  <a:schemeClr val="dk1"/>
                </a:solidFill>
                <a:highlight>
                  <a:schemeClr val="lt1"/>
                </a:highlight>
              </a:rPr>
              <a:t>A pre-approved mortgage lets you know how much you can afford, what your interest rate will be and what your monthly mortgage payments will look like. </a:t>
            </a:r>
            <a:endParaRPr sz="1200">
              <a:solidFill>
                <a:schemeClr val="dk1"/>
              </a:solidFill>
              <a:highlight>
                <a:schemeClr val="lt1"/>
              </a:highlight>
            </a:endParaRPr>
          </a:p>
          <a:p>
            <a:pPr indent="0" lvl="0" marL="0" rtl="0" algn="l">
              <a:spcBef>
                <a:spcPts val="1600"/>
              </a:spcBef>
              <a:spcAft>
                <a:spcPts val="1600"/>
              </a:spcAft>
              <a:buNone/>
            </a:pPr>
            <a:r>
              <a:t/>
            </a:r>
            <a:endParaRPr sz="1200">
              <a:solidFill>
                <a:schemeClr val="dk1"/>
              </a:solidFill>
              <a:highlight>
                <a:schemeClr val="lt1"/>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Mortgage Options…</a:t>
            </a:r>
            <a:endParaRPr/>
          </a:p>
          <a:p>
            <a:pPr indent="0" lvl="0" marL="0" rtl="0" algn="l">
              <a:spcBef>
                <a:spcPts val="0"/>
              </a:spcBef>
              <a:spcAft>
                <a:spcPts val="0"/>
              </a:spcAft>
              <a:buNone/>
            </a:pPr>
            <a:r>
              <a:t/>
            </a:r>
            <a:endParaRPr/>
          </a:p>
        </p:txBody>
      </p:sp>
      <p:sp>
        <p:nvSpPr>
          <p:cNvPr id="126" name="Google Shape;126;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u="sng">
                <a:solidFill>
                  <a:schemeClr val="dk1"/>
                </a:solidFill>
                <a:highlight>
                  <a:srgbClr val="FFFFFF"/>
                </a:highlight>
              </a:rPr>
              <a:t>Big Banks Or Mortgage Broker</a:t>
            </a:r>
            <a:endParaRPr b="1" sz="1200" u="sng">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lang="en" sz="1200">
                <a:solidFill>
                  <a:schemeClr val="dk1"/>
                </a:solidFill>
                <a:highlight>
                  <a:srgbClr val="FFFFFF"/>
                </a:highlight>
              </a:rPr>
              <a:t>This graph will be able to give you an accurate</a:t>
            </a:r>
            <a:endParaRPr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lang="en" sz="1200">
                <a:solidFill>
                  <a:schemeClr val="dk1"/>
                </a:solidFill>
                <a:highlight>
                  <a:srgbClr val="FFFFFF"/>
                </a:highlight>
              </a:rPr>
              <a:t>Representation as to where to go. You can tally up the </a:t>
            </a:r>
            <a:endParaRPr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lang="en" sz="1200">
                <a:solidFill>
                  <a:schemeClr val="dk1"/>
                </a:solidFill>
                <a:highlight>
                  <a:srgbClr val="FFFFFF"/>
                </a:highlight>
              </a:rPr>
              <a:t>scores on this and see the best fit for </a:t>
            </a:r>
            <a:r>
              <a:rPr lang="en" sz="1200">
                <a:solidFill>
                  <a:schemeClr val="dk1"/>
                </a:solidFill>
                <a:highlight>
                  <a:srgbClr val="FFFFFF"/>
                </a:highlight>
              </a:rPr>
              <a:t>yourself</a:t>
            </a:r>
            <a:r>
              <a:rPr lang="en" sz="1200">
                <a:solidFill>
                  <a:schemeClr val="dk1"/>
                </a:solidFill>
                <a:highlight>
                  <a:srgbClr val="FFFFFF"/>
                </a:highlight>
              </a:rPr>
              <a:t>.</a:t>
            </a:r>
            <a:br>
              <a:rPr lang="en" sz="1200">
                <a:solidFill>
                  <a:schemeClr val="dk1"/>
                </a:solidFill>
                <a:highlight>
                  <a:srgbClr val="FFFFFF"/>
                </a:highlight>
              </a:rPr>
            </a:br>
            <a:br>
              <a:rPr i="1" lang="en" sz="1200">
                <a:solidFill>
                  <a:schemeClr val="dk1"/>
                </a:solidFill>
                <a:highlight>
                  <a:srgbClr val="FFFFFF"/>
                </a:highlight>
              </a:rPr>
            </a:b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i="1" lang="en" sz="1200">
                <a:solidFill>
                  <a:schemeClr val="dk1"/>
                </a:solidFill>
                <a:highlight>
                  <a:srgbClr val="FFFFFF"/>
                </a:highlight>
              </a:rPr>
              <a:t>It all comes down to knowing your options and choosing</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i="1" lang="en" sz="1200">
                <a:solidFill>
                  <a:schemeClr val="dk1"/>
                </a:solidFill>
                <a:highlight>
                  <a:srgbClr val="FFFFFF"/>
                </a:highlight>
              </a:rPr>
              <a:t>What is best for your </a:t>
            </a:r>
            <a:r>
              <a:rPr i="1" lang="en" sz="1200">
                <a:solidFill>
                  <a:schemeClr val="dk1"/>
                </a:solidFill>
                <a:highlight>
                  <a:srgbClr val="FFFFFF"/>
                </a:highlight>
              </a:rPr>
              <a:t>unique</a:t>
            </a:r>
            <a:r>
              <a:rPr i="1" lang="en" sz="1200">
                <a:solidFill>
                  <a:schemeClr val="dk1"/>
                </a:solidFill>
                <a:highlight>
                  <a:srgbClr val="FFFFFF"/>
                </a:highlight>
              </a:rPr>
              <a:t> </a:t>
            </a:r>
            <a:r>
              <a:rPr i="1" lang="en" sz="1200">
                <a:solidFill>
                  <a:schemeClr val="dk1"/>
                </a:solidFill>
                <a:highlight>
                  <a:srgbClr val="FFFFFF"/>
                </a:highlight>
              </a:rPr>
              <a:t>situation</a:t>
            </a:r>
            <a:r>
              <a:rPr i="1" lang="en" sz="1200">
                <a:solidFill>
                  <a:schemeClr val="dk1"/>
                </a:solidFill>
                <a:highlight>
                  <a:srgbClr val="FFFFFF"/>
                </a:highlight>
              </a:rPr>
              <a:t>. </a:t>
            </a:r>
            <a:endParaRPr i="1" sz="1200">
              <a:solidFill>
                <a:schemeClr val="dk1"/>
              </a:solidFill>
              <a:highlight>
                <a:srgbClr val="FFFFFF"/>
              </a:highlight>
            </a:endParaRPr>
          </a:p>
          <a:p>
            <a:pPr indent="0" lvl="0" marL="1371600" rtl="0" algn="l">
              <a:spcBef>
                <a:spcPts val="1600"/>
              </a:spcBef>
              <a:spcAft>
                <a:spcPts val="1600"/>
              </a:spcAft>
              <a:buNone/>
            </a:pPr>
            <a:r>
              <a:t/>
            </a:r>
            <a:endParaRPr sz="1200">
              <a:solidFill>
                <a:schemeClr val="dk1"/>
              </a:solidFill>
              <a:highlight>
                <a:srgbClr val="FFFFFF"/>
              </a:highlight>
            </a:endParaRPr>
          </a:p>
        </p:txBody>
      </p:sp>
      <p:pic>
        <p:nvPicPr>
          <p:cNvPr id="127" name="Google Shape;127;p25"/>
          <p:cNvPicPr preferRelativeResize="0"/>
          <p:nvPr/>
        </p:nvPicPr>
        <p:blipFill>
          <a:blip r:embed="rId3">
            <a:alphaModFix/>
          </a:blip>
          <a:stretch>
            <a:fillRect/>
          </a:stretch>
        </p:blipFill>
        <p:spPr>
          <a:xfrm>
            <a:off x="4510326" y="206475"/>
            <a:ext cx="4321976" cy="443907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Mortgage Options: Fixed Vs Variable Rates….</a:t>
            </a:r>
            <a:endParaRPr/>
          </a:p>
          <a:p>
            <a:pPr indent="0" lvl="0" marL="0" rtl="0" algn="l">
              <a:spcBef>
                <a:spcPts val="0"/>
              </a:spcBef>
              <a:spcAft>
                <a:spcPts val="0"/>
              </a:spcAft>
              <a:buNone/>
            </a:pPr>
            <a:r>
              <a:t/>
            </a:r>
            <a:endParaRPr/>
          </a:p>
        </p:txBody>
      </p:sp>
      <p:sp>
        <p:nvSpPr>
          <p:cNvPr id="133" name="Google Shape;133;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u="sng">
                <a:solidFill>
                  <a:schemeClr val="dk1"/>
                </a:solidFill>
                <a:highlight>
                  <a:srgbClr val="FFFFFF"/>
                </a:highlight>
              </a:rPr>
              <a:t>Depending on your unique situation… </a:t>
            </a:r>
            <a:endParaRPr b="1" sz="1200" u="sng">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b="1" lang="en" sz="1200" u="sng">
                <a:solidFill>
                  <a:schemeClr val="dk1"/>
                </a:solidFill>
                <a:highlight>
                  <a:srgbClr val="FFFFFF"/>
                </a:highlight>
              </a:rPr>
              <a:t>Fixed Rate</a:t>
            </a:r>
            <a:endParaRPr b="1" sz="1200" u="sng">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lang="en" sz="1200">
                <a:solidFill>
                  <a:schemeClr val="dk1"/>
                </a:solidFill>
                <a:highlight>
                  <a:srgbClr val="FFFFFF"/>
                </a:highlight>
              </a:rPr>
              <a:t>Higher but has guarantees. </a:t>
            </a:r>
            <a:endParaRPr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b="1" lang="en" sz="1200" u="sng">
                <a:solidFill>
                  <a:schemeClr val="dk1"/>
                </a:solidFill>
                <a:highlight>
                  <a:schemeClr val="lt1"/>
                </a:highlight>
              </a:rPr>
              <a:t>Variable Rate</a:t>
            </a:r>
            <a:endParaRPr b="1" sz="1200" u="sng">
              <a:solidFill>
                <a:schemeClr val="dk1"/>
              </a:solidFill>
              <a:highlight>
                <a:schemeClr val="lt1"/>
              </a:highlight>
            </a:endParaRPr>
          </a:p>
          <a:p>
            <a:pPr indent="0" lvl="0" marL="0" rtl="0" algn="l">
              <a:spcBef>
                <a:spcPts val="1600"/>
              </a:spcBef>
              <a:spcAft>
                <a:spcPts val="0"/>
              </a:spcAft>
              <a:buClr>
                <a:schemeClr val="dk1"/>
              </a:buClr>
              <a:buSzPts val="1100"/>
              <a:buFont typeface="Arial"/>
              <a:buNone/>
            </a:pPr>
            <a:r>
              <a:rPr lang="en" sz="1200">
                <a:solidFill>
                  <a:schemeClr val="dk1"/>
                </a:solidFill>
                <a:highlight>
                  <a:srgbClr val="FFFFFF"/>
                </a:highlight>
              </a:rPr>
              <a:t>Lower but no guarantees.</a:t>
            </a:r>
            <a:br>
              <a:rPr i="1" lang="en" sz="1200">
                <a:solidFill>
                  <a:schemeClr val="dk1"/>
                </a:solidFill>
                <a:highlight>
                  <a:srgbClr val="FFFFFF"/>
                </a:highlight>
              </a:rPr>
            </a:b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i="1" lang="en" sz="1200">
                <a:solidFill>
                  <a:schemeClr val="dk1"/>
                </a:solidFill>
                <a:highlight>
                  <a:srgbClr val="FFFFFF"/>
                </a:highlight>
              </a:rPr>
              <a:t>Tip: If you are a </a:t>
            </a:r>
            <a:r>
              <a:rPr i="1" lang="en" sz="1200">
                <a:solidFill>
                  <a:schemeClr val="dk1"/>
                </a:solidFill>
                <a:highlight>
                  <a:srgbClr val="FFFFFF"/>
                </a:highlight>
              </a:rPr>
              <a:t>younger individual or </a:t>
            </a:r>
            <a:r>
              <a:rPr i="1" lang="en" sz="1200">
                <a:solidFill>
                  <a:schemeClr val="dk1"/>
                </a:solidFill>
                <a:highlight>
                  <a:srgbClr val="FFFFFF"/>
                </a:highlight>
              </a:rPr>
              <a:t>first time homebuyer, I would </a:t>
            </a:r>
            <a:r>
              <a:rPr i="1" lang="en" sz="1200">
                <a:solidFill>
                  <a:schemeClr val="dk1"/>
                </a:solidFill>
                <a:highlight>
                  <a:srgbClr val="FFFFFF"/>
                </a:highlight>
              </a:rPr>
              <a:t>recommend</a:t>
            </a:r>
            <a:r>
              <a:rPr i="1" lang="en" sz="1200">
                <a:solidFill>
                  <a:schemeClr val="dk1"/>
                </a:solidFill>
                <a:highlight>
                  <a:srgbClr val="FFFFFF"/>
                </a:highlight>
              </a:rPr>
              <a:t> choosing a variable rate as you won’t have as many liabilities, expenses and you can most likely adjust for an increase if need be. </a:t>
            </a:r>
            <a:br>
              <a:rPr i="1" lang="en" sz="1200">
                <a:solidFill>
                  <a:schemeClr val="dk1"/>
                </a:solidFill>
                <a:highlight>
                  <a:srgbClr val="FFFFFF"/>
                </a:highlight>
              </a:rPr>
            </a:br>
            <a:br>
              <a:rPr i="1" lang="en" sz="1200">
                <a:solidFill>
                  <a:schemeClr val="dk1"/>
                </a:solidFill>
                <a:highlight>
                  <a:srgbClr val="FFFFFF"/>
                </a:highlight>
              </a:rPr>
            </a:br>
            <a:r>
              <a:rPr i="1" lang="en" sz="1200">
                <a:solidFill>
                  <a:schemeClr val="dk1"/>
                </a:solidFill>
                <a:highlight>
                  <a:srgbClr val="FFFFFF"/>
                </a:highlight>
              </a:rPr>
              <a:t>If you are a young family with kids or in general have more liabilities and expenses, it will give you that reassurance and peace of mind knowing that for the next 3 years or 5 years I will have a fixed interest rate and know exactly how much my mortgage payments will be. </a:t>
            </a:r>
            <a:endParaRPr i="1" sz="1200">
              <a:solidFill>
                <a:schemeClr val="dk1"/>
              </a:solidFill>
              <a:highlight>
                <a:srgbClr val="FFFFFF"/>
              </a:highlight>
            </a:endParaRPr>
          </a:p>
          <a:p>
            <a:pPr indent="0" lvl="0" marL="1371600" rtl="0" algn="l">
              <a:spcBef>
                <a:spcPts val="1600"/>
              </a:spcBef>
              <a:spcAft>
                <a:spcPts val="1600"/>
              </a:spcAft>
              <a:buNone/>
            </a:pPr>
            <a:r>
              <a:t/>
            </a:r>
            <a:endParaRPr sz="1200">
              <a:solidFill>
                <a:schemeClr val="dk1"/>
              </a:solidFill>
              <a:highlight>
                <a:srgbClr val="FFFFFF"/>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Mortgage Options: 5 C’s Of Credit Score</a:t>
            </a:r>
            <a:endParaRPr/>
          </a:p>
          <a:p>
            <a:pPr indent="0" lvl="0" marL="0" rtl="0" algn="l">
              <a:spcBef>
                <a:spcPts val="0"/>
              </a:spcBef>
              <a:spcAft>
                <a:spcPts val="0"/>
              </a:spcAft>
              <a:buNone/>
            </a:pPr>
            <a:r>
              <a:t/>
            </a:r>
            <a:endParaRPr/>
          </a:p>
        </p:txBody>
      </p:sp>
      <p:sp>
        <p:nvSpPr>
          <p:cNvPr id="139" name="Google Shape;139;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200">
                <a:solidFill>
                  <a:schemeClr val="dk1"/>
                </a:solidFill>
                <a:highlight>
                  <a:srgbClr val="FFFFFF"/>
                </a:highlight>
              </a:rPr>
              <a:t>When was the last time you checked your credit score and how does it affect </a:t>
            </a:r>
            <a:r>
              <a:rPr i="1" lang="en" sz="1200">
                <a:solidFill>
                  <a:schemeClr val="dk1"/>
                </a:solidFill>
                <a:highlight>
                  <a:srgbClr val="FFFFFF"/>
                </a:highlight>
              </a:rPr>
              <a:t>the</a:t>
            </a:r>
            <a:r>
              <a:rPr i="1" lang="en" sz="1200">
                <a:solidFill>
                  <a:schemeClr val="dk1"/>
                </a:solidFill>
                <a:highlight>
                  <a:srgbClr val="FFFFFF"/>
                </a:highlight>
              </a:rPr>
              <a:t> kind of mortgage you get with prime lenders who offer the lowest rates? Under 600 is usually the lowest cut off but don’t panic if that might be you. As long as you can understand credit score, you can know how to build it back up.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i="1" lang="en" sz="1200">
                <a:solidFill>
                  <a:schemeClr val="dk1"/>
                </a:solidFill>
                <a:highlight>
                  <a:srgbClr val="FFFFFF"/>
                </a:highlight>
              </a:rPr>
              <a:t>The </a:t>
            </a:r>
            <a:r>
              <a:rPr i="1" lang="en" sz="1200">
                <a:solidFill>
                  <a:schemeClr val="dk1"/>
                </a:solidFill>
                <a:highlight>
                  <a:srgbClr val="FFFFFF"/>
                </a:highlight>
              </a:rPr>
              <a:t>banks</a:t>
            </a:r>
            <a:r>
              <a:rPr i="1" lang="en" sz="1200">
                <a:solidFill>
                  <a:schemeClr val="dk1"/>
                </a:solidFill>
                <a:highlight>
                  <a:srgbClr val="FFFFFF"/>
                </a:highlight>
              </a:rPr>
              <a:t> typically look at the </a:t>
            </a:r>
            <a:r>
              <a:rPr i="1" lang="en" sz="1200">
                <a:solidFill>
                  <a:schemeClr val="dk1"/>
                </a:solidFill>
                <a:highlight>
                  <a:srgbClr val="FFFFFF"/>
                </a:highlight>
              </a:rPr>
              <a:t>following</a:t>
            </a:r>
            <a:r>
              <a:rPr i="1" lang="en" sz="1200">
                <a:solidFill>
                  <a:schemeClr val="dk1"/>
                </a:solidFill>
                <a:highlight>
                  <a:srgbClr val="FFFFFF"/>
                </a:highlight>
              </a:rPr>
              <a:t>: </a:t>
            </a:r>
            <a:br>
              <a:rPr i="1" lang="en" sz="1200">
                <a:solidFill>
                  <a:schemeClr val="dk1"/>
                </a:solidFill>
                <a:highlight>
                  <a:srgbClr val="FFFFFF"/>
                </a:highlight>
              </a:rPr>
            </a:br>
            <a:br>
              <a:rPr i="1" lang="en" sz="1200">
                <a:solidFill>
                  <a:schemeClr val="dk1"/>
                </a:solidFill>
                <a:highlight>
                  <a:srgbClr val="FFFFFF"/>
                </a:highlight>
              </a:rPr>
            </a:br>
            <a:r>
              <a:rPr i="1" lang="en" sz="1200">
                <a:solidFill>
                  <a:schemeClr val="dk1"/>
                </a:solidFill>
                <a:highlight>
                  <a:srgbClr val="FFFFFF"/>
                </a:highlight>
              </a:rPr>
              <a:t>1. Payment History</a:t>
            </a:r>
            <a:r>
              <a:rPr i="1" lang="en" sz="1200">
                <a:solidFill>
                  <a:schemeClr val="dk1"/>
                </a:solidFill>
                <a:highlight>
                  <a:srgbClr val="FFFFFF"/>
                </a:highlight>
              </a:rPr>
              <a:t>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i="1" lang="en" sz="1200">
                <a:solidFill>
                  <a:schemeClr val="dk1"/>
                </a:solidFill>
                <a:highlight>
                  <a:srgbClr val="FFFFFF"/>
                </a:highlight>
              </a:rPr>
              <a:t>2. Credit Utilization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i="1" lang="en" sz="1200">
                <a:solidFill>
                  <a:schemeClr val="dk1"/>
                </a:solidFill>
                <a:highlight>
                  <a:srgbClr val="FFFFFF"/>
                </a:highlight>
              </a:rPr>
              <a:t>3. Age Of Credit History</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i="1" lang="en" sz="1200">
                <a:solidFill>
                  <a:schemeClr val="dk1"/>
                </a:solidFill>
                <a:highlight>
                  <a:srgbClr val="FFFFFF"/>
                </a:highlight>
              </a:rPr>
              <a:t>4. Credit Inquiries</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i="1" lang="en" sz="1200">
                <a:solidFill>
                  <a:schemeClr val="dk1"/>
                </a:solidFill>
                <a:highlight>
                  <a:srgbClr val="FFFFFF"/>
                </a:highlight>
              </a:rPr>
              <a:t>5. Total Number Of Accounts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i="1" lang="en" sz="1200">
                <a:solidFill>
                  <a:schemeClr val="dk1"/>
                </a:solidFill>
                <a:highlight>
                  <a:srgbClr val="FFFFFF"/>
                </a:highlight>
              </a:rPr>
              <a:t>Visit creditkarma.com (check credit without a credit check) </a:t>
            </a:r>
            <a:endParaRPr i="1" sz="1200">
              <a:solidFill>
                <a:schemeClr val="dk1"/>
              </a:solidFill>
              <a:highlight>
                <a:srgbClr val="FFFFFF"/>
              </a:highlight>
            </a:endParaRPr>
          </a:p>
          <a:p>
            <a:pPr indent="0" lvl="0" marL="1371600" rtl="0" algn="l">
              <a:spcBef>
                <a:spcPts val="1600"/>
              </a:spcBef>
              <a:spcAft>
                <a:spcPts val="1600"/>
              </a:spcAft>
              <a:buNone/>
            </a:pPr>
            <a:r>
              <a:t/>
            </a:r>
            <a:endParaRPr sz="1200">
              <a:solidFill>
                <a:schemeClr val="dk1"/>
              </a:solidFill>
              <a:highlight>
                <a:srgbClr val="FFFFFF"/>
              </a:high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Mortgage Options: What’s My Plan B</a:t>
            </a:r>
            <a:endParaRPr/>
          </a:p>
          <a:p>
            <a:pPr indent="0" lvl="0" marL="0" rtl="0" algn="l">
              <a:spcBef>
                <a:spcPts val="0"/>
              </a:spcBef>
              <a:spcAft>
                <a:spcPts val="0"/>
              </a:spcAft>
              <a:buNone/>
            </a:pPr>
            <a:r>
              <a:t/>
            </a:r>
            <a:endParaRPr/>
          </a:p>
        </p:txBody>
      </p:sp>
      <p:sp>
        <p:nvSpPr>
          <p:cNvPr id="145" name="Google Shape;145;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200">
                <a:solidFill>
                  <a:schemeClr val="dk1"/>
                </a:solidFill>
                <a:highlight>
                  <a:srgbClr val="FFFFFF"/>
                </a:highlight>
              </a:rPr>
              <a:t>Let’s say the big or “A” lenders/ big banks turn you down, there are other options for alternative lenders which include B lenders and private lenders which are “C lenders”.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i="1" lang="en" sz="1200">
                <a:solidFill>
                  <a:schemeClr val="dk1"/>
                </a:solidFill>
                <a:highlight>
                  <a:srgbClr val="FFFFFF"/>
                </a:highlight>
              </a:rPr>
              <a:t>We can also use:</a:t>
            </a:r>
            <a:br>
              <a:rPr i="1" lang="en" sz="1200">
                <a:solidFill>
                  <a:schemeClr val="dk1"/>
                </a:solidFill>
                <a:highlight>
                  <a:srgbClr val="FFFFFF"/>
                </a:highlight>
              </a:rPr>
            </a:br>
            <a:br>
              <a:rPr i="1" lang="en" sz="1200">
                <a:solidFill>
                  <a:schemeClr val="dk1"/>
                </a:solidFill>
                <a:highlight>
                  <a:srgbClr val="FFFFFF"/>
                </a:highlight>
              </a:rPr>
            </a:br>
            <a:r>
              <a:rPr i="1" lang="en" sz="1200">
                <a:solidFill>
                  <a:schemeClr val="dk1"/>
                </a:solidFill>
                <a:highlight>
                  <a:srgbClr val="FFFFFF"/>
                </a:highlight>
              </a:rPr>
              <a:t>1. Co-Signers: Typically spouses/ partners whose income is used to help qualify and are on the title of the property.</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i="1" lang="en" sz="1200">
                <a:solidFill>
                  <a:schemeClr val="dk1"/>
                </a:solidFill>
                <a:highlight>
                  <a:srgbClr val="FFFFFF"/>
                </a:highlight>
              </a:rPr>
              <a:t>2. Guarantor: Backs up someone taking out a loan and agrees to take over the payments in case that you cannot afford it. This is a rare situation.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b="1" i="1" lang="en" sz="1200">
                <a:solidFill>
                  <a:schemeClr val="dk1"/>
                </a:solidFill>
                <a:highlight>
                  <a:srgbClr val="FFFFFF"/>
                </a:highlight>
              </a:rPr>
              <a:t>When the time comes, we can have the discussion to </a:t>
            </a:r>
            <a:r>
              <a:rPr b="1" i="1" lang="en" sz="1200">
                <a:solidFill>
                  <a:schemeClr val="dk1"/>
                </a:solidFill>
                <a:highlight>
                  <a:srgbClr val="FFFFFF"/>
                </a:highlight>
              </a:rPr>
              <a:t>discuss</a:t>
            </a:r>
            <a:r>
              <a:rPr b="1" i="1" lang="en" sz="1200">
                <a:solidFill>
                  <a:schemeClr val="dk1"/>
                </a:solidFill>
                <a:highlight>
                  <a:srgbClr val="FFFFFF"/>
                </a:highlight>
              </a:rPr>
              <a:t> what we can do together to get you that mortgage </a:t>
            </a:r>
            <a:r>
              <a:rPr b="1" i="1" lang="en" sz="1200">
                <a:solidFill>
                  <a:schemeClr val="dk1"/>
                </a:solidFill>
                <a:highlight>
                  <a:srgbClr val="FFFFFF"/>
                </a:highlight>
              </a:rPr>
              <a:t>approval</a:t>
            </a:r>
            <a:r>
              <a:rPr b="1" i="1" lang="en" sz="1200">
                <a:solidFill>
                  <a:schemeClr val="dk1"/>
                </a:solidFill>
                <a:highlight>
                  <a:srgbClr val="FFFFFF"/>
                </a:highlight>
              </a:rPr>
              <a:t>.</a:t>
            </a:r>
            <a:endParaRPr b="1" i="1" sz="1200">
              <a:solidFill>
                <a:schemeClr val="dk1"/>
              </a:solidFill>
              <a:highlight>
                <a:srgbClr val="FFFFFF"/>
              </a:highlight>
            </a:endParaRPr>
          </a:p>
          <a:p>
            <a:pPr indent="0" lvl="0" marL="1371600" rtl="0" algn="l">
              <a:spcBef>
                <a:spcPts val="1600"/>
              </a:spcBef>
              <a:spcAft>
                <a:spcPts val="1600"/>
              </a:spcAft>
              <a:buNone/>
            </a:pPr>
            <a:r>
              <a:t/>
            </a:r>
            <a:endParaRPr sz="1200">
              <a:solidFill>
                <a:schemeClr val="dk1"/>
              </a:solidFill>
              <a:highlight>
                <a:srgbClr val="FFFFFF"/>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Step 2 FAQ</a:t>
            </a:r>
            <a:endParaRPr b="1"/>
          </a:p>
          <a:p>
            <a:pPr indent="0" lvl="0" marL="0" rtl="0" algn="l">
              <a:spcBef>
                <a:spcPts val="0"/>
              </a:spcBef>
              <a:spcAft>
                <a:spcPts val="0"/>
              </a:spcAft>
              <a:buNone/>
            </a:pPr>
            <a:r>
              <a:t/>
            </a:r>
            <a:endParaRPr/>
          </a:p>
        </p:txBody>
      </p:sp>
      <p:sp>
        <p:nvSpPr>
          <p:cNvPr id="151" name="Google Shape;15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lnSpc>
                <a:spcPct val="150000"/>
              </a:lnSpc>
              <a:spcBef>
                <a:spcPts val="0"/>
              </a:spcBef>
              <a:spcAft>
                <a:spcPts val="0"/>
              </a:spcAft>
              <a:buClr>
                <a:schemeClr val="dk1"/>
              </a:buClr>
              <a:buSzPts val="1200"/>
              <a:buChar char="-"/>
            </a:pPr>
            <a:r>
              <a:rPr lang="en" sz="1200">
                <a:solidFill>
                  <a:schemeClr val="dk1"/>
                </a:solidFill>
              </a:rPr>
              <a:t>Question 1: What does the pre-approval process involve?</a:t>
            </a:r>
            <a:endParaRPr sz="1200">
              <a:solidFill>
                <a:schemeClr val="dk1"/>
              </a:solidFill>
            </a:endParaRPr>
          </a:p>
          <a:p>
            <a:pPr indent="-292100" lvl="1" marL="914400" rtl="0" algn="l">
              <a:lnSpc>
                <a:spcPct val="150000"/>
              </a:lnSpc>
              <a:spcBef>
                <a:spcPts val="0"/>
              </a:spcBef>
              <a:spcAft>
                <a:spcPts val="0"/>
              </a:spcAft>
              <a:buClr>
                <a:schemeClr val="dk1"/>
              </a:buClr>
              <a:buSzPts val="1000"/>
              <a:buChar char="-"/>
            </a:pPr>
            <a:r>
              <a:rPr lang="en" sz="1000">
                <a:solidFill>
                  <a:schemeClr val="dk1"/>
                </a:solidFill>
              </a:rPr>
              <a:t>Your Income</a:t>
            </a:r>
            <a:endParaRPr sz="1000">
              <a:solidFill>
                <a:schemeClr val="dk1"/>
              </a:solidFill>
            </a:endParaRPr>
          </a:p>
          <a:p>
            <a:pPr indent="-292100" lvl="1" marL="914400" rtl="0" algn="l">
              <a:lnSpc>
                <a:spcPct val="150000"/>
              </a:lnSpc>
              <a:spcBef>
                <a:spcPts val="0"/>
              </a:spcBef>
              <a:spcAft>
                <a:spcPts val="0"/>
              </a:spcAft>
              <a:buClr>
                <a:schemeClr val="dk1"/>
              </a:buClr>
              <a:buSzPts val="1000"/>
              <a:buChar char="-"/>
            </a:pPr>
            <a:r>
              <a:rPr lang="en" sz="1000">
                <a:solidFill>
                  <a:schemeClr val="dk1"/>
                </a:solidFill>
              </a:rPr>
              <a:t>Assets</a:t>
            </a:r>
            <a:endParaRPr sz="1000">
              <a:solidFill>
                <a:schemeClr val="dk1"/>
              </a:solidFill>
            </a:endParaRPr>
          </a:p>
          <a:p>
            <a:pPr indent="-292100" lvl="1" marL="914400" rtl="0" algn="l">
              <a:lnSpc>
                <a:spcPct val="150000"/>
              </a:lnSpc>
              <a:spcBef>
                <a:spcPts val="0"/>
              </a:spcBef>
              <a:spcAft>
                <a:spcPts val="0"/>
              </a:spcAft>
              <a:buClr>
                <a:schemeClr val="dk1"/>
              </a:buClr>
              <a:buSzPts val="1000"/>
              <a:buChar char="-"/>
            </a:pPr>
            <a:r>
              <a:rPr lang="en" sz="1000">
                <a:solidFill>
                  <a:schemeClr val="dk1"/>
                </a:solidFill>
              </a:rPr>
              <a:t>Credit Check</a:t>
            </a:r>
            <a:endParaRPr sz="10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Question 2: What if I don’t get pre-approved?</a:t>
            </a:r>
            <a:endParaRPr sz="1200">
              <a:solidFill>
                <a:schemeClr val="dk1"/>
              </a:solidFill>
            </a:endParaRPr>
          </a:p>
          <a:p>
            <a:pPr indent="-292100" lvl="1" marL="914400" rtl="0" algn="l">
              <a:lnSpc>
                <a:spcPct val="150000"/>
              </a:lnSpc>
              <a:spcBef>
                <a:spcPts val="0"/>
              </a:spcBef>
              <a:spcAft>
                <a:spcPts val="0"/>
              </a:spcAft>
              <a:buClr>
                <a:schemeClr val="dk1"/>
              </a:buClr>
              <a:buSzPts val="1000"/>
              <a:buChar char="-"/>
            </a:pPr>
            <a:r>
              <a:rPr lang="en" sz="1000">
                <a:solidFill>
                  <a:schemeClr val="dk1"/>
                </a:solidFill>
              </a:rPr>
              <a:t>You can approach alternative or private lenders. Rates are typically higher since the risk is higher for the lender.</a:t>
            </a:r>
            <a:endParaRPr sz="1000">
              <a:solidFill>
                <a:schemeClr val="dk1"/>
              </a:solidFill>
            </a:endParaRPr>
          </a:p>
          <a:p>
            <a:pPr indent="-292100" lvl="1" marL="914400" rtl="0" algn="l">
              <a:lnSpc>
                <a:spcPct val="150000"/>
              </a:lnSpc>
              <a:spcBef>
                <a:spcPts val="0"/>
              </a:spcBef>
              <a:spcAft>
                <a:spcPts val="0"/>
              </a:spcAft>
              <a:buClr>
                <a:schemeClr val="dk1"/>
              </a:buClr>
              <a:buSzPts val="1000"/>
              <a:buChar char="-"/>
            </a:pPr>
            <a:r>
              <a:rPr lang="en" sz="1000">
                <a:solidFill>
                  <a:schemeClr val="dk1"/>
                </a:solidFill>
              </a:rPr>
              <a:t>You can get a co-signer. Co-signers are typically spouses whose income is used to help qualify and are on the title of the property. You can also get yourself a guarantor. A guarantor is someone that backs up someone taking out a loan and agrees to take over the payments in case you can’t afford them. </a:t>
            </a:r>
            <a:endParaRPr sz="1000">
              <a:solidFill>
                <a:schemeClr val="dk1"/>
              </a:solidFill>
            </a:endParaRPr>
          </a:p>
          <a:p>
            <a:pPr indent="-292100" lvl="1" marL="914400" rtl="0" algn="l">
              <a:lnSpc>
                <a:spcPct val="150000"/>
              </a:lnSpc>
              <a:spcBef>
                <a:spcPts val="0"/>
              </a:spcBef>
              <a:spcAft>
                <a:spcPts val="0"/>
              </a:spcAft>
              <a:buClr>
                <a:schemeClr val="dk1"/>
              </a:buClr>
              <a:buSzPts val="1000"/>
              <a:buChar char="-"/>
            </a:pPr>
            <a:r>
              <a:rPr lang="en" sz="1000">
                <a:solidFill>
                  <a:schemeClr val="dk1"/>
                </a:solidFill>
              </a:rPr>
              <a:t>It’s always best to consult an agent to see the best for pre approval. </a:t>
            </a:r>
            <a:endParaRPr sz="1000">
              <a:solidFill>
                <a:schemeClr val="dk1"/>
              </a:solidFill>
            </a:endParaRPr>
          </a:p>
          <a:p>
            <a:pPr indent="0" lvl="0" marL="457200" rtl="0" algn="l">
              <a:lnSpc>
                <a:spcPct val="150000"/>
              </a:lnSpc>
              <a:spcBef>
                <a:spcPts val="2400"/>
              </a:spcBef>
              <a:spcAft>
                <a:spcPts val="0"/>
              </a:spcAft>
              <a:buNone/>
            </a:pPr>
            <a:r>
              <a:t/>
            </a:r>
            <a:endParaRPr sz="1200">
              <a:solidFill>
                <a:schemeClr val="dk1"/>
              </a:solidFill>
              <a:highlight>
                <a:schemeClr val="lt1"/>
              </a:highlight>
            </a:endParaRPr>
          </a:p>
          <a:p>
            <a:pPr indent="0" lvl="0" marL="457200" rtl="0" algn="l">
              <a:spcBef>
                <a:spcPts val="0"/>
              </a:spcBef>
              <a:spcAft>
                <a:spcPts val="1600"/>
              </a:spcAft>
              <a:buNone/>
            </a:pPr>
            <a:r>
              <a:t/>
            </a:r>
            <a:endParaRPr sz="1200">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Step 3: Find the Right Real Estate Agent</a:t>
            </a:r>
            <a:endParaRPr b="1"/>
          </a:p>
        </p:txBody>
      </p:sp>
      <p:sp>
        <p:nvSpPr>
          <p:cNvPr id="157" name="Google Shape;157;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000">
              <a:solidFill>
                <a:schemeClr val="dk1"/>
              </a:solidFill>
              <a:highlight>
                <a:schemeClr val="lt1"/>
              </a:highlight>
            </a:endParaRPr>
          </a:p>
          <a:p>
            <a:pPr indent="0" lvl="0" marL="0" rtl="0" algn="l">
              <a:lnSpc>
                <a:spcPct val="115000"/>
              </a:lnSpc>
              <a:spcBef>
                <a:spcPts val="1600"/>
              </a:spcBef>
              <a:spcAft>
                <a:spcPts val="0"/>
              </a:spcAft>
              <a:buNone/>
            </a:pPr>
            <a:r>
              <a:rPr lang="en" sz="1000">
                <a:solidFill>
                  <a:schemeClr val="dk1"/>
                </a:solidFill>
                <a:highlight>
                  <a:schemeClr val="lt1"/>
                </a:highlight>
              </a:rPr>
              <a:t>This is where </a:t>
            </a:r>
            <a:r>
              <a:rPr b="1" lang="en" sz="1000">
                <a:solidFill>
                  <a:schemeClr val="dk1"/>
                </a:solidFill>
                <a:highlight>
                  <a:schemeClr val="lt1"/>
                </a:highlight>
              </a:rPr>
              <a:t>most homebuyers</a:t>
            </a:r>
            <a:r>
              <a:rPr lang="en" sz="1000">
                <a:solidFill>
                  <a:schemeClr val="dk1"/>
                </a:solidFill>
                <a:highlight>
                  <a:schemeClr val="lt1"/>
                </a:highlight>
              </a:rPr>
              <a:t> go wrong. They choose the wrong agent. The </a:t>
            </a:r>
            <a:r>
              <a:rPr lang="en" sz="1000">
                <a:solidFill>
                  <a:schemeClr val="dk1"/>
                </a:solidFill>
                <a:highlight>
                  <a:schemeClr val="lt1"/>
                </a:highlight>
              </a:rPr>
              <a:t>truth</a:t>
            </a:r>
            <a:r>
              <a:rPr lang="en" sz="1000">
                <a:solidFill>
                  <a:schemeClr val="dk1"/>
                </a:solidFill>
                <a:highlight>
                  <a:schemeClr val="lt1"/>
                </a:highlight>
              </a:rPr>
              <a:t> is that you can do everything </a:t>
            </a:r>
            <a:r>
              <a:rPr lang="en" sz="1000">
                <a:solidFill>
                  <a:schemeClr val="dk1"/>
                </a:solidFill>
                <a:highlight>
                  <a:schemeClr val="lt1"/>
                </a:highlight>
              </a:rPr>
              <a:t>right</a:t>
            </a:r>
            <a:r>
              <a:rPr lang="en" sz="1000">
                <a:solidFill>
                  <a:schemeClr val="dk1"/>
                </a:solidFill>
                <a:highlight>
                  <a:schemeClr val="lt1"/>
                </a:highlight>
              </a:rPr>
              <a:t> but if you mess this part up, you could easily find yourself in a bad deal that could </a:t>
            </a:r>
            <a:r>
              <a:rPr b="1" lang="en" sz="1000">
                <a:solidFill>
                  <a:schemeClr val="dk1"/>
                </a:solidFill>
                <a:highlight>
                  <a:schemeClr val="lt1"/>
                </a:highlight>
              </a:rPr>
              <a:t>haunt you</a:t>
            </a:r>
            <a:r>
              <a:rPr lang="en" sz="1000">
                <a:solidFill>
                  <a:schemeClr val="dk1"/>
                </a:solidFill>
                <a:highlight>
                  <a:schemeClr val="lt1"/>
                </a:highlight>
              </a:rPr>
              <a:t> for years to come. </a:t>
            </a:r>
            <a:endParaRPr sz="1000">
              <a:solidFill>
                <a:schemeClr val="dk1"/>
              </a:solidFill>
              <a:highlight>
                <a:schemeClr val="lt1"/>
              </a:highlight>
            </a:endParaRPr>
          </a:p>
          <a:p>
            <a:pPr indent="0" lvl="0" marL="0" rtl="0" algn="l">
              <a:lnSpc>
                <a:spcPct val="115000"/>
              </a:lnSpc>
              <a:spcBef>
                <a:spcPts val="1600"/>
              </a:spcBef>
              <a:spcAft>
                <a:spcPts val="0"/>
              </a:spcAft>
              <a:buNone/>
            </a:pPr>
            <a:br>
              <a:rPr lang="en" sz="1000">
                <a:solidFill>
                  <a:schemeClr val="dk1"/>
                </a:solidFill>
                <a:highlight>
                  <a:schemeClr val="lt1"/>
                </a:highlight>
              </a:rPr>
            </a:br>
            <a:br>
              <a:rPr lang="en" sz="1000">
                <a:solidFill>
                  <a:schemeClr val="dk1"/>
                </a:solidFill>
                <a:highlight>
                  <a:schemeClr val="lt1"/>
                </a:highlight>
              </a:rPr>
            </a:br>
            <a:r>
              <a:rPr lang="en" sz="1000">
                <a:solidFill>
                  <a:schemeClr val="dk1"/>
                </a:solidFill>
                <a:highlight>
                  <a:schemeClr val="lt1"/>
                </a:highlight>
              </a:rPr>
              <a:t>The </a:t>
            </a:r>
            <a:r>
              <a:rPr b="1" lang="en" sz="1000">
                <a:solidFill>
                  <a:schemeClr val="dk1"/>
                </a:solidFill>
                <a:highlight>
                  <a:schemeClr val="lt1"/>
                </a:highlight>
              </a:rPr>
              <a:t>new way</a:t>
            </a:r>
            <a:r>
              <a:rPr lang="en" sz="1000">
                <a:solidFill>
                  <a:schemeClr val="dk1"/>
                </a:solidFill>
                <a:highlight>
                  <a:schemeClr val="lt1"/>
                </a:highlight>
              </a:rPr>
              <a:t> is to ideally find an agent that is doing something </a:t>
            </a:r>
            <a:r>
              <a:rPr b="1" lang="en" sz="1000">
                <a:solidFill>
                  <a:schemeClr val="dk1"/>
                </a:solidFill>
                <a:highlight>
                  <a:schemeClr val="lt1"/>
                </a:highlight>
              </a:rPr>
              <a:t>different</a:t>
            </a:r>
            <a:r>
              <a:rPr lang="en" sz="1000">
                <a:solidFill>
                  <a:schemeClr val="dk1"/>
                </a:solidFill>
                <a:highlight>
                  <a:schemeClr val="lt1"/>
                </a:highlight>
              </a:rPr>
              <a:t> from every other agent. This way you know that you won’t just get the results of all the other people doing the exact same thing as </a:t>
            </a:r>
            <a:r>
              <a:rPr lang="en" sz="1000">
                <a:solidFill>
                  <a:schemeClr val="dk1"/>
                </a:solidFill>
                <a:highlight>
                  <a:schemeClr val="lt1"/>
                </a:highlight>
              </a:rPr>
              <a:t>you</a:t>
            </a:r>
            <a:r>
              <a:rPr lang="en" sz="1000">
                <a:solidFill>
                  <a:schemeClr val="dk1"/>
                </a:solidFill>
                <a:highlight>
                  <a:schemeClr val="lt1"/>
                </a:highlight>
              </a:rPr>
              <a:t>.  Your </a:t>
            </a:r>
            <a:r>
              <a:rPr lang="en" sz="1000">
                <a:solidFill>
                  <a:schemeClr val="dk1"/>
                </a:solidFill>
                <a:highlight>
                  <a:schemeClr val="lt1"/>
                </a:highlight>
                <a:uFill>
                  <a:noFill/>
                </a:uFill>
                <a:hlinkClick r:id="rId3">
                  <a:extLst>
                    <a:ext uri="{A12FA001-AC4F-418D-AE19-62706E023703}">
                      <ahyp:hlinkClr val="tx"/>
                    </a:ext>
                  </a:extLst>
                </a:hlinkClick>
              </a:rPr>
              <a:t>real estate agent</a:t>
            </a:r>
            <a:r>
              <a:rPr lang="en" sz="1000">
                <a:solidFill>
                  <a:schemeClr val="dk1"/>
                </a:solidFill>
                <a:highlight>
                  <a:schemeClr val="lt1"/>
                </a:highlight>
              </a:rPr>
              <a:t> is your representative in the home purchase transaction. Your agent will look out for your best interests by finding homes that meet your criteria, get you showings, help you write offers and negotiate.</a:t>
            </a:r>
            <a:endParaRPr sz="700">
              <a:solidFill>
                <a:schemeClr val="dk1"/>
              </a:solidFill>
              <a:highlight>
                <a:srgbClr val="FCFCFC"/>
              </a:highlight>
            </a:endParaRPr>
          </a:p>
          <a:p>
            <a:pPr indent="0" lvl="0" marL="914400" rtl="0" algn="l">
              <a:lnSpc>
                <a:spcPct val="115000"/>
              </a:lnSpc>
              <a:spcBef>
                <a:spcPts val="1600"/>
              </a:spcBef>
              <a:spcAft>
                <a:spcPts val="0"/>
              </a:spcAft>
              <a:buNone/>
            </a:pPr>
            <a:r>
              <a:t/>
            </a:r>
            <a:endParaRPr sz="1000">
              <a:solidFill>
                <a:schemeClr val="dk1"/>
              </a:solidFill>
              <a:highlight>
                <a:srgbClr val="FCFCFC"/>
              </a:highlight>
            </a:endParaRPr>
          </a:p>
          <a:p>
            <a:pPr indent="0" lvl="0" marL="0" rtl="0" algn="l">
              <a:spcBef>
                <a:spcPts val="16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Step 3: Find the Right Real Estate Agent</a:t>
            </a:r>
            <a:endParaRPr b="1"/>
          </a:p>
        </p:txBody>
      </p:sp>
      <p:sp>
        <p:nvSpPr>
          <p:cNvPr id="163" name="Google Shape;163;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highlight>
                  <a:schemeClr val="lt1"/>
                </a:highlight>
              </a:rPr>
              <a:t>You should look for the following characteristics when looking for an agent:</a:t>
            </a:r>
            <a:endParaRPr sz="1000">
              <a:solidFill>
                <a:schemeClr val="dk1"/>
              </a:solidFill>
              <a:highlight>
                <a:schemeClr val="lt1"/>
              </a:highlight>
            </a:endParaRPr>
          </a:p>
          <a:p>
            <a:pPr indent="-292100" lvl="1" marL="914400" rtl="0" algn="l">
              <a:lnSpc>
                <a:spcPct val="115000"/>
              </a:lnSpc>
              <a:spcBef>
                <a:spcPts val="1600"/>
              </a:spcBef>
              <a:spcAft>
                <a:spcPts val="0"/>
              </a:spcAft>
              <a:buClr>
                <a:schemeClr val="dk1"/>
              </a:buClr>
              <a:buSzPts val="1000"/>
              <a:buChar char="○"/>
            </a:pPr>
            <a:r>
              <a:rPr lang="en" sz="1000">
                <a:solidFill>
                  <a:schemeClr val="dk1"/>
                </a:solidFill>
                <a:highlight>
                  <a:schemeClr val="lt1"/>
                </a:highlight>
              </a:rPr>
              <a:t>Experience</a:t>
            </a:r>
            <a:endParaRPr sz="1000">
              <a:solidFill>
                <a:schemeClr val="dk1"/>
              </a:solidFill>
              <a:highlight>
                <a:schemeClr val="lt1"/>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Check for previous happy clients (Testimonials, reviews, etc)</a:t>
            </a:r>
            <a:endParaRPr sz="1000">
              <a:solidFill>
                <a:schemeClr val="dk1"/>
              </a:solidFill>
              <a:highlight>
                <a:schemeClr val="lt1"/>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Responsive</a:t>
            </a:r>
            <a:endParaRPr sz="1000">
              <a:solidFill>
                <a:schemeClr val="dk1"/>
              </a:solidFill>
              <a:highlight>
                <a:schemeClr val="lt1"/>
              </a:highlight>
            </a:endParaRPr>
          </a:p>
          <a:p>
            <a:pPr indent="-292100" lvl="2" marL="13716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The amount of time it takes for the agent to get back to you</a:t>
            </a:r>
            <a:endParaRPr sz="1000">
              <a:solidFill>
                <a:schemeClr val="dk1"/>
              </a:solidFill>
              <a:highlight>
                <a:schemeClr val="lt1"/>
              </a:highlight>
            </a:endParaRPr>
          </a:p>
          <a:p>
            <a:pPr indent="-292100" lvl="2" marL="13716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Whether the agent misses emails, texts or phone calls </a:t>
            </a:r>
            <a:endParaRPr sz="1000">
              <a:solidFill>
                <a:schemeClr val="dk1"/>
              </a:solidFill>
              <a:highlight>
                <a:schemeClr val="lt1"/>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Integrity</a:t>
            </a:r>
            <a:endParaRPr sz="1000">
              <a:solidFill>
                <a:schemeClr val="dk1"/>
              </a:solidFill>
              <a:highlight>
                <a:schemeClr val="lt1"/>
              </a:highlight>
            </a:endParaRPr>
          </a:p>
          <a:p>
            <a:pPr indent="-292100" lvl="2" marL="1371600" rtl="0" algn="l">
              <a:lnSpc>
                <a:spcPct val="115000"/>
              </a:lnSpc>
              <a:spcBef>
                <a:spcPts val="0"/>
              </a:spcBef>
              <a:spcAft>
                <a:spcPts val="0"/>
              </a:spcAft>
              <a:buClr>
                <a:schemeClr val="dk1"/>
              </a:buClr>
              <a:buSzPts val="1000"/>
              <a:buChar char="■"/>
            </a:pPr>
            <a:r>
              <a:rPr lang="en" sz="1000">
                <a:solidFill>
                  <a:schemeClr val="dk1"/>
                </a:solidFill>
                <a:highlight>
                  <a:srgbClr val="FCFCFC"/>
                </a:highlight>
              </a:rPr>
              <a:t>Agents should be aligned with budget, neighborhood and true home values. You should trust your agent to act in your best interest and help you make the right choice in such a large investment. </a:t>
            </a:r>
            <a:endParaRPr sz="1000">
              <a:solidFill>
                <a:schemeClr val="dk1"/>
              </a:solidFill>
              <a:highlight>
                <a:srgbClr val="FCFCFC"/>
              </a:highlight>
            </a:endParaRPr>
          </a:p>
          <a:p>
            <a:pPr indent="-292100" lvl="2" marL="1371600" rtl="0" algn="l">
              <a:lnSpc>
                <a:spcPct val="115000"/>
              </a:lnSpc>
              <a:spcBef>
                <a:spcPts val="0"/>
              </a:spcBef>
              <a:spcAft>
                <a:spcPts val="0"/>
              </a:spcAft>
              <a:buClr>
                <a:schemeClr val="dk1"/>
              </a:buClr>
              <a:buSzPts val="1000"/>
              <a:buChar char="■"/>
            </a:pPr>
            <a:r>
              <a:rPr lang="en" sz="1000">
                <a:solidFill>
                  <a:schemeClr val="dk1"/>
                </a:solidFill>
                <a:highlight>
                  <a:srgbClr val="FCFCFC"/>
                </a:highlight>
              </a:rPr>
              <a:t>Ask yourself: Does the agent only care about a quick commission cheque?</a:t>
            </a:r>
            <a:endParaRPr sz="1000">
              <a:solidFill>
                <a:schemeClr val="dk1"/>
              </a:solidFill>
              <a:highlight>
                <a:srgbClr val="FCFCFC"/>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Neighborhood knowledge</a:t>
            </a:r>
            <a:endParaRPr sz="1000">
              <a:solidFill>
                <a:schemeClr val="dk1"/>
              </a:solidFill>
              <a:highlight>
                <a:schemeClr val="lt1"/>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Overall economic knowledge </a:t>
            </a:r>
            <a:endParaRPr sz="1000">
              <a:solidFill>
                <a:schemeClr val="dk1"/>
              </a:solidFill>
              <a:highlight>
                <a:schemeClr val="lt1"/>
              </a:highlight>
            </a:endParaRPr>
          </a:p>
          <a:p>
            <a:pPr indent="-292100" lvl="2" marL="1371600" rtl="0" algn="l">
              <a:lnSpc>
                <a:spcPct val="115000"/>
              </a:lnSpc>
              <a:spcBef>
                <a:spcPts val="0"/>
              </a:spcBef>
              <a:spcAft>
                <a:spcPts val="0"/>
              </a:spcAft>
              <a:buClr>
                <a:schemeClr val="dk1"/>
              </a:buClr>
              <a:buSzPts val="1000"/>
              <a:buChar char="■"/>
            </a:pPr>
            <a:r>
              <a:rPr lang="en" sz="1000">
                <a:solidFill>
                  <a:schemeClr val="dk1"/>
                </a:solidFill>
                <a:highlight>
                  <a:srgbClr val="FCFCFC"/>
                </a:highlight>
              </a:rPr>
              <a:t>Does the agent have an understanding of the economy since it's directly tied to the housing sector and vice versa?</a:t>
            </a:r>
            <a:endParaRPr sz="1000">
              <a:solidFill>
                <a:schemeClr val="dk1"/>
              </a:solidFill>
              <a:highlight>
                <a:srgbClr val="FCFCFC"/>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rgbClr val="FCFCFC"/>
                </a:highlight>
              </a:rPr>
              <a:t>Attentiveness to you</a:t>
            </a:r>
            <a:endParaRPr sz="1000">
              <a:solidFill>
                <a:schemeClr val="dk1"/>
              </a:solidFill>
              <a:highlight>
                <a:srgbClr val="FCFCFC"/>
              </a:highlight>
            </a:endParaRPr>
          </a:p>
          <a:p>
            <a:pPr indent="-292100" lvl="2" marL="1371600" rtl="0" algn="l">
              <a:lnSpc>
                <a:spcPct val="115000"/>
              </a:lnSpc>
              <a:spcBef>
                <a:spcPts val="0"/>
              </a:spcBef>
              <a:spcAft>
                <a:spcPts val="0"/>
              </a:spcAft>
              <a:buClr>
                <a:schemeClr val="dk1"/>
              </a:buClr>
              <a:buSzPts val="1000"/>
              <a:buChar char="■"/>
            </a:pPr>
            <a:r>
              <a:rPr lang="en" sz="1000">
                <a:solidFill>
                  <a:schemeClr val="dk1"/>
                </a:solidFill>
                <a:highlight>
                  <a:srgbClr val="FCFCFC"/>
                </a:highlight>
              </a:rPr>
              <a:t>Most successful real estate agents have multiple clients at any given time. What's most important is that your agent makes you feel like you're their only client. </a:t>
            </a:r>
            <a:endParaRPr sz="1000">
              <a:solidFill>
                <a:schemeClr val="dk1"/>
              </a:solidFill>
              <a:highlight>
                <a:srgbClr val="FCFCFC"/>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rgbClr val="FCFCFC"/>
                </a:highlight>
              </a:rPr>
              <a:t>Value </a:t>
            </a:r>
            <a:r>
              <a:rPr lang="en" sz="1000">
                <a:solidFill>
                  <a:schemeClr val="dk1"/>
                </a:solidFill>
                <a:highlight>
                  <a:srgbClr val="FCFCFC"/>
                </a:highlight>
              </a:rPr>
              <a:t>proposition</a:t>
            </a:r>
            <a:endParaRPr sz="1000">
              <a:solidFill>
                <a:schemeClr val="dk1"/>
              </a:solidFill>
              <a:highlight>
                <a:srgbClr val="FCFCFC"/>
              </a:highlight>
            </a:endParaRPr>
          </a:p>
          <a:p>
            <a:pPr indent="-292100" lvl="2" marL="1371600" rtl="0" algn="l">
              <a:lnSpc>
                <a:spcPct val="115000"/>
              </a:lnSpc>
              <a:spcBef>
                <a:spcPts val="0"/>
              </a:spcBef>
              <a:spcAft>
                <a:spcPts val="0"/>
              </a:spcAft>
              <a:buClr>
                <a:schemeClr val="dk1"/>
              </a:buClr>
              <a:buSzPts val="1000"/>
              <a:buChar char="■"/>
            </a:pPr>
            <a:r>
              <a:rPr lang="en" sz="1000">
                <a:solidFill>
                  <a:schemeClr val="dk1"/>
                </a:solidFill>
                <a:highlight>
                  <a:srgbClr val="FCFCFC"/>
                </a:highlight>
              </a:rPr>
              <a:t>What’s their value </a:t>
            </a:r>
            <a:r>
              <a:rPr lang="en" sz="1000">
                <a:solidFill>
                  <a:schemeClr val="dk1"/>
                </a:solidFill>
                <a:highlight>
                  <a:srgbClr val="FCFCFC"/>
                </a:highlight>
              </a:rPr>
              <a:t>proposition</a:t>
            </a:r>
            <a:r>
              <a:rPr lang="en" sz="1000">
                <a:solidFill>
                  <a:schemeClr val="dk1"/>
                </a:solidFill>
                <a:highlight>
                  <a:srgbClr val="FCFCFC"/>
                </a:highlight>
              </a:rPr>
              <a:t>? Are they just offering what every other agent is offering or are they </a:t>
            </a:r>
            <a:r>
              <a:rPr lang="en" sz="1000">
                <a:solidFill>
                  <a:schemeClr val="dk1"/>
                </a:solidFill>
                <a:highlight>
                  <a:srgbClr val="FCFCFC"/>
                </a:highlight>
              </a:rPr>
              <a:t>different</a:t>
            </a:r>
            <a:r>
              <a:rPr lang="en" sz="1000">
                <a:solidFill>
                  <a:schemeClr val="dk1"/>
                </a:solidFill>
                <a:highlight>
                  <a:srgbClr val="FCFCFC"/>
                </a:highlight>
              </a:rPr>
              <a:t>?</a:t>
            </a:r>
            <a:endParaRPr sz="1000">
              <a:solidFill>
                <a:schemeClr val="dk1"/>
              </a:solidFill>
              <a:highlight>
                <a:srgbClr val="FCFCFC"/>
              </a:highlight>
            </a:endParaRPr>
          </a:p>
          <a:p>
            <a:pPr indent="0" lvl="0" marL="914400" rtl="0" algn="l">
              <a:lnSpc>
                <a:spcPct val="115000"/>
              </a:lnSpc>
              <a:spcBef>
                <a:spcPts val="1600"/>
              </a:spcBef>
              <a:spcAft>
                <a:spcPts val="0"/>
              </a:spcAft>
              <a:buNone/>
            </a:pPr>
            <a:r>
              <a:t/>
            </a:r>
            <a:endParaRPr sz="1000">
              <a:solidFill>
                <a:schemeClr val="dk1"/>
              </a:solidFill>
              <a:highlight>
                <a:srgbClr val="FCFCFC"/>
              </a:highlight>
            </a:endParaRPr>
          </a:p>
          <a:p>
            <a:pPr indent="0" lvl="0" marL="0" rtl="0" algn="l">
              <a:spcBef>
                <a:spcPts val="16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Step 3 FAQ</a:t>
            </a:r>
            <a:endParaRPr b="1"/>
          </a:p>
        </p:txBody>
      </p:sp>
      <p:sp>
        <p:nvSpPr>
          <p:cNvPr id="169" name="Google Shape;169;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293229" lvl="0" marL="457200" rtl="0" algn="l">
              <a:lnSpc>
                <a:spcPct val="150000"/>
              </a:lnSpc>
              <a:spcBef>
                <a:spcPts val="0"/>
              </a:spcBef>
              <a:spcAft>
                <a:spcPts val="0"/>
              </a:spcAft>
              <a:buClr>
                <a:schemeClr val="dk1"/>
              </a:buClr>
              <a:buSzPct val="100000"/>
              <a:buChar char="-"/>
            </a:pPr>
            <a:r>
              <a:rPr lang="en" sz="4071">
                <a:solidFill>
                  <a:schemeClr val="dk1"/>
                </a:solidFill>
              </a:rPr>
              <a:t>Question 1: Is it possible to buy without a real estate agent?</a:t>
            </a:r>
            <a:endParaRPr sz="4071">
              <a:solidFill>
                <a:schemeClr val="dk1"/>
              </a:solidFill>
            </a:endParaRPr>
          </a:p>
          <a:p>
            <a:pPr indent="-293229" lvl="1" marL="914400" rtl="0" algn="l">
              <a:lnSpc>
                <a:spcPct val="150000"/>
              </a:lnSpc>
              <a:spcBef>
                <a:spcPts val="0"/>
              </a:spcBef>
              <a:spcAft>
                <a:spcPts val="0"/>
              </a:spcAft>
              <a:buClr>
                <a:schemeClr val="dk1"/>
              </a:buClr>
              <a:buSzPct val="100000"/>
              <a:buChar char="-"/>
            </a:pPr>
            <a:r>
              <a:rPr lang="en" sz="4071">
                <a:solidFill>
                  <a:schemeClr val="dk1"/>
                </a:solidFill>
              </a:rPr>
              <a:t>Yes, however it isn’t recommended especially for first time homebuyers. The homebuying process can be complicated and emotional. </a:t>
            </a:r>
            <a:r>
              <a:rPr lang="en" sz="4071">
                <a:solidFill>
                  <a:schemeClr val="dk1"/>
                </a:solidFill>
                <a:highlight>
                  <a:schemeClr val="lt1"/>
                </a:highlight>
              </a:rPr>
              <a:t>Having an agent by your side can help you navigate the housing market, submit a legally sound offer and avoid overpaying for your property.</a:t>
            </a:r>
            <a:endParaRPr sz="4071">
              <a:solidFill>
                <a:schemeClr val="dk1"/>
              </a:solidFill>
            </a:endParaRPr>
          </a:p>
          <a:p>
            <a:pPr indent="-293229" lvl="0" marL="457200" rtl="0" algn="l">
              <a:lnSpc>
                <a:spcPct val="150000"/>
              </a:lnSpc>
              <a:spcBef>
                <a:spcPts val="0"/>
              </a:spcBef>
              <a:spcAft>
                <a:spcPts val="0"/>
              </a:spcAft>
              <a:buClr>
                <a:schemeClr val="dk1"/>
              </a:buClr>
              <a:buSzPct val="100000"/>
              <a:buChar char="-"/>
            </a:pPr>
            <a:r>
              <a:rPr lang="en" sz="4071">
                <a:solidFill>
                  <a:schemeClr val="dk1"/>
                </a:solidFill>
              </a:rPr>
              <a:t>Question 2: What is the agent you hire responsible for? </a:t>
            </a:r>
            <a:endParaRPr sz="4071">
              <a:solidFill>
                <a:schemeClr val="dk1"/>
              </a:solidFill>
            </a:endParaRPr>
          </a:p>
          <a:p>
            <a:pPr indent="-293229" lvl="1" marL="914400" rtl="0" algn="l">
              <a:lnSpc>
                <a:spcPct val="150000"/>
              </a:lnSpc>
              <a:spcBef>
                <a:spcPts val="0"/>
              </a:spcBef>
              <a:spcAft>
                <a:spcPts val="0"/>
              </a:spcAft>
              <a:buClr>
                <a:schemeClr val="dk1"/>
              </a:buClr>
              <a:buSzPct val="100000"/>
              <a:buChar char="-"/>
            </a:pPr>
            <a:r>
              <a:rPr lang="en" sz="4071">
                <a:solidFill>
                  <a:schemeClr val="dk1"/>
                </a:solidFill>
              </a:rPr>
              <a:t>Your agent will show you properties, write an offer letter on your behalf and assist in negotiations. Your agent can also assist on how much to offer for the property. The agent’s role has a fiduciary duty to the client and will always work in your best </a:t>
            </a:r>
            <a:r>
              <a:rPr lang="en" sz="4071">
                <a:solidFill>
                  <a:schemeClr val="dk1"/>
                </a:solidFill>
              </a:rPr>
              <a:t>interest</a:t>
            </a:r>
            <a:r>
              <a:rPr lang="en" sz="4071">
                <a:solidFill>
                  <a:schemeClr val="dk1"/>
                </a:solidFill>
              </a:rPr>
              <a:t>. </a:t>
            </a:r>
            <a:endParaRPr sz="4071">
              <a:solidFill>
                <a:schemeClr val="dk1"/>
              </a:solidFill>
            </a:endParaRPr>
          </a:p>
          <a:p>
            <a:pPr indent="-293229" lvl="0" marL="457200" rtl="0" algn="l">
              <a:lnSpc>
                <a:spcPct val="150000"/>
              </a:lnSpc>
              <a:spcBef>
                <a:spcPts val="0"/>
              </a:spcBef>
              <a:spcAft>
                <a:spcPts val="0"/>
              </a:spcAft>
              <a:buClr>
                <a:schemeClr val="dk1"/>
              </a:buClr>
              <a:buSzPct val="100000"/>
              <a:buChar char="-"/>
            </a:pPr>
            <a:r>
              <a:rPr lang="en" sz="4071">
                <a:solidFill>
                  <a:schemeClr val="dk1"/>
                </a:solidFill>
              </a:rPr>
              <a:t>Question 3: How can you find the right agent?</a:t>
            </a:r>
            <a:endParaRPr sz="4071">
              <a:solidFill>
                <a:schemeClr val="dk1"/>
              </a:solidFill>
            </a:endParaRPr>
          </a:p>
          <a:p>
            <a:pPr indent="-293229" lvl="1" marL="914400" rtl="0" algn="l">
              <a:lnSpc>
                <a:spcPct val="150000"/>
              </a:lnSpc>
              <a:spcBef>
                <a:spcPts val="0"/>
              </a:spcBef>
              <a:spcAft>
                <a:spcPts val="0"/>
              </a:spcAft>
              <a:buClr>
                <a:schemeClr val="dk1"/>
              </a:buClr>
              <a:buSzPct val="100000"/>
              <a:buChar char="-"/>
            </a:pPr>
            <a:r>
              <a:rPr lang="en" sz="4071">
                <a:solidFill>
                  <a:schemeClr val="dk1"/>
                </a:solidFill>
              </a:rPr>
              <a:t>Extensive research. An agent that provides value to you and showcases expertise. An agent that isn’t afraid to guarantee risk reversal on your end. </a:t>
            </a:r>
            <a:endParaRPr sz="4071">
              <a:solidFill>
                <a:schemeClr val="dk1"/>
              </a:solidFill>
            </a:endParaRPr>
          </a:p>
          <a:p>
            <a:pPr indent="-293229" lvl="0" marL="457200" rtl="0" algn="l">
              <a:lnSpc>
                <a:spcPct val="150000"/>
              </a:lnSpc>
              <a:spcBef>
                <a:spcPts val="0"/>
              </a:spcBef>
              <a:spcAft>
                <a:spcPts val="0"/>
              </a:spcAft>
              <a:buClr>
                <a:schemeClr val="dk1"/>
              </a:buClr>
              <a:buSzPct val="100000"/>
              <a:buChar char="-"/>
            </a:pPr>
            <a:r>
              <a:rPr lang="en" sz="4071">
                <a:solidFill>
                  <a:schemeClr val="dk1"/>
                </a:solidFill>
              </a:rPr>
              <a:t>Question 4: Does it cost me anything</a:t>
            </a:r>
            <a:endParaRPr sz="4071">
              <a:solidFill>
                <a:schemeClr val="dk1"/>
              </a:solidFill>
            </a:endParaRPr>
          </a:p>
          <a:p>
            <a:pPr indent="-293229" lvl="1" marL="914400" rtl="0" algn="l">
              <a:lnSpc>
                <a:spcPct val="150000"/>
              </a:lnSpc>
              <a:spcBef>
                <a:spcPts val="0"/>
              </a:spcBef>
              <a:spcAft>
                <a:spcPts val="0"/>
              </a:spcAft>
              <a:buClr>
                <a:schemeClr val="dk1"/>
              </a:buClr>
              <a:buSzPct val="100000"/>
              <a:buChar char="-"/>
            </a:pPr>
            <a:r>
              <a:rPr lang="en" sz="4071">
                <a:solidFill>
                  <a:schemeClr val="dk1"/>
                </a:solidFill>
              </a:rPr>
              <a:t>Common misconception: It’s Expensive. It is absolutely free to work with a real estate agent as a buyer. This should be a non negotiable for any buyer in my opinion. The last thing you want is to have someone else get a better deal because they were working with an agent whereas you end up overpaying. </a:t>
            </a:r>
            <a:endParaRPr sz="4071">
              <a:solidFill>
                <a:schemeClr val="dk1"/>
              </a:solidFill>
            </a:endParaRPr>
          </a:p>
          <a:p>
            <a:pPr indent="0" lvl="0" marL="457200" rtl="0" algn="l">
              <a:lnSpc>
                <a:spcPct val="150000"/>
              </a:lnSpc>
              <a:spcBef>
                <a:spcPts val="2400"/>
              </a:spcBef>
              <a:spcAft>
                <a:spcPts val="0"/>
              </a:spcAft>
              <a:buNone/>
            </a:pPr>
            <a:r>
              <a:t/>
            </a:r>
            <a:endParaRPr sz="1000">
              <a:solidFill>
                <a:schemeClr val="dk1"/>
              </a:solidFill>
            </a:endParaRPr>
          </a:p>
          <a:p>
            <a:pPr indent="0" lvl="0" marL="0" rtl="0" algn="l">
              <a:lnSpc>
                <a:spcPct val="100000"/>
              </a:lnSpc>
              <a:spcBef>
                <a:spcPts val="0"/>
              </a:spcBef>
              <a:spcAft>
                <a:spcPts val="0"/>
              </a:spcAft>
              <a:buClr>
                <a:schemeClr val="dk1"/>
              </a:buClr>
              <a:buSzPct val="39286"/>
              <a:buFont typeface="Arial"/>
              <a:buNone/>
            </a:pPr>
            <a:r>
              <a:t/>
            </a:r>
            <a:endParaRPr sz="28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Step 4: Begin House Hunting </a:t>
            </a:r>
            <a:endParaRPr b="1"/>
          </a:p>
          <a:p>
            <a:pPr indent="0" lvl="0" marL="0" rtl="0" algn="l">
              <a:spcBef>
                <a:spcPts val="0"/>
              </a:spcBef>
              <a:spcAft>
                <a:spcPts val="0"/>
              </a:spcAft>
              <a:buNone/>
            </a:pPr>
            <a:r>
              <a:t/>
            </a:r>
            <a:endParaRPr/>
          </a:p>
        </p:txBody>
      </p:sp>
      <p:sp>
        <p:nvSpPr>
          <p:cNvPr id="175" name="Google Shape;175;p33"/>
          <p:cNvSpPr txBox="1"/>
          <p:nvPr>
            <p:ph idx="1" type="body"/>
          </p:nvPr>
        </p:nvSpPr>
        <p:spPr>
          <a:xfrm>
            <a:off x="311700" y="1120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highlight>
                  <a:schemeClr val="lt1"/>
                </a:highlight>
              </a:rPr>
              <a:t>When you house hunt, you don’t want to make the same mistakes most homebuyers make. </a:t>
            </a:r>
            <a:r>
              <a:rPr b="1" lang="en" sz="1200">
                <a:solidFill>
                  <a:schemeClr val="dk1"/>
                </a:solidFill>
                <a:highlight>
                  <a:schemeClr val="lt1"/>
                </a:highlight>
              </a:rPr>
              <a:t>A lot of homebuyers</a:t>
            </a:r>
            <a:r>
              <a:rPr lang="en" sz="1200">
                <a:solidFill>
                  <a:schemeClr val="dk1"/>
                </a:solidFill>
                <a:highlight>
                  <a:schemeClr val="lt1"/>
                </a:highlight>
              </a:rPr>
              <a:t> do not have the skill sets to correctly dictate whether a property is actually good or not. This can include choosing the wrong neighborhood, overlooking flaws or making critical decisions to get the best deal. This can make or break the real estate buying process and you do not want to make this mistake. </a:t>
            </a:r>
            <a:br>
              <a:rPr lang="en" sz="1200">
                <a:solidFill>
                  <a:schemeClr val="dk1"/>
                </a:solidFill>
                <a:highlight>
                  <a:schemeClr val="lt1"/>
                </a:highlight>
              </a:rPr>
            </a:br>
            <a:br>
              <a:rPr lang="en" sz="1200">
                <a:solidFill>
                  <a:schemeClr val="dk1"/>
                </a:solidFill>
                <a:highlight>
                  <a:schemeClr val="lt1"/>
                </a:highlight>
              </a:rPr>
            </a:br>
            <a:r>
              <a:rPr b="1" lang="en" sz="1200">
                <a:solidFill>
                  <a:schemeClr val="dk1"/>
                </a:solidFill>
                <a:highlight>
                  <a:schemeClr val="lt1"/>
                </a:highlight>
              </a:rPr>
              <a:t>To succeed</a:t>
            </a:r>
            <a:r>
              <a:rPr lang="en" sz="1200">
                <a:solidFill>
                  <a:schemeClr val="dk1"/>
                </a:solidFill>
                <a:highlight>
                  <a:schemeClr val="lt1"/>
                </a:highlight>
              </a:rPr>
              <a:t> in house hunting, you need a </a:t>
            </a:r>
            <a:r>
              <a:rPr b="1" lang="en" sz="1200">
                <a:solidFill>
                  <a:schemeClr val="dk1"/>
                </a:solidFill>
                <a:highlight>
                  <a:schemeClr val="lt1"/>
                </a:highlight>
              </a:rPr>
              <a:t>real estate agent</a:t>
            </a:r>
            <a:r>
              <a:rPr lang="en" sz="1200">
                <a:solidFill>
                  <a:schemeClr val="dk1"/>
                </a:solidFill>
                <a:highlight>
                  <a:schemeClr val="lt1"/>
                </a:highlight>
              </a:rPr>
              <a:t> that will help you </a:t>
            </a:r>
            <a:r>
              <a:rPr lang="en" sz="1200">
                <a:solidFill>
                  <a:schemeClr val="dk1"/>
                </a:solidFill>
                <a:highlight>
                  <a:schemeClr val="lt1"/>
                </a:highlight>
                <a:uFill>
                  <a:noFill/>
                </a:uFill>
                <a:hlinkClick r:id="rId3">
                  <a:extLst>
                    <a:ext uri="{A12FA001-AC4F-418D-AE19-62706E023703}">
                      <ahyp:hlinkClr val="tx"/>
                    </a:ext>
                  </a:extLst>
                </a:hlinkClick>
              </a:rPr>
              <a:t>hunt for houses</a:t>
            </a:r>
            <a:r>
              <a:rPr lang="en" sz="1200">
                <a:solidFill>
                  <a:schemeClr val="dk1"/>
                </a:solidFill>
                <a:highlight>
                  <a:schemeClr val="lt1"/>
                </a:highlight>
              </a:rPr>
              <a:t> but </a:t>
            </a:r>
            <a:r>
              <a:rPr b="1" lang="en" sz="1200">
                <a:solidFill>
                  <a:schemeClr val="dk1"/>
                </a:solidFill>
                <a:highlight>
                  <a:schemeClr val="lt1"/>
                </a:highlight>
              </a:rPr>
              <a:t>also educate you.</a:t>
            </a:r>
            <a:r>
              <a:rPr lang="en" sz="1200">
                <a:solidFill>
                  <a:schemeClr val="dk1"/>
                </a:solidFill>
                <a:highlight>
                  <a:schemeClr val="lt1"/>
                </a:highlight>
              </a:rPr>
              <a:t> A lot of agents fail with this step. This way you can stay within your budget that meets your criteria and also get a great deal. It’s a good idea to make a list of your top priorities. An agent can also get you access to properties you may not otherwise see </a:t>
            </a:r>
            <a:r>
              <a:rPr lang="en" sz="1200">
                <a:solidFill>
                  <a:schemeClr val="dk1"/>
                </a:solidFill>
                <a:highlight>
                  <a:schemeClr val="lt1"/>
                </a:highlight>
              </a:rPr>
              <a:t>online. This includes foreclosures, FSBO’s, expired and exclusive deals. </a:t>
            </a:r>
            <a:endParaRPr sz="1200">
              <a:solidFill>
                <a:schemeClr val="dk1"/>
              </a:solidFill>
              <a:highlight>
                <a:schemeClr val="lt1"/>
              </a:highlight>
            </a:endParaRPr>
          </a:p>
          <a:p>
            <a:pPr indent="-304800" lvl="0" marL="457200" rtl="0" algn="l">
              <a:spcBef>
                <a:spcPts val="1600"/>
              </a:spcBef>
              <a:spcAft>
                <a:spcPts val="0"/>
              </a:spcAft>
              <a:buClr>
                <a:schemeClr val="dk1"/>
              </a:buClr>
              <a:buSzPts val="1200"/>
              <a:buChar char="-"/>
            </a:pPr>
            <a:r>
              <a:rPr lang="en" sz="1200">
                <a:solidFill>
                  <a:schemeClr val="dk1"/>
                </a:solidFill>
                <a:highlight>
                  <a:schemeClr val="lt1"/>
                </a:highlight>
              </a:rPr>
              <a:t>What are the negotiables and the non-negotiables? </a:t>
            </a:r>
            <a:endParaRPr sz="1200">
              <a:solidFill>
                <a:schemeClr val="dk1"/>
              </a:solidFill>
              <a:highlight>
                <a:schemeClr val="lt1"/>
              </a:highlight>
            </a:endParaRPr>
          </a:p>
          <a:p>
            <a:pPr indent="-304800" lvl="0" marL="457200" rtl="0" algn="l">
              <a:spcBef>
                <a:spcPts val="0"/>
              </a:spcBef>
              <a:spcAft>
                <a:spcPts val="0"/>
              </a:spcAft>
              <a:buClr>
                <a:schemeClr val="dk1"/>
              </a:buClr>
              <a:buSzPts val="1200"/>
              <a:buChar char="-"/>
            </a:pPr>
            <a:r>
              <a:rPr lang="en" sz="1200">
                <a:solidFill>
                  <a:schemeClr val="dk1"/>
                </a:solidFill>
                <a:highlight>
                  <a:schemeClr val="lt1"/>
                </a:highlight>
              </a:rPr>
              <a:t>You want to look for a home that will meet your needs not just today, but also 5 to 10 years into the future. </a:t>
            </a:r>
            <a:endParaRPr sz="1200">
              <a:solidFill>
                <a:schemeClr val="dk1"/>
              </a:solidFill>
              <a:highlight>
                <a:schemeClr val="lt1"/>
              </a:highlight>
            </a:endParaRPr>
          </a:p>
          <a:p>
            <a:pPr indent="0" lvl="0" marL="0" rtl="0" algn="l">
              <a:spcBef>
                <a:spcPts val="1600"/>
              </a:spcBef>
              <a:spcAft>
                <a:spcPts val="1600"/>
              </a:spcAft>
              <a:buNone/>
            </a:pPr>
            <a:r>
              <a:rPr lang="en" sz="1200">
                <a:solidFill>
                  <a:schemeClr val="dk1"/>
                </a:solidFill>
                <a:highlight>
                  <a:schemeClr val="lt1"/>
                </a:highlight>
              </a:rPr>
              <a:t>Next we will cover some things to consider when house hunting…</a:t>
            </a:r>
            <a:endParaRPr sz="1200">
              <a:solidFill>
                <a:schemeClr val="dk1"/>
              </a:solidFill>
              <a:highlight>
                <a:schemeClr val="lt1"/>
              </a:high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Step 4: Begin House Hunting </a:t>
            </a:r>
            <a:endParaRPr b="1"/>
          </a:p>
          <a:p>
            <a:pPr indent="0" lvl="0" marL="0" rtl="0" algn="l">
              <a:spcBef>
                <a:spcPts val="0"/>
              </a:spcBef>
              <a:spcAft>
                <a:spcPts val="0"/>
              </a:spcAft>
              <a:buNone/>
            </a:pPr>
            <a:r>
              <a:t/>
            </a:r>
            <a:endParaRPr/>
          </a:p>
        </p:txBody>
      </p:sp>
      <p:sp>
        <p:nvSpPr>
          <p:cNvPr id="181" name="Google Shape;181;p34"/>
          <p:cNvSpPr txBox="1"/>
          <p:nvPr>
            <p:ph idx="1" type="body"/>
          </p:nvPr>
        </p:nvSpPr>
        <p:spPr>
          <a:xfrm>
            <a:off x="311700" y="1120475"/>
            <a:ext cx="85206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lang="en" sz="1200">
                <a:solidFill>
                  <a:schemeClr val="dk1"/>
                </a:solidFill>
                <a:highlight>
                  <a:schemeClr val="lt1"/>
                </a:highlight>
              </a:rPr>
              <a:t>Location</a:t>
            </a:r>
            <a:endParaRPr sz="1200">
              <a:solidFill>
                <a:schemeClr val="dk1"/>
              </a:solidFill>
              <a:highlight>
                <a:schemeClr val="lt1"/>
              </a:highlight>
            </a:endParaRPr>
          </a:p>
          <a:p>
            <a:pPr indent="-292100" lvl="1" marL="914400" rtl="0" algn="l">
              <a:spcBef>
                <a:spcPts val="0"/>
              </a:spcBef>
              <a:spcAft>
                <a:spcPts val="0"/>
              </a:spcAft>
              <a:buClr>
                <a:schemeClr val="dk1"/>
              </a:buClr>
              <a:buSzPts val="1000"/>
              <a:buChar char="-"/>
            </a:pPr>
            <a:r>
              <a:rPr lang="en" sz="1000">
                <a:solidFill>
                  <a:schemeClr val="dk1"/>
                </a:solidFill>
                <a:highlight>
                  <a:schemeClr val="lt1"/>
                </a:highlight>
              </a:rPr>
              <a:t>Do you want to live downtown, in the suburbs or in a more rural environment? </a:t>
            </a:r>
            <a:endParaRPr sz="1000">
              <a:solidFill>
                <a:schemeClr val="dk1"/>
              </a:solidFill>
              <a:highlight>
                <a:schemeClr val="lt1"/>
              </a:highlight>
            </a:endParaRPr>
          </a:p>
          <a:p>
            <a:pPr indent="-292100" lvl="1" marL="914400" rtl="0" algn="l">
              <a:spcBef>
                <a:spcPts val="0"/>
              </a:spcBef>
              <a:spcAft>
                <a:spcPts val="0"/>
              </a:spcAft>
              <a:buClr>
                <a:schemeClr val="dk1"/>
              </a:buClr>
              <a:buSzPts val="1000"/>
              <a:buChar char="-"/>
            </a:pPr>
            <a:r>
              <a:rPr lang="en" sz="1000">
                <a:solidFill>
                  <a:schemeClr val="dk1"/>
                </a:solidFill>
                <a:highlight>
                  <a:schemeClr val="lt1"/>
                </a:highlight>
              </a:rPr>
              <a:t>Do you want to live close to work, school, recreation facilities, parks or public transit?</a:t>
            </a:r>
            <a:endParaRPr sz="1000">
              <a:solidFill>
                <a:schemeClr val="dk1"/>
              </a:solidFill>
              <a:highlight>
                <a:schemeClr val="lt1"/>
              </a:highlight>
            </a:endParaRPr>
          </a:p>
          <a:p>
            <a:pPr indent="-292100" lvl="1" marL="914400" rtl="0" algn="l">
              <a:spcBef>
                <a:spcPts val="0"/>
              </a:spcBef>
              <a:spcAft>
                <a:spcPts val="0"/>
              </a:spcAft>
              <a:buClr>
                <a:schemeClr val="dk1"/>
              </a:buClr>
              <a:buSzPts val="1000"/>
              <a:buChar char="-"/>
            </a:pPr>
            <a:r>
              <a:rPr lang="en" sz="1000">
                <a:solidFill>
                  <a:schemeClr val="dk1"/>
                </a:solidFill>
                <a:highlight>
                  <a:schemeClr val="lt1"/>
                </a:highlight>
              </a:rPr>
              <a:t>Is there a specific neighborhood you prefer?</a:t>
            </a:r>
            <a:endParaRPr sz="1000">
              <a:solidFill>
                <a:schemeClr val="dk1"/>
              </a:solidFill>
              <a:highlight>
                <a:schemeClr val="lt1"/>
              </a:highlight>
            </a:endParaRPr>
          </a:p>
          <a:p>
            <a:pPr indent="-304800" lvl="0" marL="457200" rtl="0" algn="l">
              <a:spcBef>
                <a:spcPts val="0"/>
              </a:spcBef>
              <a:spcAft>
                <a:spcPts val="0"/>
              </a:spcAft>
              <a:buClr>
                <a:schemeClr val="dk1"/>
              </a:buClr>
              <a:buSzPts val="1200"/>
              <a:buChar char="-"/>
            </a:pPr>
            <a:r>
              <a:rPr lang="en" sz="1200">
                <a:solidFill>
                  <a:schemeClr val="dk1"/>
                </a:solidFill>
                <a:highlight>
                  <a:schemeClr val="lt1"/>
                </a:highlight>
              </a:rPr>
              <a:t>Size</a:t>
            </a:r>
            <a:endParaRPr sz="1200">
              <a:solidFill>
                <a:schemeClr val="dk1"/>
              </a:solidFill>
              <a:highlight>
                <a:schemeClr val="lt1"/>
              </a:highlight>
            </a:endParaRPr>
          </a:p>
          <a:p>
            <a:pPr indent="-292100" lvl="1" marL="914400" rtl="0" algn="l">
              <a:spcBef>
                <a:spcPts val="0"/>
              </a:spcBef>
              <a:spcAft>
                <a:spcPts val="0"/>
              </a:spcAft>
              <a:buClr>
                <a:schemeClr val="dk1"/>
              </a:buClr>
              <a:buSzPts val="1000"/>
              <a:buChar char="-"/>
            </a:pPr>
            <a:r>
              <a:rPr lang="en" sz="1000">
                <a:solidFill>
                  <a:schemeClr val="dk1"/>
                </a:solidFill>
                <a:highlight>
                  <a:schemeClr val="lt1"/>
                </a:highlight>
              </a:rPr>
              <a:t>How many bedrooms/bathrooms do you need?</a:t>
            </a:r>
            <a:endParaRPr sz="1000">
              <a:solidFill>
                <a:schemeClr val="dk1"/>
              </a:solidFill>
              <a:highlight>
                <a:schemeClr val="lt1"/>
              </a:highlight>
            </a:endParaRPr>
          </a:p>
          <a:p>
            <a:pPr indent="-292100" lvl="1" marL="914400" rtl="0" algn="l">
              <a:spcBef>
                <a:spcPts val="0"/>
              </a:spcBef>
              <a:spcAft>
                <a:spcPts val="0"/>
              </a:spcAft>
              <a:buClr>
                <a:schemeClr val="dk1"/>
              </a:buClr>
              <a:buSzPts val="1000"/>
              <a:buChar char="-"/>
            </a:pPr>
            <a:r>
              <a:rPr lang="en" sz="1000">
                <a:solidFill>
                  <a:schemeClr val="dk1"/>
                </a:solidFill>
                <a:highlight>
                  <a:schemeClr val="lt1"/>
                </a:highlight>
              </a:rPr>
              <a:t>Do you need space for a home office or for extra storage? </a:t>
            </a:r>
            <a:endParaRPr sz="1000">
              <a:solidFill>
                <a:schemeClr val="dk1"/>
              </a:solidFill>
              <a:highlight>
                <a:schemeClr val="lt1"/>
              </a:highlight>
            </a:endParaRPr>
          </a:p>
          <a:p>
            <a:pPr indent="-292100" lvl="1" marL="914400" rtl="0" algn="l">
              <a:spcBef>
                <a:spcPts val="0"/>
              </a:spcBef>
              <a:spcAft>
                <a:spcPts val="0"/>
              </a:spcAft>
              <a:buClr>
                <a:schemeClr val="dk1"/>
              </a:buClr>
              <a:buSzPts val="1000"/>
              <a:buChar char="-"/>
            </a:pPr>
            <a:r>
              <a:rPr lang="en" sz="1000">
                <a:solidFill>
                  <a:schemeClr val="dk1"/>
                </a:solidFill>
                <a:highlight>
                  <a:schemeClr val="lt1"/>
                </a:highlight>
              </a:rPr>
              <a:t>Do you need a garage?</a:t>
            </a:r>
            <a:endParaRPr sz="1000">
              <a:solidFill>
                <a:schemeClr val="dk1"/>
              </a:solidFill>
              <a:highlight>
                <a:schemeClr val="lt1"/>
              </a:highlight>
            </a:endParaRPr>
          </a:p>
          <a:p>
            <a:pPr indent="-304800" lvl="0" marL="457200" rtl="0" algn="l">
              <a:spcBef>
                <a:spcPts val="0"/>
              </a:spcBef>
              <a:spcAft>
                <a:spcPts val="0"/>
              </a:spcAft>
              <a:buClr>
                <a:schemeClr val="dk1"/>
              </a:buClr>
              <a:buSzPts val="1200"/>
              <a:buChar char="-"/>
            </a:pPr>
            <a:r>
              <a:rPr lang="en" sz="1200">
                <a:solidFill>
                  <a:schemeClr val="dk1"/>
                </a:solidFill>
                <a:highlight>
                  <a:schemeClr val="lt1"/>
                </a:highlight>
              </a:rPr>
              <a:t>Special Features</a:t>
            </a:r>
            <a:endParaRPr sz="1200">
              <a:solidFill>
                <a:schemeClr val="dk1"/>
              </a:solidFill>
              <a:highlight>
                <a:schemeClr val="lt1"/>
              </a:highlight>
            </a:endParaRPr>
          </a:p>
          <a:p>
            <a:pPr indent="-292100" lvl="1" marL="914400" rtl="0" algn="l">
              <a:spcBef>
                <a:spcPts val="0"/>
              </a:spcBef>
              <a:spcAft>
                <a:spcPts val="0"/>
              </a:spcAft>
              <a:buClr>
                <a:schemeClr val="dk1"/>
              </a:buClr>
              <a:buSzPts val="1000"/>
              <a:buChar char="-"/>
            </a:pPr>
            <a:r>
              <a:rPr lang="en" sz="1000">
                <a:solidFill>
                  <a:schemeClr val="dk1"/>
                </a:solidFill>
                <a:highlight>
                  <a:schemeClr val="lt1"/>
                </a:highlight>
              </a:rPr>
              <a:t>Do you require an air conditioner or swimming pool?</a:t>
            </a:r>
            <a:endParaRPr sz="1000">
              <a:solidFill>
                <a:schemeClr val="dk1"/>
              </a:solidFill>
              <a:highlight>
                <a:schemeClr val="lt1"/>
              </a:highlight>
            </a:endParaRPr>
          </a:p>
          <a:p>
            <a:pPr indent="-292100" lvl="1" marL="914400" rtl="0" algn="l">
              <a:spcBef>
                <a:spcPts val="0"/>
              </a:spcBef>
              <a:spcAft>
                <a:spcPts val="0"/>
              </a:spcAft>
              <a:buClr>
                <a:schemeClr val="dk1"/>
              </a:buClr>
              <a:buSzPts val="1000"/>
              <a:buChar char="-"/>
            </a:pPr>
            <a:r>
              <a:rPr lang="en" sz="1000">
                <a:solidFill>
                  <a:schemeClr val="dk1"/>
                </a:solidFill>
                <a:highlight>
                  <a:schemeClr val="lt1"/>
                </a:highlight>
              </a:rPr>
              <a:t>Is it important that your home be environmentally friendly? </a:t>
            </a:r>
            <a:endParaRPr sz="1000">
              <a:solidFill>
                <a:schemeClr val="dk1"/>
              </a:solidFill>
              <a:highlight>
                <a:schemeClr val="lt1"/>
              </a:highlight>
            </a:endParaRPr>
          </a:p>
          <a:p>
            <a:pPr indent="-304800" lvl="0" marL="457200" rtl="0" algn="l">
              <a:spcBef>
                <a:spcPts val="0"/>
              </a:spcBef>
              <a:spcAft>
                <a:spcPts val="0"/>
              </a:spcAft>
              <a:buClr>
                <a:schemeClr val="dk1"/>
              </a:buClr>
              <a:buSzPts val="1200"/>
              <a:buChar char="-"/>
            </a:pPr>
            <a:r>
              <a:rPr lang="en" sz="1200">
                <a:solidFill>
                  <a:schemeClr val="dk1"/>
                </a:solidFill>
                <a:highlight>
                  <a:schemeClr val="lt1"/>
                </a:highlight>
              </a:rPr>
              <a:t>Lifestyle</a:t>
            </a:r>
            <a:endParaRPr sz="1200">
              <a:solidFill>
                <a:schemeClr val="dk1"/>
              </a:solidFill>
              <a:highlight>
                <a:schemeClr val="lt1"/>
              </a:highlight>
            </a:endParaRPr>
          </a:p>
          <a:p>
            <a:pPr indent="-292100" lvl="1" marL="914400" rtl="0" algn="l">
              <a:spcBef>
                <a:spcPts val="0"/>
              </a:spcBef>
              <a:spcAft>
                <a:spcPts val="0"/>
              </a:spcAft>
              <a:buClr>
                <a:schemeClr val="dk1"/>
              </a:buClr>
              <a:buSzPts val="1000"/>
              <a:buChar char="-"/>
            </a:pPr>
            <a:r>
              <a:rPr lang="en" sz="1000">
                <a:solidFill>
                  <a:schemeClr val="dk1"/>
                </a:solidFill>
                <a:highlight>
                  <a:schemeClr val="lt1"/>
                </a:highlight>
              </a:rPr>
              <a:t>Are you planning to have children? Do you have teenage children?</a:t>
            </a:r>
            <a:endParaRPr sz="1000">
              <a:solidFill>
                <a:schemeClr val="dk1"/>
              </a:solidFill>
              <a:highlight>
                <a:schemeClr val="lt1"/>
              </a:highlight>
            </a:endParaRPr>
          </a:p>
          <a:p>
            <a:pPr indent="-292100" lvl="1" marL="914400" rtl="0" algn="l">
              <a:spcBef>
                <a:spcPts val="0"/>
              </a:spcBef>
              <a:spcAft>
                <a:spcPts val="0"/>
              </a:spcAft>
              <a:buClr>
                <a:schemeClr val="dk1"/>
              </a:buClr>
              <a:buSzPts val="1000"/>
              <a:buChar char="-"/>
            </a:pPr>
            <a:r>
              <a:rPr lang="en" sz="1000">
                <a:solidFill>
                  <a:schemeClr val="dk1"/>
                </a:solidFill>
                <a:highlight>
                  <a:schemeClr val="lt1"/>
                </a:highlight>
              </a:rPr>
              <a:t>Are you close to retirement? </a:t>
            </a:r>
            <a:endParaRPr sz="1000">
              <a:solidFill>
                <a:schemeClr val="dk1"/>
              </a:solidFill>
              <a:highlight>
                <a:schemeClr val="lt1"/>
              </a:highlight>
            </a:endParaRPr>
          </a:p>
          <a:p>
            <a:pPr indent="-292100" lvl="1" marL="914400" rtl="0" algn="l">
              <a:spcBef>
                <a:spcPts val="0"/>
              </a:spcBef>
              <a:spcAft>
                <a:spcPts val="0"/>
              </a:spcAft>
              <a:buClr>
                <a:schemeClr val="dk1"/>
              </a:buClr>
              <a:buSzPts val="1000"/>
              <a:buChar char="-"/>
            </a:pPr>
            <a:r>
              <a:rPr lang="en" sz="1000">
                <a:solidFill>
                  <a:schemeClr val="dk1"/>
                </a:solidFill>
                <a:highlight>
                  <a:schemeClr val="lt1"/>
                </a:highlight>
              </a:rPr>
              <a:t>Is it important you live close to family or friends? </a:t>
            </a:r>
            <a:br>
              <a:rPr lang="en" sz="1000">
                <a:solidFill>
                  <a:schemeClr val="dk1"/>
                </a:solidFill>
                <a:highlight>
                  <a:schemeClr val="lt1"/>
                </a:highlight>
              </a:rPr>
            </a:br>
            <a:br>
              <a:rPr lang="en" sz="1000">
                <a:solidFill>
                  <a:schemeClr val="dk1"/>
                </a:solidFill>
                <a:highlight>
                  <a:schemeClr val="lt1"/>
                </a:highlight>
              </a:rPr>
            </a:br>
            <a:r>
              <a:rPr lang="en" sz="1000">
                <a:solidFill>
                  <a:schemeClr val="dk1"/>
                </a:solidFill>
                <a:highlight>
                  <a:schemeClr val="lt1"/>
                </a:highlight>
              </a:rPr>
              <a:t>It is recommended to go even deeper and ask more questions. My personal tip would be to consult with someone who does</a:t>
            </a:r>
            <a:br>
              <a:rPr lang="en" sz="1000">
                <a:solidFill>
                  <a:schemeClr val="dk1"/>
                </a:solidFill>
                <a:highlight>
                  <a:schemeClr val="lt1"/>
                </a:highlight>
              </a:rPr>
            </a:br>
            <a:r>
              <a:rPr lang="en" sz="1000">
                <a:solidFill>
                  <a:schemeClr val="dk1"/>
                </a:solidFill>
                <a:highlight>
                  <a:schemeClr val="lt1"/>
                </a:highlight>
              </a:rPr>
              <a:t>this for a living. </a:t>
            </a:r>
            <a:endParaRPr sz="1000">
              <a:solidFill>
                <a:schemeClr val="dk1"/>
              </a:solidFill>
              <a:highlight>
                <a:schemeClr val="lt1"/>
              </a:high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5"/>
          <p:cNvSpPr txBox="1"/>
          <p:nvPr>
            <p:ph type="title"/>
          </p:nvPr>
        </p:nvSpPr>
        <p:spPr>
          <a:xfrm>
            <a:off x="311700" y="24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Step 4 FAQ</a:t>
            </a:r>
            <a:endParaRPr b="1"/>
          </a:p>
        </p:txBody>
      </p:sp>
      <p:sp>
        <p:nvSpPr>
          <p:cNvPr id="187" name="Google Shape;187;p35"/>
          <p:cNvSpPr txBox="1"/>
          <p:nvPr>
            <p:ph idx="1" type="body"/>
          </p:nvPr>
        </p:nvSpPr>
        <p:spPr>
          <a:xfrm>
            <a:off x="311700" y="813575"/>
            <a:ext cx="8520600" cy="34164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Char char="-"/>
            </a:pPr>
            <a:r>
              <a:rPr lang="en" sz="1200">
                <a:solidFill>
                  <a:schemeClr val="dk1"/>
                </a:solidFill>
              </a:rPr>
              <a:t>Question 1: What are some things to consider when shopping for a home?</a:t>
            </a:r>
            <a:endParaRPr sz="1200">
              <a:solidFill>
                <a:schemeClr val="dk1"/>
              </a:solidFill>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Price</a:t>
            </a:r>
            <a:endParaRPr sz="1000">
              <a:solidFill>
                <a:schemeClr val="dk1"/>
              </a:solidFill>
              <a:highlight>
                <a:schemeClr val="lt1"/>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Square footage</a:t>
            </a:r>
            <a:endParaRPr sz="1000">
              <a:solidFill>
                <a:schemeClr val="dk1"/>
              </a:solidFill>
              <a:highlight>
                <a:schemeClr val="lt1"/>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Home condition and possible need for repairs</a:t>
            </a:r>
            <a:endParaRPr sz="1000">
              <a:solidFill>
                <a:schemeClr val="dk1"/>
              </a:solidFill>
              <a:highlight>
                <a:schemeClr val="lt1"/>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Access to public transportation</a:t>
            </a:r>
            <a:endParaRPr sz="1000">
              <a:solidFill>
                <a:schemeClr val="dk1"/>
              </a:solidFill>
              <a:highlight>
                <a:schemeClr val="lt1"/>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Number of bedrooms</a:t>
            </a:r>
            <a:endParaRPr sz="1000">
              <a:solidFill>
                <a:schemeClr val="dk1"/>
              </a:solidFill>
              <a:highlight>
                <a:schemeClr val="lt1"/>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Backyard/swimming pool</a:t>
            </a:r>
            <a:endParaRPr sz="1000">
              <a:solidFill>
                <a:schemeClr val="dk1"/>
              </a:solidFill>
              <a:highlight>
                <a:schemeClr val="lt1"/>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Local entertainment options</a:t>
            </a:r>
            <a:endParaRPr sz="1000">
              <a:solidFill>
                <a:schemeClr val="dk1"/>
              </a:solidFill>
              <a:highlight>
                <a:schemeClr val="lt1"/>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Local school district ranking</a:t>
            </a:r>
            <a:endParaRPr sz="1000">
              <a:solidFill>
                <a:schemeClr val="dk1"/>
              </a:solidFill>
              <a:highlight>
                <a:schemeClr val="lt1"/>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Property value trends</a:t>
            </a:r>
            <a:endParaRPr sz="1000">
              <a:solidFill>
                <a:schemeClr val="dk1"/>
              </a:solidFill>
              <a:highlight>
                <a:schemeClr val="lt1"/>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Property/real estate taxes</a:t>
            </a:r>
            <a:br>
              <a:rPr lang="en" sz="1000">
                <a:solidFill>
                  <a:schemeClr val="dk1"/>
                </a:solidFill>
                <a:highlight>
                  <a:schemeClr val="lt1"/>
                </a:highlight>
              </a:rPr>
            </a:br>
            <a:endParaRPr sz="10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Question 2: Who decides which property is right for you? </a:t>
            </a:r>
            <a:endParaRPr sz="1200">
              <a:solidFill>
                <a:schemeClr val="dk1"/>
              </a:solidFill>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rPr>
              <a:t>You ultimately do. Your agent can give recommendations. </a:t>
            </a:r>
            <a:br>
              <a:rPr lang="en" sz="1000">
                <a:solidFill>
                  <a:schemeClr val="dk1"/>
                </a:solidFill>
              </a:rPr>
            </a:br>
            <a:endParaRPr sz="10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Question 3: How many homes should you see before you decide which one you want to make an offer for?</a:t>
            </a:r>
            <a:endParaRPr sz="1200">
              <a:solidFill>
                <a:schemeClr val="dk1"/>
              </a:solidFill>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rPr>
              <a:t>You want to see plenty of homes before you make an offer. More the better. </a:t>
            </a:r>
            <a:br>
              <a:rPr lang="en" sz="1000">
                <a:solidFill>
                  <a:schemeClr val="dk1"/>
                </a:solidFill>
              </a:rPr>
            </a:br>
            <a:endParaRPr sz="10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Question 4: Can’t I just find homes online?</a:t>
            </a:r>
            <a:endParaRPr sz="1200">
              <a:solidFill>
                <a:schemeClr val="dk1"/>
              </a:solidFill>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rPr>
              <a:t>Yes and you should be involved as much as possible in the process. It is a joint effort however it is the duty agent to provide you with exclusive deals such as off-market properties, homes not listed online, distressed/ foreclosures and in general great deals. </a:t>
            </a:r>
            <a:endParaRPr sz="1000">
              <a:solidFill>
                <a:schemeClr val="dk1"/>
              </a:solidFill>
            </a:endParaRPr>
          </a:p>
          <a:p>
            <a:pPr indent="0" lvl="0" marL="0" rtl="0" algn="l">
              <a:spcBef>
                <a:spcPts val="160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6"/>
          <p:cNvSpPr txBox="1"/>
          <p:nvPr>
            <p:ph type="title"/>
          </p:nvPr>
        </p:nvSpPr>
        <p:spPr>
          <a:xfrm>
            <a:off x="311700" y="110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Step 5: Make an Offer on A House </a:t>
            </a:r>
            <a:endParaRPr b="1"/>
          </a:p>
          <a:p>
            <a:pPr indent="0" lvl="0" marL="0" rtl="0" algn="l">
              <a:spcBef>
                <a:spcPts val="0"/>
              </a:spcBef>
              <a:spcAft>
                <a:spcPts val="0"/>
              </a:spcAft>
              <a:buNone/>
            </a:pPr>
            <a:r>
              <a:t/>
            </a:r>
            <a:endParaRPr/>
          </a:p>
        </p:txBody>
      </p:sp>
      <p:sp>
        <p:nvSpPr>
          <p:cNvPr id="193" name="Google Shape;193;p36"/>
          <p:cNvSpPr txBox="1"/>
          <p:nvPr>
            <p:ph idx="1" type="body"/>
          </p:nvPr>
        </p:nvSpPr>
        <p:spPr>
          <a:xfrm>
            <a:off x="311700" y="734200"/>
            <a:ext cx="85206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highlight>
                  <a:schemeClr val="lt1"/>
                </a:highlight>
              </a:rPr>
              <a:t>When making an offer, </a:t>
            </a:r>
            <a:r>
              <a:rPr b="1" lang="en" sz="1000">
                <a:solidFill>
                  <a:schemeClr val="dk1"/>
                </a:solidFill>
                <a:highlight>
                  <a:schemeClr val="lt1"/>
                </a:highlight>
              </a:rPr>
              <a:t>many homebuyers</a:t>
            </a:r>
            <a:r>
              <a:rPr lang="en" sz="1000">
                <a:solidFill>
                  <a:schemeClr val="dk1"/>
                </a:solidFill>
                <a:highlight>
                  <a:schemeClr val="lt1"/>
                </a:highlight>
              </a:rPr>
              <a:t> make mistakes which can lead to them </a:t>
            </a:r>
            <a:r>
              <a:rPr b="1" lang="en" sz="1000">
                <a:solidFill>
                  <a:schemeClr val="dk1"/>
                </a:solidFill>
                <a:highlight>
                  <a:schemeClr val="lt1"/>
                </a:highlight>
              </a:rPr>
              <a:t>missing out</a:t>
            </a:r>
            <a:r>
              <a:rPr lang="en" sz="1000">
                <a:solidFill>
                  <a:schemeClr val="dk1"/>
                </a:solidFill>
                <a:highlight>
                  <a:schemeClr val="lt1"/>
                </a:highlight>
              </a:rPr>
              <a:t> on a great deal. Sometimes, an extra 50 dollars per month payment could lead to tens of thousands of dollars in equity gain over several years. A lot of buyers don’t understand this process as the offer submission process </a:t>
            </a:r>
            <a:r>
              <a:rPr lang="en" sz="1000">
                <a:solidFill>
                  <a:schemeClr val="dk1"/>
                </a:solidFill>
                <a:highlight>
                  <a:schemeClr val="lt1"/>
                </a:highlight>
              </a:rPr>
              <a:t>requires skill, experience and understanding of how to win.</a:t>
            </a:r>
            <a:br>
              <a:rPr lang="en" sz="1000">
                <a:solidFill>
                  <a:schemeClr val="dk1"/>
                </a:solidFill>
                <a:highlight>
                  <a:schemeClr val="lt1"/>
                </a:highlight>
              </a:rPr>
            </a:br>
            <a:br>
              <a:rPr lang="en" sz="1000">
                <a:solidFill>
                  <a:schemeClr val="dk1"/>
                </a:solidFill>
                <a:highlight>
                  <a:schemeClr val="lt1"/>
                </a:highlight>
              </a:rPr>
            </a:br>
            <a:r>
              <a:rPr lang="en" sz="1000">
                <a:solidFill>
                  <a:schemeClr val="dk1"/>
                </a:solidFill>
                <a:highlight>
                  <a:schemeClr val="lt1"/>
                </a:highlight>
              </a:rPr>
              <a:t>The </a:t>
            </a:r>
            <a:r>
              <a:rPr b="1" lang="en" sz="1000">
                <a:solidFill>
                  <a:schemeClr val="dk1"/>
                </a:solidFill>
                <a:highlight>
                  <a:schemeClr val="lt1"/>
                </a:highlight>
              </a:rPr>
              <a:t>best way </a:t>
            </a:r>
            <a:r>
              <a:rPr lang="en" sz="1000">
                <a:solidFill>
                  <a:schemeClr val="dk1"/>
                </a:solidFill>
                <a:highlight>
                  <a:schemeClr val="lt1"/>
                </a:highlight>
              </a:rPr>
              <a:t>to succeed in the offer submission process is to use an experienced real estate agent who can help you with an </a:t>
            </a:r>
            <a:r>
              <a:rPr b="1" lang="en" sz="1000">
                <a:solidFill>
                  <a:schemeClr val="dk1"/>
                </a:solidFill>
                <a:highlight>
                  <a:schemeClr val="lt1"/>
                </a:highlight>
              </a:rPr>
              <a:t>offer letter.</a:t>
            </a:r>
            <a:r>
              <a:rPr lang="en" sz="1000">
                <a:solidFill>
                  <a:schemeClr val="dk1"/>
                </a:solidFill>
                <a:highlight>
                  <a:schemeClr val="lt1"/>
                </a:highlight>
              </a:rPr>
              <a:t> </a:t>
            </a:r>
            <a:r>
              <a:rPr lang="en" sz="1000">
                <a:solidFill>
                  <a:schemeClr val="dk1"/>
                </a:solidFill>
                <a:highlight>
                  <a:schemeClr val="lt1"/>
                </a:highlight>
              </a:rPr>
              <a:t>An offer letter must be submitted in writing after touring and looking at properties that you like. The offer letter contains several key parts such as the date, subject and price :</a:t>
            </a:r>
            <a:endParaRPr sz="1000">
              <a:solidFill>
                <a:schemeClr val="dk1"/>
              </a:solidFill>
              <a:highlight>
                <a:schemeClr val="lt1"/>
              </a:highlight>
            </a:endParaRPr>
          </a:p>
          <a:p>
            <a:pPr indent="-285750" lvl="1" marL="914400" rtl="0" algn="l">
              <a:lnSpc>
                <a:spcPct val="115000"/>
              </a:lnSpc>
              <a:spcBef>
                <a:spcPts val="1600"/>
              </a:spcBef>
              <a:spcAft>
                <a:spcPts val="0"/>
              </a:spcAft>
              <a:buClr>
                <a:schemeClr val="dk1"/>
              </a:buClr>
              <a:buSzPts val="900"/>
              <a:buChar char="-"/>
            </a:pPr>
            <a:r>
              <a:rPr b="1" lang="en" sz="900">
                <a:solidFill>
                  <a:schemeClr val="dk1"/>
                </a:solidFill>
                <a:highlight>
                  <a:schemeClr val="lt1"/>
                </a:highlight>
              </a:rPr>
              <a:t>Date </a:t>
            </a:r>
            <a:r>
              <a:rPr lang="en" sz="900">
                <a:solidFill>
                  <a:schemeClr val="dk1"/>
                </a:solidFill>
                <a:highlight>
                  <a:schemeClr val="lt1"/>
                </a:highlight>
              </a:rPr>
              <a:t> </a:t>
            </a:r>
            <a:endParaRPr sz="900">
              <a:solidFill>
                <a:schemeClr val="dk1"/>
              </a:solidFill>
              <a:highlight>
                <a:schemeClr val="lt1"/>
              </a:highlight>
            </a:endParaRPr>
          </a:p>
          <a:p>
            <a:pPr indent="-285750" lvl="2" marL="1371600" rtl="0" algn="l">
              <a:lnSpc>
                <a:spcPct val="115000"/>
              </a:lnSpc>
              <a:spcBef>
                <a:spcPts val="0"/>
              </a:spcBef>
              <a:spcAft>
                <a:spcPts val="0"/>
              </a:spcAft>
              <a:buClr>
                <a:schemeClr val="dk1"/>
              </a:buClr>
              <a:buSzPts val="900"/>
              <a:buChar char="-"/>
            </a:pPr>
            <a:r>
              <a:rPr lang="en" sz="900">
                <a:solidFill>
                  <a:schemeClr val="dk1"/>
                </a:solidFill>
                <a:highlight>
                  <a:schemeClr val="lt1"/>
                </a:highlight>
              </a:rPr>
              <a:t>Completion Date</a:t>
            </a:r>
            <a:endParaRPr sz="900">
              <a:solidFill>
                <a:schemeClr val="dk1"/>
              </a:solidFill>
              <a:highlight>
                <a:schemeClr val="lt1"/>
              </a:highlight>
            </a:endParaRPr>
          </a:p>
          <a:p>
            <a:pPr indent="-285750" lvl="3" marL="1828800" rtl="0" algn="l">
              <a:lnSpc>
                <a:spcPct val="115000"/>
              </a:lnSpc>
              <a:spcBef>
                <a:spcPts val="0"/>
              </a:spcBef>
              <a:spcAft>
                <a:spcPts val="0"/>
              </a:spcAft>
              <a:buClr>
                <a:schemeClr val="dk1"/>
              </a:buClr>
              <a:buSzPts val="900"/>
              <a:buChar char="-"/>
            </a:pPr>
            <a:r>
              <a:rPr lang="en" sz="900">
                <a:solidFill>
                  <a:schemeClr val="dk1"/>
                </a:solidFill>
                <a:highlight>
                  <a:schemeClr val="lt1"/>
                </a:highlight>
              </a:rPr>
              <a:t>The conveyancing happens here, funds to sellers and title are transferred to your name</a:t>
            </a:r>
            <a:endParaRPr sz="900">
              <a:solidFill>
                <a:schemeClr val="dk1"/>
              </a:solidFill>
              <a:highlight>
                <a:schemeClr val="lt1"/>
              </a:highlight>
            </a:endParaRPr>
          </a:p>
          <a:p>
            <a:pPr indent="-285750" lvl="2" marL="1371600" rtl="0" algn="l">
              <a:lnSpc>
                <a:spcPct val="115000"/>
              </a:lnSpc>
              <a:spcBef>
                <a:spcPts val="0"/>
              </a:spcBef>
              <a:spcAft>
                <a:spcPts val="0"/>
              </a:spcAft>
              <a:buClr>
                <a:schemeClr val="dk1"/>
              </a:buClr>
              <a:buSzPts val="900"/>
              <a:buChar char="-"/>
            </a:pPr>
            <a:r>
              <a:rPr lang="en" sz="900">
                <a:solidFill>
                  <a:schemeClr val="dk1"/>
                </a:solidFill>
                <a:highlight>
                  <a:schemeClr val="lt1"/>
                </a:highlight>
              </a:rPr>
              <a:t>The possession date</a:t>
            </a:r>
            <a:endParaRPr sz="900">
              <a:solidFill>
                <a:schemeClr val="dk1"/>
              </a:solidFill>
              <a:highlight>
                <a:schemeClr val="lt1"/>
              </a:highlight>
            </a:endParaRPr>
          </a:p>
          <a:p>
            <a:pPr indent="-285750" lvl="3" marL="1828800" rtl="0" algn="l">
              <a:lnSpc>
                <a:spcPct val="115000"/>
              </a:lnSpc>
              <a:spcBef>
                <a:spcPts val="0"/>
              </a:spcBef>
              <a:spcAft>
                <a:spcPts val="0"/>
              </a:spcAft>
              <a:buClr>
                <a:schemeClr val="dk1"/>
              </a:buClr>
              <a:buSzPts val="900"/>
              <a:buChar char="-"/>
            </a:pPr>
            <a:r>
              <a:rPr lang="en" sz="900">
                <a:solidFill>
                  <a:schemeClr val="dk1"/>
                </a:solidFill>
                <a:highlight>
                  <a:schemeClr val="lt1"/>
                </a:highlight>
              </a:rPr>
              <a:t>The day you get your keys and move in :) </a:t>
            </a:r>
            <a:endParaRPr sz="900">
              <a:solidFill>
                <a:schemeClr val="dk1"/>
              </a:solidFill>
              <a:highlight>
                <a:schemeClr val="lt1"/>
              </a:highlight>
            </a:endParaRPr>
          </a:p>
          <a:p>
            <a:pPr indent="-285750" lvl="2" marL="1371600" rtl="0" algn="l">
              <a:lnSpc>
                <a:spcPct val="115000"/>
              </a:lnSpc>
              <a:spcBef>
                <a:spcPts val="0"/>
              </a:spcBef>
              <a:spcAft>
                <a:spcPts val="0"/>
              </a:spcAft>
              <a:buClr>
                <a:schemeClr val="dk1"/>
              </a:buClr>
              <a:buSzPts val="900"/>
              <a:buChar char="-"/>
            </a:pPr>
            <a:r>
              <a:rPr lang="en" sz="900">
                <a:solidFill>
                  <a:schemeClr val="dk1"/>
                </a:solidFill>
                <a:highlight>
                  <a:schemeClr val="lt1"/>
                </a:highlight>
              </a:rPr>
              <a:t>Adjustment date </a:t>
            </a:r>
            <a:endParaRPr sz="900">
              <a:solidFill>
                <a:schemeClr val="dk1"/>
              </a:solidFill>
              <a:highlight>
                <a:schemeClr val="lt1"/>
              </a:highlight>
            </a:endParaRPr>
          </a:p>
          <a:p>
            <a:pPr indent="-285750" lvl="3" marL="1828800" rtl="0" algn="l">
              <a:lnSpc>
                <a:spcPct val="115000"/>
              </a:lnSpc>
              <a:spcBef>
                <a:spcPts val="0"/>
              </a:spcBef>
              <a:spcAft>
                <a:spcPts val="0"/>
              </a:spcAft>
              <a:buClr>
                <a:schemeClr val="dk1"/>
              </a:buClr>
              <a:buSzPts val="900"/>
              <a:buChar char="-"/>
            </a:pPr>
            <a:r>
              <a:rPr lang="en" sz="900">
                <a:solidFill>
                  <a:schemeClr val="dk1"/>
                </a:solidFill>
                <a:highlight>
                  <a:srgbClr val="FFFFFF"/>
                </a:highlight>
              </a:rPr>
              <a:t>the day to day things like property taxes and strata fees are adjusted for by your notary/lawyer</a:t>
            </a:r>
            <a:endParaRPr sz="900">
              <a:solidFill>
                <a:schemeClr val="dk1"/>
              </a:solidFill>
              <a:highlight>
                <a:srgbClr val="FFFFFF"/>
              </a:highlight>
            </a:endParaRPr>
          </a:p>
          <a:p>
            <a:pPr indent="-285750" lvl="1" marL="914400" rtl="0" algn="l">
              <a:spcBef>
                <a:spcPts val="0"/>
              </a:spcBef>
              <a:spcAft>
                <a:spcPts val="0"/>
              </a:spcAft>
              <a:buClr>
                <a:schemeClr val="dk1"/>
              </a:buClr>
              <a:buSzPts val="900"/>
              <a:buChar char="-"/>
            </a:pPr>
            <a:r>
              <a:rPr b="1" lang="en" sz="900">
                <a:solidFill>
                  <a:schemeClr val="dk1"/>
                </a:solidFill>
                <a:highlight>
                  <a:schemeClr val="lt1"/>
                </a:highlight>
              </a:rPr>
              <a:t>Subject</a:t>
            </a:r>
            <a:endParaRPr b="1" sz="900">
              <a:solidFill>
                <a:schemeClr val="dk1"/>
              </a:solidFill>
              <a:highlight>
                <a:schemeClr val="lt1"/>
              </a:highlight>
            </a:endParaRPr>
          </a:p>
          <a:p>
            <a:pPr indent="-285750" lvl="2" marL="1371600" rtl="0" algn="l">
              <a:spcBef>
                <a:spcPts val="0"/>
              </a:spcBef>
              <a:spcAft>
                <a:spcPts val="0"/>
              </a:spcAft>
              <a:buClr>
                <a:schemeClr val="dk1"/>
              </a:buClr>
              <a:buSzPts val="900"/>
              <a:buChar char="-"/>
            </a:pPr>
            <a:r>
              <a:rPr lang="en" sz="900">
                <a:solidFill>
                  <a:schemeClr val="dk1"/>
                </a:solidFill>
                <a:highlight>
                  <a:schemeClr val="lt1"/>
                </a:highlight>
              </a:rPr>
              <a:t>Subjects are put in place to protect the buyers</a:t>
            </a:r>
            <a:endParaRPr sz="900">
              <a:solidFill>
                <a:schemeClr val="dk1"/>
              </a:solidFill>
              <a:highlight>
                <a:schemeClr val="lt1"/>
              </a:highlight>
            </a:endParaRPr>
          </a:p>
          <a:p>
            <a:pPr indent="-285750" lvl="2" marL="1371600" rtl="0" algn="l">
              <a:spcBef>
                <a:spcPts val="0"/>
              </a:spcBef>
              <a:spcAft>
                <a:spcPts val="0"/>
              </a:spcAft>
              <a:buClr>
                <a:schemeClr val="dk1"/>
              </a:buClr>
              <a:buSzPts val="900"/>
              <a:buChar char="-"/>
            </a:pPr>
            <a:r>
              <a:rPr lang="en" sz="900">
                <a:solidFill>
                  <a:schemeClr val="dk1"/>
                </a:solidFill>
                <a:highlight>
                  <a:schemeClr val="lt1"/>
                </a:highlight>
              </a:rPr>
              <a:t>Usually 5-7 days to meet the requirements of these subjects in place</a:t>
            </a:r>
            <a:endParaRPr sz="900">
              <a:solidFill>
                <a:schemeClr val="dk1"/>
              </a:solidFill>
              <a:highlight>
                <a:schemeClr val="lt1"/>
              </a:highlight>
            </a:endParaRPr>
          </a:p>
          <a:p>
            <a:pPr indent="-285750" lvl="2" marL="1371600" rtl="0" algn="l">
              <a:spcBef>
                <a:spcPts val="0"/>
              </a:spcBef>
              <a:spcAft>
                <a:spcPts val="0"/>
              </a:spcAft>
              <a:buClr>
                <a:schemeClr val="dk1"/>
              </a:buClr>
              <a:buSzPts val="900"/>
              <a:buChar char="-"/>
            </a:pPr>
            <a:r>
              <a:rPr lang="en" sz="900">
                <a:solidFill>
                  <a:schemeClr val="dk1"/>
                </a:solidFill>
                <a:highlight>
                  <a:schemeClr val="lt1"/>
                </a:highlight>
              </a:rPr>
              <a:t>Subject to financing: Once we get the pre-approval, the bank gives you the formal pre approval before you remove subject. It’s always important to get a professional home inspection. </a:t>
            </a:r>
            <a:endParaRPr sz="900">
              <a:solidFill>
                <a:schemeClr val="dk1"/>
              </a:solidFill>
              <a:highlight>
                <a:schemeClr val="lt1"/>
              </a:highlight>
            </a:endParaRPr>
          </a:p>
          <a:p>
            <a:pPr indent="-285750" lvl="2" marL="1371600" rtl="0" algn="l">
              <a:spcBef>
                <a:spcPts val="0"/>
              </a:spcBef>
              <a:spcAft>
                <a:spcPts val="0"/>
              </a:spcAft>
              <a:buClr>
                <a:schemeClr val="dk1"/>
              </a:buClr>
              <a:buSzPts val="900"/>
              <a:buChar char="-"/>
            </a:pPr>
            <a:r>
              <a:rPr lang="en" sz="900">
                <a:solidFill>
                  <a:schemeClr val="dk1"/>
                </a:solidFill>
                <a:highlight>
                  <a:schemeClr val="lt1"/>
                </a:highlight>
              </a:rPr>
              <a:t>Another subject can be a title search. Is it a clean property or is there any covenants, easements, leans, lawsuits attached to the property</a:t>
            </a:r>
            <a:endParaRPr sz="900">
              <a:solidFill>
                <a:schemeClr val="dk1"/>
              </a:solidFill>
              <a:highlight>
                <a:schemeClr val="lt1"/>
              </a:highlight>
            </a:endParaRPr>
          </a:p>
          <a:p>
            <a:pPr indent="-285750" lvl="2" marL="1371600" rtl="0" algn="l">
              <a:spcBef>
                <a:spcPts val="0"/>
              </a:spcBef>
              <a:spcAft>
                <a:spcPts val="0"/>
              </a:spcAft>
              <a:buClr>
                <a:schemeClr val="dk1"/>
              </a:buClr>
              <a:buSzPts val="900"/>
              <a:buChar char="-"/>
            </a:pPr>
            <a:r>
              <a:rPr lang="en" sz="900">
                <a:solidFill>
                  <a:schemeClr val="dk1"/>
                </a:solidFill>
                <a:highlight>
                  <a:schemeClr val="lt1"/>
                </a:highlight>
              </a:rPr>
              <a:t>We also need to get the property disclosure statement which is a multiple choice questionnaire that’s filled out by the seller to the best of their knowledge on what they know about their property. For townhouses and condos this would be in the strata document.</a:t>
            </a:r>
            <a:endParaRPr sz="900">
              <a:solidFill>
                <a:schemeClr val="dk1"/>
              </a:solidFill>
              <a:highlight>
                <a:schemeClr val="lt1"/>
              </a:highlight>
            </a:endParaRPr>
          </a:p>
          <a:p>
            <a:pPr indent="-285750" lvl="2" marL="1371600" rtl="0" algn="l">
              <a:spcBef>
                <a:spcPts val="0"/>
              </a:spcBef>
              <a:spcAft>
                <a:spcPts val="0"/>
              </a:spcAft>
              <a:buClr>
                <a:schemeClr val="dk1"/>
              </a:buClr>
              <a:buSzPts val="900"/>
              <a:buChar char="-"/>
            </a:pPr>
            <a:r>
              <a:rPr lang="en" sz="900">
                <a:solidFill>
                  <a:schemeClr val="dk1"/>
                </a:solidFill>
                <a:highlight>
                  <a:schemeClr val="lt1"/>
                </a:highlight>
              </a:rPr>
              <a:t>Extra items you want included in the purchase such as window coverings or appliances </a:t>
            </a:r>
            <a:endParaRPr sz="900">
              <a:solidFill>
                <a:schemeClr val="dk1"/>
              </a:solidFill>
              <a:highlight>
                <a:schemeClr val="lt1"/>
              </a:highlight>
            </a:endParaRPr>
          </a:p>
          <a:p>
            <a:pPr indent="0" lvl="0" marL="1371600" rtl="0" algn="l">
              <a:spcBef>
                <a:spcPts val="1600"/>
              </a:spcBef>
              <a:spcAft>
                <a:spcPts val="0"/>
              </a:spcAft>
              <a:buNone/>
            </a:pPr>
            <a:r>
              <a:t/>
            </a:r>
            <a:endParaRPr sz="1000">
              <a:solidFill>
                <a:schemeClr val="dk1"/>
              </a:solidFill>
              <a:highlight>
                <a:schemeClr val="lt1"/>
              </a:highlight>
            </a:endParaRPr>
          </a:p>
          <a:p>
            <a:pPr indent="0" lvl="0" marL="0" rtl="0" algn="l">
              <a:lnSpc>
                <a:spcPct val="115000"/>
              </a:lnSpc>
              <a:spcBef>
                <a:spcPts val="1600"/>
              </a:spcBef>
              <a:spcAft>
                <a:spcPts val="1200"/>
              </a:spcAft>
              <a:buNone/>
            </a:pPr>
            <a:r>
              <a:t/>
            </a:r>
            <a:endParaRPr sz="12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Step 5: Make an Offer on A House </a:t>
            </a:r>
            <a:endParaRPr b="1"/>
          </a:p>
          <a:p>
            <a:pPr indent="0" lvl="0" marL="0" rtl="0" algn="l">
              <a:spcBef>
                <a:spcPts val="0"/>
              </a:spcBef>
              <a:spcAft>
                <a:spcPts val="0"/>
              </a:spcAft>
              <a:buNone/>
            </a:pPr>
            <a:r>
              <a:t/>
            </a:r>
            <a:endParaRPr/>
          </a:p>
        </p:txBody>
      </p:sp>
      <p:sp>
        <p:nvSpPr>
          <p:cNvPr id="199" name="Google Shape;199;p37"/>
          <p:cNvSpPr txBox="1"/>
          <p:nvPr>
            <p:ph idx="1" type="body"/>
          </p:nvPr>
        </p:nvSpPr>
        <p:spPr>
          <a:xfrm>
            <a:off x="311700" y="653375"/>
            <a:ext cx="85206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000">
              <a:solidFill>
                <a:schemeClr val="dk1"/>
              </a:solidFill>
              <a:highlight>
                <a:srgbClr val="FFFFFF"/>
              </a:highlight>
            </a:endParaRPr>
          </a:p>
          <a:p>
            <a:pPr indent="-292100" lvl="1" marL="914400" rtl="0" algn="l">
              <a:spcBef>
                <a:spcPts val="1600"/>
              </a:spcBef>
              <a:spcAft>
                <a:spcPts val="0"/>
              </a:spcAft>
              <a:buClr>
                <a:schemeClr val="dk1"/>
              </a:buClr>
              <a:buSzPts val="1000"/>
              <a:buChar char="-"/>
            </a:pPr>
            <a:r>
              <a:rPr b="1" lang="en" sz="1000">
                <a:solidFill>
                  <a:schemeClr val="dk1"/>
                </a:solidFill>
                <a:highlight>
                  <a:schemeClr val="lt1"/>
                </a:highlight>
              </a:rPr>
              <a:t>Price</a:t>
            </a:r>
            <a:endParaRPr b="1" sz="1000">
              <a:solidFill>
                <a:schemeClr val="dk1"/>
              </a:solidFill>
              <a:highlight>
                <a:schemeClr val="lt1"/>
              </a:highlight>
            </a:endParaRPr>
          </a:p>
          <a:p>
            <a:pPr indent="-292100" lvl="2" marL="1371600" rtl="0" algn="l">
              <a:spcBef>
                <a:spcPts val="0"/>
              </a:spcBef>
              <a:spcAft>
                <a:spcPts val="0"/>
              </a:spcAft>
              <a:buClr>
                <a:schemeClr val="dk1"/>
              </a:buClr>
              <a:buSzPts val="1000"/>
              <a:buChar char="-"/>
            </a:pPr>
            <a:r>
              <a:rPr lang="en" sz="1000">
                <a:solidFill>
                  <a:schemeClr val="dk1"/>
                </a:solidFill>
                <a:highlight>
                  <a:schemeClr val="lt1"/>
                </a:highlight>
              </a:rPr>
              <a:t>Based on market supply, market demand and where the market is right now. </a:t>
            </a:r>
            <a:endParaRPr sz="1000">
              <a:solidFill>
                <a:schemeClr val="dk1"/>
              </a:solidFill>
              <a:highlight>
                <a:schemeClr val="lt1"/>
              </a:highlight>
            </a:endParaRPr>
          </a:p>
          <a:p>
            <a:pPr indent="-292100" lvl="2" marL="1371600" rtl="0" algn="l">
              <a:spcBef>
                <a:spcPts val="0"/>
              </a:spcBef>
              <a:spcAft>
                <a:spcPts val="0"/>
              </a:spcAft>
              <a:buClr>
                <a:schemeClr val="dk1"/>
              </a:buClr>
              <a:buSzPts val="1000"/>
              <a:buChar char="-"/>
            </a:pPr>
            <a:r>
              <a:rPr lang="en" sz="1000">
                <a:solidFill>
                  <a:schemeClr val="dk1"/>
                </a:solidFill>
                <a:highlight>
                  <a:schemeClr val="lt1"/>
                </a:highlight>
              </a:rPr>
              <a:t>Is it a buyers market or a sellers market?</a:t>
            </a:r>
            <a:endParaRPr sz="1000">
              <a:solidFill>
                <a:schemeClr val="dk1"/>
              </a:solidFill>
              <a:highlight>
                <a:schemeClr val="lt1"/>
              </a:highlight>
            </a:endParaRPr>
          </a:p>
          <a:p>
            <a:pPr indent="-292100" lvl="2" marL="1371600" rtl="0" algn="l">
              <a:spcBef>
                <a:spcPts val="0"/>
              </a:spcBef>
              <a:spcAft>
                <a:spcPts val="0"/>
              </a:spcAft>
              <a:buClr>
                <a:schemeClr val="dk1"/>
              </a:buClr>
              <a:buSzPts val="1000"/>
              <a:buChar char="-"/>
            </a:pPr>
            <a:r>
              <a:rPr lang="en" sz="1000">
                <a:solidFill>
                  <a:schemeClr val="dk1"/>
                </a:solidFill>
                <a:highlight>
                  <a:schemeClr val="lt1"/>
                </a:highlight>
              </a:rPr>
              <a:t>During the time of purchase we will decide the best price and have a more in depth conversation to offer so we </a:t>
            </a:r>
            <a:r>
              <a:rPr lang="en" sz="1000">
                <a:solidFill>
                  <a:schemeClr val="dk1"/>
                </a:solidFill>
                <a:highlight>
                  <a:schemeClr val="lt1"/>
                </a:highlight>
              </a:rPr>
              <a:t>minimize</a:t>
            </a:r>
            <a:r>
              <a:rPr lang="en" sz="1000">
                <a:solidFill>
                  <a:schemeClr val="dk1"/>
                </a:solidFill>
                <a:highlight>
                  <a:schemeClr val="lt1"/>
                </a:highlight>
              </a:rPr>
              <a:t> chances of losing out on your dream home.</a:t>
            </a:r>
            <a:br>
              <a:rPr lang="en" sz="1000">
                <a:solidFill>
                  <a:schemeClr val="dk1"/>
                </a:solidFill>
                <a:highlight>
                  <a:schemeClr val="lt1"/>
                </a:highlight>
              </a:rPr>
            </a:br>
            <a:endParaRPr sz="1000">
              <a:solidFill>
                <a:schemeClr val="dk1"/>
              </a:solidFill>
              <a:highlight>
                <a:schemeClr val="lt1"/>
              </a:highlight>
            </a:endParaRPr>
          </a:p>
          <a:p>
            <a:pPr indent="-292100" lvl="2" marL="1371600" rtl="0" algn="l">
              <a:spcBef>
                <a:spcPts val="0"/>
              </a:spcBef>
              <a:spcAft>
                <a:spcPts val="0"/>
              </a:spcAft>
              <a:buClr>
                <a:schemeClr val="dk1"/>
              </a:buClr>
              <a:buSzPts val="1000"/>
              <a:buChar char="-"/>
            </a:pPr>
            <a:r>
              <a:rPr lang="en" sz="1000">
                <a:solidFill>
                  <a:schemeClr val="dk1"/>
                </a:solidFill>
                <a:highlight>
                  <a:schemeClr val="lt1"/>
                </a:highlight>
              </a:rPr>
              <a:t>Most offers also contain a small deposit.</a:t>
            </a:r>
            <a:endParaRPr sz="1000">
              <a:solidFill>
                <a:schemeClr val="dk1"/>
              </a:solidFill>
              <a:highlight>
                <a:schemeClr val="lt1"/>
              </a:highlight>
            </a:endParaRPr>
          </a:p>
          <a:p>
            <a:pPr indent="-292100" lvl="3" marL="1828800" rtl="0" algn="l">
              <a:spcBef>
                <a:spcPts val="0"/>
              </a:spcBef>
              <a:spcAft>
                <a:spcPts val="0"/>
              </a:spcAft>
              <a:buClr>
                <a:schemeClr val="dk1"/>
              </a:buClr>
              <a:buSzPts val="1000"/>
              <a:buChar char="-"/>
            </a:pPr>
            <a:r>
              <a:rPr lang="en" sz="1000">
                <a:solidFill>
                  <a:schemeClr val="dk1"/>
                </a:solidFill>
                <a:highlight>
                  <a:schemeClr val="lt1"/>
                </a:highlight>
              </a:rPr>
              <a:t>Deposit is usually 1-2% of the purchase price. </a:t>
            </a:r>
            <a:endParaRPr sz="1000">
              <a:solidFill>
                <a:schemeClr val="dk1"/>
              </a:solidFill>
              <a:highlight>
                <a:schemeClr val="lt1"/>
              </a:highlight>
            </a:endParaRPr>
          </a:p>
          <a:p>
            <a:pPr indent="-292100" lvl="3" marL="1828800" rtl="0" algn="l">
              <a:spcBef>
                <a:spcPts val="0"/>
              </a:spcBef>
              <a:spcAft>
                <a:spcPts val="0"/>
              </a:spcAft>
              <a:buClr>
                <a:schemeClr val="dk1"/>
              </a:buClr>
              <a:buSzPts val="1000"/>
              <a:buChar char="-"/>
            </a:pPr>
            <a:r>
              <a:rPr lang="en" sz="1000">
                <a:solidFill>
                  <a:schemeClr val="dk1"/>
                </a:solidFill>
                <a:highlight>
                  <a:schemeClr val="lt1"/>
                </a:highlight>
              </a:rPr>
              <a:t>Deposit goes towards the down payment if you decide to purchase the home. </a:t>
            </a:r>
            <a:endParaRPr sz="1000">
              <a:solidFill>
                <a:schemeClr val="dk1"/>
              </a:solidFill>
              <a:highlight>
                <a:schemeClr val="lt1"/>
              </a:highlight>
            </a:endParaRPr>
          </a:p>
          <a:p>
            <a:pPr indent="457200" lvl="0" marL="457200" rtl="0" algn="l">
              <a:spcBef>
                <a:spcPts val="1600"/>
              </a:spcBef>
              <a:spcAft>
                <a:spcPts val="0"/>
              </a:spcAft>
              <a:buNone/>
            </a:pPr>
            <a:r>
              <a:rPr lang="en" sz="1000" u="sng">
                <a:solidFill>
                  <a:schemeClr val="dk1"/>
                </a:solidFill>
                <a:highlight>
                  <a:schemeClr val="lt1"/>
                </a:highlight>
              </a:rPr>
              <a:t>Negotiation:</a:t>
            </a:r>
            <a:endParaRPr sz="1000" u="sng">
              <a:solidFill>
                <a:schemeClr val="dk1"/>
              </a:solidFill>
              <a:highlight>
                <a:schemeClr val="lt1"/>
              </a:highlight>
            </a:endParaRPr>
          </a:p>
          <a:p>
            <a:pPr indent="-292100" lvl="2" marL="1371600" rtl="0" algn="l">
              <a:spcBef>
                <a:spcPts val="1600"/>
              </a:spcBef>
              <a:spcAft>
                <a:spcPts val="0"/>
              </a:spcAft>
              <a:buClr>
                <a:schemeClr val="dk1"/>
              </a:buClr>
              <a:buSzPts val="1000"/>
              <a:buChar char="-"/>
            </a:pPr>
            <a:r>
              <a:rPr lang="en" sz="1000">
                <a:solidFill>
                  <a:schemeClr val="dk1"/>
                </a:solidFill>
                <a:highlight>
                  <a:schemeClr val="lt1"/>
                </a:highlight>
              </a:rPr>
              <a:t>A seller can respond in 1 of 3 ways:</a:t>
            </a:r>
            <a:endParaRPr sz="1000">
              <a:solidFill>
                <a:schemeClr val="dk1"/>
              </a:solidFill>
              <a:highlight>
                <a:schemeClr val="lt1"/>
              </a:highlight>
            </a:endParaRPr>
          </a:p>
          <a:p>
            <a:pPr indent="-292100" lvl="3" marL="1828800" rtl="0" algn="l">
              <a:spcBef>
                <a:spcPts val="0"/>
              </a:spcBef>
              <a:spcAft>
                <a:spcPts val="0"/>
              </a:spcAft>
              <a:buClr>
                <a:schemeClr val="dk1"/>
              </a:buClr>
              <a:buSzPts val="1000"/>
              <a:buChar char="-"/>
            </a:pPr>
            <a:r>
              <a:rPr lang="en" sz="1000">
                <a:solidFill>
                  <a:schemeClr val="dk1"/>
                </a:solidFill>
                <a:highlight>
                  <a:schemeClr val="lt1"/>
                </a:highlight>
              </a:rPr>
              <a:t>Accept the offer: If the seller accepts the offer, you can move onto the next step.</a:t>
            </a:r>
            <a:endParaRPr sz="1000">
              <a:solidFill>
                <a:schemeClr val="dk1"/>
              </a:solidFill>
              <a:highlight>
                <a:schemeClr val="lt1"/>
              </a:highlight>
            </a:endParaRPr>
          </a:p>
          <a:p>
            <a:pPr indent="-292100" lvl="3" marL="1828800" rtl="0" algn="l">
              <a:spcBef>
                <a:spcPts val="0"/>
              </a:spcBef>
              <a:spcAft>
                <a:spcPts val="0"/>
              </a:spcAft>
              <a:buClr>
                <a:schemeClr val="dk1"/>
              </a:buClr>
              <a:buSzPts val="1000"/>
              <a:buChar char="-"/>
            </a:pPr>
            <a:r>
              <a:rPr lang="en" sz="1000">
                <a:solidFill>
                  <a:schemeClr val="dk1"/>
                </a:solidFill>
                <a:highlight>
                  <a:schemeClr val="lt1"/>
                </a:highlight>
              </a:rPr>
              <a:t>Reject the offer: If the seller rejects your offer, the ball is back in your court. You can choose to submit another offer or move onto another home.</a:t>
            </a:r>
            <a:endParaRPr sz="1000">
              <a:solidFill>
                <a:schemeClr val="dk1"/>
              </a:solidFill>
              <a:highlight>
                <a:schemeClr val="lt1"/>
              </a:highlight>
            </a:endParaRPr>
          </a:p>
          <a:p>
            <a:pPr indent="-292100" lvl="3" marL="1828800" rtl="0" algn="l">
              <a:spcBef>
                <a:spcPts val="0"/>
              </a:spcBef>
              <a:spcAft>
                <a:spcPts val="0"/>
              </a:spcAft>
              <a:buClr>
                <a:schemeClr val="dk1"/>
              </a:buClr>
              <a:buSzPts val="1000"/>
              <a:buChar char="-"/>
            </a:pPr>
            <a:r>
              <a:rPr lang="en" sz="1000">
                <a:solidFill>
                  <a:schemeClr val="dk1"/>
                </a:solidFill>
                <a:highlight>
                  <a:schemeClr val="lt1"/>
                </a:highlight>
              </a:rPr>
              <a:t>Give you a counteroffer: The seller can also come back with a counteroffer of their own. They may change the purchase price or the terms of the sale. You can accept the counteroffer, reject it, or make another counteroffer.</a:t>
            </a:r>
            <a:endParaRPr sz="1000">
              <a:solidFill>
                <a:schemeClr val="dk1"/>
              </a:solidFill>
              <a:highlight>
                <a:schemeClr val="lt1"/>
              </a:highlight>
            </a:endParaRPr>
          </a:p>
          <a:p>
            <a:pPr indent="0" lvl="0" marL="1371600" rtl="0" algn="l">
              <a:spcBef>
                <a:spcPts val="0"/>
              </a:spcBef>
              <a:spcAft>
                <a:spcPts val="0"/>
              </a:spcAft>
              <a:buNone/>
            </a:pPr>
            <a:r>
              <a:t/>
            </a:r>
            <a:endParaRPr sz="1000">
              <a:solidFill>
                <a:schemeClr val="dk1"/>
              </a:solidFill>
              <a:highlight>
                <a:schemeClr val="lt1"/>
              </a:highlight>
            </a:endParaRPr>
          </a:p>
          <a:p>
            <a:pPr indent="0" lvl="0" marL="0" rtl="0" algn="l">
              <a:lnSpc>
                <a:spcPct val="115000"/>
              </a:lnSpc>
              <a:spcBef>
                <a:spcPts val="1600"/>
              </a:spcBef>
              <a:spcAft>
                <a:spcPts val="1200"/>
              </a:spcAft>
              <a:buNone/>
            </a:pPr>
            <a:r>
              <a:t/>
            </a:r>
            <a:endParaRPr sz="12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Step 5: Make an Offer on A House </a:t>
            </a:r>
            <a:endParaRPr b="1"/>
          </a:p>
          <a:p>
            <a:pPr indent="0" lvl="0" marL="0" rtl="0" algn="l">
              <a:spcBef>
                <a:spcPts val="0"/>
              </a:spcBef>
              <a:spcAft>
                <a:spcPts val="0"/>
              </a:spcAft>
              <a:buNone/>
            </a:pPr>
            <a:r>
              <a:t/>
            </a:r>
            <a:endParaRPr/>
          </a:p>
        </p:txBody>
      </p:sp>
      <p:sp>
        <p:nvSpPr>
          <p:cNvPr id="205" name="Google Shape;205;p38"/>
          <p:cNvSpPr txBox="1"/>
          <p:nvPr>
            <p:ph idx="1" type="body"/>
          </p:nvPr>
        </p:nvSpPr>
        <p:spPr>
          <a:xfrm>
            <a:off x="311700" y="1133125"/>
            <a:ext cx="41031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highlight>
                  <a:schemeClr val="lt1"/>
                </a:highlight>
              </a:rPr>
              <a:t>Multiple offer situations:</a:t>
            </a:r>
            <a:endParaRPr b="1" sz="1000">
              <a:solidFill>
                <a:schemeClr val="dk1"/>
              </a:solidFill>
              <a:highlight>
                <a:schemeClr val="lt1"/>
              </a:highlight>
            </a:endParaRPr>
          </a:p>
          <a:p>
            <a:pPr indent="-292100" lvl="2" marL="1371600" rtl="0" algn="l">
              <a:spcBef>
                <a:spcPts val="1600"/>
              </a:spcBef>
              <a:spcAft>
                <a:spcPts val="0"/>
              </a:spcAft>
              <a:buClr>
                <a:schemeClr val="dk1"/>
              </a:buClr>
              <a:buSzPts val="1000"/>
              <a:buChar char="-"/>
            </a:pPr>
            <a:r>
              <a:rPr lang="en" sz="1000">
                <a:solidFill>
                  <a:schemeClr val="dk1"/>
                </a:solidFill>
                <a:highlight>
                  <a:schemeClr val="lt1"/>
                </a:highlight>
              </a:rPr>
              <a:t>When there is competition with other buyers all submitting offers…the one most suitable for the seller wins. </a:t>
            </a:r>
            <a:endParaRPr sz="1000">
              <a:solidFill>
                <a:schemeClr val="dk1"/>
              </a:solidFill>
              <a:highlight>
                <a:schemeClr val="lt1"/>
              </a:highlight>
            </a:endParaRPr>
          </a:p>
          <a:p>
            <a:pPr indent="-292100" lvl="2" marL="1371600" rtl="0" algn="l">
              <a:spcBef>
                <a:spcPts val="0"/>
              </a:spcBef>
              <a:spcAft>
                <a:spcPts val="0"/>
              </a:spcAft>
              <a:buClr>
                <a:schemeClr val="dk1"/>
              </a:buClr>
              <a:buSzPts val="1000"/>
              <a:buChar char="-"/>
            </a:pPr>
            <a:r>
              <a:rPr b="1" lang="en" sz="1000">
                <a:solidFill>
                  <a:schemeClr val="dk1"/>
                </a:solidFill>
                <a:highlight>
                  <a:schemeClr val="lt1"/>
                </a:highlight>
              </a:rPr>
              <a:t>My recommendation:</a:t>
            </a:r>
            <a:r>
              <a:rPr lang="en" sz="1000">
                <a:solidFill>
                  <a:schemeClr val="dk1"/>
                </a:solidFill>
                <a:highlight>
                  <a:schemeClr val="lt1"/>
                </a:highlight>
              </a:rPr>
              <a:t> Go with our best foot forward and remove subjects and adjust the offer where needs be. </a:t>
            </a:r>
            <a:endParaRPr sz="1000">
              <a:solidFill>
                <a:schemeClr val="dk1"/>
              </a:solidFill>
              <a:highlight>
                <a:schemeClr val="lt1"/>
              </a:highlight>
            </a:endParaRPr>
          </a:p>
          <a:p>
            <a:pPr indent="-292100" lvl="2" marL="1371600" rtl="0" algn="l">
              <a:spcBef>
                <a:spcPts val="0"/>
              </a:spcBef>
              <a:spcAft>
                <a:spcPts val="0"/>
              </a:spcAft>
              <a:buClr>
                <a:schemeClr val="dk1"/>
              </a:buClr>
              <a:buSzPts val="1000"/>
              <a:buChar char="-"/>
            </a:pPr>
            <a:r>
              <a:rPr lang="en" sz="1000">
                <a:solidFill>
                  <a:schemeClr val="dk1"/>
                </a:solidFill>
                <a:highlight>
                  <a:schemeClr val="lt1"/>
                </a:highlight>
              </a:rPr>
              <a:t>This can be done by pricing adjustments, dates, subjects. </a:t>
            </a:r>
            <a:endParaRPr sz="1000">
              <a:solidFill>
                <a:schemeClr val="dk1"/>
              </a:solidFill>
              <a:highlight>
                <a:schemeClr val="lt1"/>
              </a:highlight>
            </a:endParaRPr>
          </a:p>
          <a:p>
            <a:pPr indent="-292100" lvl="2" marL="1371600" rtl="0" algn="l">
              <a:spcBef>
                <a:spcPts val="0"/>
              </a:spcBef>
              <a:spcAft>
                <a:spcPts val="0"/>
              </a:spcAft>
              <a:buClr>
                <a:schemeClr val="dk1"/>
              </a:buClr>
              <a:buSzPts val="1000"/>
              <a:buChar char="-"/>
            </a:pPr>
            <a:r>
              <a:rPr lang="en" sz="1000">
                <a:solidFill>
                  <a:schemeClr val="dk1"/>
                </a:solidFill>
                <a:highlight>
                  <a:schemeClr val="lt1"/>
                </a:highlight>
              </a:rPr>
              <a:t>It’s important to get an agent with experience in multiple offer situations so you get the best deal when buying your dream home as an agent will have done this many times. </a:t>
            </a:r>
            <a:endParaRPr sz="1000">
              <a:solidFill>
                <a:schemeClr val="dk1"/>
              </a:solidFill>
              <a:highlight>
                <a:schemeClr val="lt1"/>
              </a:highlight>
            </a:endParaRPr>
          </a:p>
          <a:p>
            <a:pPr indent="0" lvl="0" marL="1371600" rtl="0" algn="l">
              <a:spcBef>
                <a:spcPts val="1600"/>
              </a:spcBef>
              <a:spcAft>
                <a:spcPts val="0"/>
              </a:spcAft>
              <a:buNone/>
            </a:pPr>
            <a:r>
              <a:t/>
            </a:r>
            <a:endParaRPr sz="1000">
              <a:solidFill>
                <a:schemeClr val="dk1"/>
              </a:solidFill>
              <a:highlight>
                <a:schemeClr val="lt1"/>
              </a:highlight>
            </a:endParaRPr>
          </a:p>
          <a:p>
            <a:pPr indent="0" lvl="0" marL="1371600" rtl="0" algn="l">
              <a:spcBef>
                <a:spcPts val="1600"/>
              </a:spcBef>
              <a:spcAft>
                <a:spcPts val="0"/>
              </a:spcAft>
              <a:buNone/>
            </a:pPr>
            <a:r>
              <a:t/>
            </a:r>
            <a:endParaRPr sz="1000">
              <a:solidFill>
                <a:schemeClr val="dk1"/>
              </a:solidFill>
              <a:highlight>
                <a:schemeClr val="lt1"/>
              </a:highlight>
            </a:endParaRPr>
          </a:p>
          <a:p>
            <a:pPr indent="0" lvl="0" marL="0" rtl="0" algn="l">
              <a:lnSpc>
                <a:spcPct val="115000"/>
              </a:lnSpc>
              <a:spcBef>
                <a:spcPts val="1600"/>
              </a:spcBef>
              <a:spcAft>
                <a:spcPts val="1200"/>
              </a:spcAft>
              <a:buNone/>
            </a:pPr>
            <a:r>
              <a:t/>
            </a:r>
            <a:endParaRPr sz="1200"/>
          </a:p>
        </p:txBody>
      </p:sp>
      <p:pic>
        <p:nvPicPr>
          <p:cNvPr id="206" name="Google Shape;206;p38"/>
          <p:cNvPicPr preferRelativeResize="0"/>
          <p:nvPr/>
        </p:nvPicPr>
        <p:blipFill>
          <a:blip r:embed="rId3">
            <a:alphaModFix/>
          </a:blip>
          <a:stretch>
            <a:fillRect/>
          </a:stretch>
        </p:blipFill>
        <p:spPr>
          <a:xfrm>
            <a:off x="5131775" y="1771300"/>
            <a:ext cx="3210078" cy="214004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Step 5 FAQ</a:t>
            </a:r>
            <a:endParaRPr b="1"/>
          </a:p>
        </p:txBody>
      </p:sp>
      <p:sp>
        <p:nvSpPr>
          <p:cNvPr id="212" name="Google Shape;212;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lnSpc>
                <a:spcPct val="150000"/>
              </a:lnSpc>
              <a:spcBef>
                <a:spcPts val="0"/>
              </a:spcBef>
              <a:spcAft>
                <a:spcPts val="0"/>
              </a:spcAft>
              <a:buClr>
                <a:schemeClr val="dk1"/>
              </a:buClr>
              <a:buSzPts val="1200"/>
              <a:buChar char="-"/>
            </a:pPr>
            <a:r>
              <a:rPr lang="en" sz="1200">
                <a:solidFill>
                  <a:schemeClr val="dk1"/>
                </a:solidFill>
              </a:rPr>
              <a:t>Question 1: Can you cancel after agreeing for the homesale?</a:t>
            </a:r>
            <a:endParaRPr sz="1200">
              <a:solidFill>
                <a:schemeClr val="dk1"/>
              </a:solidFill>
            </a:endParaRPr>
          </a:p>
          <a:p>
            <a:pPr indent="-292100" lvl="1" marL="914400" rtl="0" algn="l">
              <a:lnSpc>
                <a:spcPct val="150000"/>
              </a:lnSpc>
              <a:spcBef>
                <a:spcPts val="0"/>
              </a:spcBef>
              <a:spcAft>
                <a:spcPts val="0"/>
              </a:spcAft>
              <a:buClr>
                <a:schemeClr val="dk1"/>
              </a:buClr>
              <a:buSzPts val="1000"/>
              <a:buChar char="-"/>
            </a:pPr>
            <a:r>
              <a:rPr lang="en" sz="1000">
                <a:solidFill>
                  <a:schemeClr val="dk1"/>
                </a:solidFill>
                <a:highlight>
                  <a:schemeClr val="lt1"/>
                </a:highlight>
              </a:rPr>
              <a:t>You can but will typically lose your deposit. </a:t>
            </a:r>
            <a:endParaRPr sz="10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Question 2: Who writes the offer letter?</a:t>
            </a:r>
            <a:endParaRPr sz="1600">
              <a:solidFill>
                <a:schemeClr val="dk1"/>
              </a:solidFill>
            </a:endParaRPr>
          </a:p>
          <a:p>
            <a:pPr indent="-304800" lvl="1" marL="914400" rtl="0" algn="l">
              <a:lnSpc>
                <a:spcPct val="150000"/>
              </a:lnSpc>
              <a:spcBef>
                <a:spcPts val="0"/>
              </a:spcBef>
              <a:spcAft>
                <a:spcPts val="0"/>
              </a:spcAft>
              <a:buClr>
                <a:schemeClr val="dk1"/>
              </a:buClr>
              <a:buSzPts val="1200"/>
              <a:buChar char="-"/>
            </a:pPr>
            <a:r>
              <a:rPr lang="en" sz="1000">
                <a:solidFill>
                  <a:schemeClr val="dk1"/>
                </a:solidFill>
              </a:rPr>
              <a:t>Your agent will write the offer letter on your behalf.</a:t>
            </a:r>
            <a:r>
              <a:rPr lang="en" sz="1200">
                <a:solidFill>
                  <a:schemeClr val="dk1"/>
                </a:solidFill>
              </a:rPr>
              <a:t> </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Question 3: How long can negotiations go on for?</a:t>
            </a:r>
            <a:endParaRPr sz="1200">
              <a:solidFill>
                <a:schemeClr val="dk1"/>
              </a:solidFill>
            </a:endParaRPr>
          </a:p>
          <a:p>
            <a:pPr indent="-292100" lvl="1" marL="914400" rtl="0" algn="l">
              <a:lnSpc>
                <a:spcPct val="150000"/>
              </a:lnSpc>
              <a:spcBef>
                <a:spcPts val="0"/>
              </a:spcBef>
              <a:spcAft>
                <a:spcPts val="0"/>
              </a:spcAft>
              <a:buClr>
                <a:schemeClr val="dk1"/>
              </a:buClr>
              <a:buSzPts val="1000"/>
              <a:buChar char="-"/>
            </a:pPr>
            <a:r>
              <a:rPr lang="en" sz="1000">
                <a:solidFill>
                  <a:schemeClr val="dk1"/>
                </a:solidFill>
              </a:rPr>
              <a:t>This depends and varies. These can be very quick and can also go on for some time. </a:t>
            </a:r>
            <a:r>
              <a:rPr lang="en" sz="1000">
                <a:solidFill>
                  <a:schemeClr val="dk1"/>
                </a:solidFill>
                <a:highlight>
                  <a:schemeClr val="lt1"/>
                </a:highlight>
              </a:rPr>
              <a:t>Let your real estate agent help you manage negotiations – don’t be afraid to walk away if you can’t reach an agreement. </a:t>
            </a:r>
            <a:endParaRPr sz="1000">
              <a:solidFill>
                <a:schemeClr val="dk1"/>
              </a:solidFill>
              <a:highlight>
                <a:schemeClr val="lt1"/>
              </a:highlight>
            </a:endParaRPr>
          </a:p>
          <a:p>
            <a:pPr indent="0" lvl="0" marL="457200" rtl="0" algn="l">
              <a:lnSpc>
                <a:spcPct val="150000"/>
              </a:lnSpc>
              <a:spcBef>
                <a:spcPts val="1600"/>
              </a:spcBef>
              <a:spcAft>
                <a:spcPts val="1600"/>
              </a:spcAft>
              <a:buNone/>
            </a:pPr>
            <a:r>
              <a:t/>
            </a:r>
            <a:endParaRPr sz="1200">
              <a:solidFill>
                <a:schemeClr val="dk1"/>
              </a:solidFill>
              <a:highlight>
                <a:schemeClr val="lt1"/>
              </a:high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Step 6: Close The Sale </a:t>
            </a:r>
            <a:endParaRPr b="1"/>
          </a:p>
          <a:p>
            <a:pPr indent="0" lvl="0" marL="0" rtl="0" algn="l">
              <a:spcBef>
                <a:spcPts val="0"/>
              </a:spcBef>
              <a:spcAft>
                <a:spcPts val="0"/>
              </a:spcAft>
              <a:buNone/>
            </a:pPr>
            <a:r>
              <a:t/>
            </a:r>
            <a:endParaRPr/>
          </a:p>
        </p:txBody>
      </p:sp>
      <p:sp>
        <p:nvSpPr>
          <p:cNvPr id="218" name="Google Shape;218;p4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200">
                <a:solidFill>
                  <a:schemeClr val="dk1"/>
                </a:solidFill>
                <a:highlight>
                  <a:srgbClr val="FFFFFF"/>
                </a:highlight>
              </a:rPr>
              <a:t>Congratulations! You’ve made it to the final step of the process. When the time comes, a lot of homebuyers can make mistakes and end up confused &amp; spending more than they should on fees and expenses. This is because the closing process is complicated and requires a lot of legal paperwork and has closing costs. </a:t>
            </a:r>
            <a:br>
              <a:rPr lang="en" sz="1200">
                <a:solidFill>
                  <a:schemeClr val="dk1"/>
                </a:solidFill>
                <a:highlight>
                  <a:srgbClr val="FFFFFF"/>
                </a:highlight>
              </a:rPr>
            </a:br>
            <a:br>
              <a:rPr lang="en" sz="1200">
                <a:solidFill>
                  <a:schemeClr val="dk1"/>
                </a:solidFill>
                <a:highlight>
                  <a:srgbClr val="FFFFFF"/>
                </a:highlight>
              </a:rPr>
            </a:br>
            <a:r>
              <a:rPr lang="en" sz="1200">
                <a:solidFill>
                  <a:schemeClr val="dk1"/>
                </a:solidFill>
                <a:highlight>
                  <a:srgbClr val="FFFFFF"/>
                </a:highlight>
              </a:rPr>
              <a:t>It is best to consult with a real estate agent who has helped close many deals in the past and has experience with a seamless and easy closing process. We’re almost at the finish line so we want to make sure we have all of our boxes ticked. </a:t>
            </a:r>
            <a:br>
              <a:rPr lang="en" sz="1200">
                <a:solidFill>
                  <a:schemeClr val="dk1"/>
                </a:solidFill>
                <a:highlight>
                  <a:srgbClr val="FFFFFF"/>
                </a:highlight>
              </a:rPr>
            </a:br>
            <a:br>
              <a:rPr lang="en" sz="1200">
                <a:solidFill>
                  <a:schemeClr val="dk1"/>
                </a:solidFill>
                <a:highlight>
                  <a:srgbClr val="FFFFFF"/>
                </a:highlight>
              </a:rPr>
            </a:br>
            <a:r>
              <a:rPr lang="en" sz="1200">
                <a:solidFill>
                  <a:schemeClr val="dk1"/>
                </a:solidFill>
                <a:highlight>
                  <a:srgbClr val="FFFFFF"/>
                </a:highlight>
              </a:rPr>
              <a:t>When you go through the closing process and complete it </a:t>
            </a:r>
            <a:r>
              <a:rPr lang="en" sz="1200">
                <a:solidFill>
                  <a:schemeClr val="dk1"/>
                </a:solidFill>
                <a:highlight>
                  <a:srgbClr val="FFFFFF"/>
                </a:highlight>
              </a:rPr>
              <a:t>successfully</a:t>
            </a:r>
            <a:r>
              <a:rPr lang="en" sz="1200">
                <a:solidFill>
                  <a:schemeClr val="dk1"/>
                </a:solidFill>
                <a:highlight>
                  <a:srgbClr val="FFFFFF"/>
                </a:highlight>
              </a:rPr>
              <a:t> with the guidance of a real estate agent, you’ll be much more </a:t>
            </a:r>
            <a:r>
              <a:rPr lang="en" sz="1200">
                <a:solidFill>
                  <a:schemeClr val="dk1"/>
                </a:solidFill>
                <a:highlight>
                  <a:srgbClr val="FFFFFF"/>
                </a:highlight>
              </a:rPr>
              <a:t>confident</a:t>
            </a:r>
            <a:r>
              <a:rPr lang="en" sz="1200">
                <a:solidFill>
                  <a:schemeClr val="dk1"/>
                </a:solidFill>
                <a:highlight>
                  <a:srgbClr val="FFFFFF"/>
                </a:highlight>
              </a:rPr>
              <a:t> you made the right choice as you have eliminated a lot of the variables for failure in the journey. The peace of mind, excitement and happiness you’ll get from moving into a new home is one that happens very few times in one’s life. </a:t>
            </a:r>
            <a:br>
              <a:rPr lang="en" sz="1200">
                <a:solidFill>
                  <a:schemeClr val="dk1"/>
                </a:solidFill>
                <a:highlight>
                  <a:srgbClr val="FFFFFF"/>
                </a:highlight>
              </a:rPr>
            </a:br>
            <a:r>
              <a:rPr lang="en" sz="1200">
                <a:solidFill>
                  <a:schemeClr val="dk1"/>
                </a:solidFill>
                <a:highlight>
                  <a:srgbClr val="FFFFFF"/>
                </a:highlight>
              </a:rPr>
              <a: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Step 6: Close The Sale </a:t>
            </a:r>
            <a:endParaRPr b="1"/>
          </a:p>
          <a:p>
            <a:pPr indent="0" lvl="0" marL="0" rtl="0" algn="l">
              <a:spcBef>
                <a:spcPts val="0"/>
              </a:spcBef>
              <a:spcAft>
                <a:spcPts val="0"/>
              </a:spcAft>
              <a:buNone/>
            </a:pPr>
            <a:r>
              <a:t/>
            </a:r>
            <a:endParaRPr/>
          </a:p>
        </p:txBody>
      </p:sp>
      <p:sp>
        <p:nvSpPr>
          <p:cNvPr id="224" name="Google Shape;224;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highlight>
                  <a:schemeClr val="lt1"/>
                </a:highlight>
              </a:rPr>
              <a:t>This is when you m</a:t>
            </a:r>
            <a:r>
              <a:rPr lang="en" sz="1200">
                <a:solidFill>
                  <a:schemeClr val="dk1"/>
                </a:solidFill>
                <a:highlight>
                  <a:schemeClr val="lt1"/>
                </a:highlight>
              </a:rPr>
              <a:t>ake sure you review your </a:t>
            </a:r>
            <a:r>
              <a:rPr lang="en" sz="1200">
                <a:solidFill>
                  <a:schemeClr val="dk1"/>
                </a:solidFill>
              </a:rPr>
              <a:t>Closing Disclosure, which will outline the terms, final closing costs and any outstanding charges or fees included in your loan. Your lender will send the disclosure to you at least 3 days before closing.</a:t>
            </a:r>
            <a:endParaRPr sz="1200">
              <a:solidFill>
                <a:schemeClr val="dk1"/>
              </a:solidFill>
            </a:endParaRPr>
          </a:p>
          <a:p>
            <a:pPr indent="-304800" lvl="0" marL="457200" rtl="0" algn="l">
              <a:spcBef>
                <a:spcPts val="1600"/>
              </a:spcBef>
              <a:spcAft>
                <a:spcPts val="0"/>
              </a:spcAft>
              <a:buClr>
                <a:schemeClr val="dk1"/>
              </a:buClr>
              <a:buSzPts val="1200"/>
              <a:buChar char="-"/>
            </a:pPr>
            <a:r>
              <a:rPr lang="en" sz="1200">
                <a:solidFill>
                  <a:schemeClr val="dk1"/>
                </a:solidFill>
                <a:highlight>
                  <a:schemeClr val="lt1"/>
                </a:highlight>
              </a:rPr>
              <a:t>During closing, the property title will pass from the seller to you. A closing agent will oversee this process, which typically takes place at a title company, management firm, escrow office or your home.</a:t>
            </a:r>
            <a:endParaRPr sz="1200">
              <a:solidFill>
                <a:schemeClr val="dk1"/>
              </a:solidFill>
              <a:highlight>
                <a:schemeClr val="lt1"/>
              </a:highlight>
            </a:endParaRPr>
          </a:p>
          <a:p>
            <a:pPr indent="0" lvl="0" marL="457200" rtl="0" algn="l">
              <a:spcBef>
                <a:spcPts val="1600"/>
              </a:spcBef>
              <a:spcAft>
                <a:spcPts val="0"/>
              </a:spcAft>
              <a:buClr>
                <a:schemeClr val="dk1"/>
              </a:buClr>
              <a:buSzPts val="1100"/>
              <a:buFont typeface="Arial"/>
              <a:buNone/>
            </a:pPr>
            <a:r>
              <a:rPr lang="en" sz="1200">
                <a:solidFill>
                  <a:schemeClr val="dk1"/>
                </a:solidFill>
                <a:highlight>
                  <a:schemeClr val="lt1"/>
                </a:highlight>
              </a:rPr>
              <a:t>The closing agent will ensure that all necessary parties are present at closing. The agent acts as a mediator between you and the seller and confirms that all required documents are signed. Once documents have been signed, the agent will ensure that all funds – including closing fees and escrow payments – are paid and properly disbursed.</a:t>
            </a:r>
            <a:endParaRPr sz="1200">
              <a:solidFill>
                <a:schemeClr val="dk1"/>
              </a:solidFill>
              <a:highlight>
                <a:schemeClr val="lt1"/>
              </a:highlight>
            </a:endParaRPr>
          </a:p>
          <a:p>
            <a:pPr indent="0" lvl="0" marL="457200" rtl="0" algn="l">
              <a:spcBef>
                <a:spcPts val="1600"/>
              </a:spcBef>
              <a:spcAft>
                <a:spcPts val="0"/>
              </a:spcAft>
              <a:buClr>
                <a:schemeClr val="dk1"/>
              </a:buClr>
              <a:buSzPts val="1100"/>
              <a:buFont typeface="Arial"/>
              <a:buNone/>
            </a:pPr>
            <a:r>
              <a:rPr lang="en" sz="1200">
                <a:solidFill>
                  <a:schemeClr val="dk1"/>
                </a:solidFill>
                <a:highlight>
                  <a:schemeClr val="lt1"/>
                </a:highlight>
              </a:rPr>
              <a:t>During closing, you have two major responsibilities:</a:t>
            </a:r>
            <a:endParaRPr sz="1200">
              <a:solidFill>
                <a:schemeClr val="dk1"/>
              </a:solidFill>
              <a:highlight>
                <a:schemeClr val="lt1"/>
              </a:highlight>
            </a:endParaRPr>
          </a:p>
          <a:p>
            <a:pPr indent="-304800" lvl="0" marL="914400" rtl="0" algn="l">
              <a:spcBef>
                <a:spcPts val="1600"/>
              </a:spcBef>
              <a:spcAft>
                <a:spcPts val="0"/>
              </a:spcAft>
              <a:buClr>
                <a:schemeClr val="dk1"/>
              </a:buClr>
              <a:buSzPts val="1200"/>
              <a:buAutoNum type="arabicPeriod"/>
            </a:pPr>
            <a:r>
              <a:rPr lang="en" sz="1200">
                <a:solidFill>
                  <a:schemeClr val="dk1"/>
                </a:solidFill>
                <a:highlight>
                  <a:schemeClr val="lt1"/>
                </a:highlight>
              </a:rPr>
              <a:t>Signing legal documents: This includes the Closing Disclosure, promissory note, deed of trust and certificate of occupancy.</a:t>
            </a:r>
            <a:endParaRPr sz="1200">
              <a:solidFill>
                <a:schemeClr val="dk1"/>
              </a:solidFill>
              <a:highlight>
                <a:schemeClr val="lt1"/>
              </a:highlight>
            </a:endParaRPr>
          </a:p>
          <a:p>
            <a:pPr indent="-304800" lvl="0" marL="914400" rtl="0" algn="l">
              <a:spcBef>
                <a:spcPts val="0"/>
              </a:spcBef>
              <a:spcAft>
                <a:spcPts val="0"/>
              </a:spcAft>
              <a:buClr>
                <a:schemeClr val="dk1"/>
              </a:buClr>
              <a:buSzPts val="1200"/>
              <a:buAutoNum type="arabicPeriod"/>
            </a:pPr>
            <a:r>
              <a:rPr lang="en" sz="1200">
                <a:solidFill>
                  <a:schemeClr val="dk1"/>
                </a:solidFill>
                <a:highlight>
                  <a:schemeClr val="lt1"/>
                </a:highlight>
              </a:rPr>
              <a:t>Paying closing costs: This may include fees for your lawyer &amp; notary, title transfers, adjustment costs, home inspection costs, appraisal costs and taxes.</a:t>
            </a:r>
            <a:endParaRPr/>
          </a:p>
          <a:p>
            <a:pPr indent="0" lvl="0" marL="0" rtl="0" algn="l">
              <a:spcBef>
                <a:spcPts val="1600"/>
              </a:spcBef>
              <a:spcAft>
                <a:spcPts val="1600"/>
              </a:spcAft>
              <a:buNone/>
            </a:pPr>
            <a:br>
              <a:rPr lang="en" sz="1200">
                <a:solidFill>
                  <a:schemeClr val="dk1"/>
                </a:solidFill>
                <a:highlight>
                  <a:srgbClr val="FFFFFF"/>
                </a:highlight>
              </a:rPr>
            </a:br>
            <a:br>
              <a:rPr lang="en" sz="1200">
                <a:solidFill>
                  <a:schemeClr val="dk1"/>
                </a:solidFill>
                <a:highlight>
                  <a:srgbClr val="FFFFFF"/>
                </a:highlight>
              </a:rPr>
            </a:br>
            <a:r>
              <a:rPr lang="en" sz="1200">
                <a:solidFill>
                  <a:schemeClr val="dk1"/>
                </a:solidFill>
                <a:highlight>
                  <a:srgbClr val="FFFFFF"/>
                </a:highlight>
              </a:rPr>
              <a:t>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Possession Date</a:t>
            </a:r>
            <a:endParaRPr/>
          </a:p>
          <a:p>
            <a:pPr indent="0" lvl="0" marL="0" rtl="0" algn="l">
              <a:spcBef>
                <a:spcPts val="0"/>
              </a:spcBef>
              <a:spcAft>
                <a:spcPts val="0"/>
              </a:spcAft>
              <a:buNone/>
            </a:pPr>
            <a:r>
              <a:t/>
            </a:r>
            <a:endParaRPr/>
          </a:p>
        </p:txBody>
      </p:sp>
      <p:sp>
        <p:nvSpPr>
          <p:cNvPr id="230" name="Google Shape;230;p4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lang="en" sz="1200">
                <a:solidFill>
                  <a:schemeClr val="dk1"/>
                </a:solidFill>
                <a:highlight>
                  <a:srgbClr val="FFFFFF"/>
                </a:highlight>
              </a:rPr>
              <a:t>You’ve officially made it!</a:t>
            </a:r>
            <a:endParaRPr sz="1200">
              <a:solidFill>
                <a:schemeClr val="dk1"/>
              </a:solidFill>
            </a:endParaRPr>
          </a:p>
          <a:p>
            <a:pPr indent="0" lvl="0" marL="0" rtl="0" algn="l">
              <a:spcBef>
                <a:spcPts val="1600"/>
              </a:spcBef>
              <a:spcAft>
                <a:spcPts val="0"/>
              </a:spcAft>
              <a:buClr>
                <a:schemeClr val="dk1"/>
              </a:buClr>
              <a:buSzPts val="1100"/>
              <a:buFont typeface="Arial"/>
              <a:buNone/>
            </a:pPr>
            <a:r>
              <a:rPr b="1" lang="en" sz="1200" u="sng">
                <a:solidFill>
                  <a:schemeClr val="dk1"/>
                </a:solidFill>
                <a:highlight>
                  <a:srgbClr val="FFFFFF"/>
                </a:highlight>
              </a:rPr>
              <a:t>Welcome Home!</a:t>
            </a:r>
            <a:endParaRPr b="1" sz="1200" u="sng">
              <a:solidFill>
                <a:schemeClr val="dk1"/>
              </a:solidFill>
              <a:highlight>
                <a:srgbClr val="FFFFFF"/>
              </a:highlight>
            </a:endParaRPr>
          </a:p>
          <a:p>
            <a:pPr indent="0" lvl="0" marL="457200" rtl="0" algn="l">
              <a:spcBef>
                <a:spcPts val="1600"/>
              </a:spcBef>
              <a:spcAft>
                <a:spcPts val="0"/>
              </a:spcAft>
              <a:buClr>
                <a:schemeClr val="dk1"/>
              </a:buClr>
              <a:buSzPts val="1100"/>
              <a:buFont typeface="Arial"/>
              <a:buNone/>
            </a:pPr>
            <a:r>
              <a:rPr lang="en" sz="1200">
                <a:solidFill>
                  <a:schemeClr val="dk1"/>
                </a:solidFill>
                <a:highlight>
                  <a:srgbClr val="FFFFFF"/>
                </a:highlight>
              </a:rPr>
              <a:t>Here’s a quick checklist:</a:t>
            </a:r>
            <a:endParaRPr sz="1200">
              <a:solidFill>
                <a:schemeClr val="dk1"/>
              </a:solidFill>
              <a:highlight>
                <a:srgbClr val="FFFFFF"/>
              </a:highlight>
            </a:endParaRPr>
          </a:p>
          <a:p>
            <a:pPr indent="-304800" lvl="0" marL="914400" rtl="0" algn="l">
              <a:spcBef>
                <a:spcPts val="1600"/>
              </a:spcBef>
              <a:spcAft>
                <a:spcPts val="0"/>
              </a:spcAft>
              <a:buClr>
                <a:schemeClr val="dk1"/>
              </a:buClr>
              <a:buSzPts val="1200"/>
              <a:buAutoNum type="arabicPeriod"/>
            </a:pPr>
            <a:r>
              <a:rPr lang="en" sz="1200">
                <a:solidFill>
                  <a:schemeClr val="dk1"/>
                </a:solidFill>
                <a:highlight>
                  <a:srgbClr val="FFFFFF"/>
                </a:highlight>
              </a:rPr>
              <a:t>Make arrangements for a moving date.</a:t>
            </a:r>
            <a:endParaRPr sz="1200">
              <a:solidFill>
                <a:schemeClr val="dk1"/>
              </a:solidFill>
              <a:highlight>
                <a:srgbClr val="FFFFFF"/>
              </a:highlight>
            </a:endParaRPr>
          </a:p>
          <a:p>
            <a:pPr indent="-304800" lvl="0" marL="914400" rtl="0" algn="l">
              <a:spcBef>
                <a:spcPts val="0"/>
              </a:spcBef>
              <a:spcAft>
                <a:spcPts val="0"/>
              </a:spcAft>
              <a:buClr>
                <a:schemeClr val="dk1"/>
              </a:buClr>
              <a:buSzPts val="1200"/>
              <a:buAutoNum type="arabicPeriod"/>
            </a:pPr>
            <a:r>
              <a:rPr lang="en" sz="1200">
                <a:solidFill>
                  <a:schemeClr val="dk1"/>
                </a:solidFill>
                <a:highlight>
                  <a:srgbClr val="FFFFFF"/>
                </a:highlight>
              </a:rPr>
              <a:t>Check Rules &amp; Laws</a:t>
            </a:r>
            <a:endParaRPr sz="1200">
              <a:solidFill>
                <a:schemeClr val="dk1"/>
              </a:solidFill>
              <a:highlight>
                <a:srgbClr val="FFFFFF"/>
              </a:highlight>
            </a:endParaRPr>
          </a:p>
          <a:p>
            <a:pPr indent="-304800" lvl="0" marL="914400" rtl="0" algn="l">
              <a:spcBef>
                <a:spcPts val="0"/>
              </a:spcBef>
              <a:spcAft>
                <a:spcPts val="0"/>
              </a:spcAft>
              <a:buClr>
                <a:schemeClr val="dk1"/>
              </a:buClr>
              <a:buSzPts val="1200"/>
              <a:buAutoNum type="arabicPeriod"/>
            </a:pPr>
            <a:r>
              <a:rPr lang="en" sz="1200">
                <a:solidFill>
                  <a:schemeClr val="dk1"/>
                </a:solidFill>
                <a:highlight>
                  <a:srgbClr val="FFFFFF"/>
                </a:highlight>
              </a:rPr>
              <a:t>Switch over and start an account with services</a:t>
            </a:r>
            <a:endParaRPr sz="1200">
              <a:solidFill>
                <a:schemeClr val="dk1"/>
              </a:solidFill>
              <a:highlight>
                <a:srgbClr val="FFFFFF"/>
              </a:highlight>
            </a:endParaRPr>
          </a:p>
          <a:p>
            <a:pPr indent="-304800" lvl="0" marL="914400" rtl="0" algn="l">
              <a:spcBef>
                <a:spcPts val="0"/>
              </a:spcBef>
              <a:spcAft>
                <a:spcPts val="0"/>
              </a:spcAft>
              <a:buClr>
                <a:schemeClr val="dk1"/>
              </a:buClr>
              <a:buSzPts val="1200"/>
              <a:buAutoNum type="arabicPeriod"/>
            </a:pPr>
            <a:r>
              <a:rPr lang="en" sz="1200">
                <a:solidFill>
                  <a:schemeClr val="dk1"/>
                </a:solidFill>
                <a:highlight>
                  <a:srgbClr val="FFFFFF"/>
                </a:highlight>
              </a:rPr>
              <a:t>Update &amp; Inform people &amp; companies on your new </a:t>
            </a:r>
            <a:r>
              <a:rPr lang="en" sz="1200">
                <a:solidFill>
                  <a:schemeClr val="dk1"/>
                </a:solidFill>
                <a:highlight>
                  <a:srgbClr val="FFFFFF"/>
                </a:highlight>
              </a:rPr>
              <a:t>address</a:t>
            </a:r>
            <a:endParaRPr sz="1200">
              <a:solidFill>
                <a:schemeClr val="dk1"/>
              </a:solidFill>
              <a:highlight>
                <a:srgbClr val="FFFFFF"/>
              </a:highlight>
            </a:endParaRPr>
          </a:p>
          <a:p>
            <a:pPr indent="-304800" lvl="0" marL="914400" rtl="0" algn="l">
              <a:spcBef>
                <a:spcPts val="0"/>
              </a:spcBef>
              <a:spcAft>
                <a:spcPts val="0"/>
              </a:spcAft>
              <a:buClr>
                <a:schemeClr val="dk1"/>
              </a:buClr>
              <a:buSzPts val="1200"/>
              <a:buAutoNum type="arabicPeriod"/>
            </a:pPr>
            <a:r>
              <a:rPr lang="en" sz="1200">
                <a:solidFill>
                  <a:schemeClr val="dk1"/>
                </a:solidFill>
                <a:highlight>
                  <a:srgbClr val="FFFFFF"/>
                </a:highlight>
              </a:rPr>
              <a:t>Get drivers license &amp; ID’s changed</a:t>
            </a:r>
            <a:endParaRPr sz="1200">
              <a:solidFill>
                <a:schemeClr val="dk1"/>
              </a:solidFill>
              <a:highlight>
                <a:srgbClr val="FFFFFF"/>
              </a:highlight>
            </a:endParaRPr>
          </a:p>
          <a:p>
            <a:pPr indent="-304800" lvl="0" marL="914400" rtl="0" algn="l">
              <a:spcBef>
                <a:spcPts val="0"/>
              </a:spcBef>
              <a:spcAft>
                <a:spcPts val="0"/>
              </a:spcAft>
              <a:buClr>
                <a:schemeClr val="dk1"/>
              </a:buClr>
              <a:buSzPts val="1200"/>
              <a:buAutoNum type="arabicPeriod"/>
            </a:pPr>
            <a:r>
              <a:rPr lang="en" sz="1200">
                <a:solidFill>
                  <a:schemeClr val="dk1"/>
                </a:solidFill>
                <a:highlight>
                  <a:srgbClr val="FFFFFF"/>
                </a:highlight>
              </a:rPr>
              <a:t>Change mailing address</a:t>
            </a:r>
            <a:endParaRPr sz="1200">
              <a:solidFill>
                <a:schemeClr val="dk1"/>
              </a:solidFill>
              <a:highlight>
                <a:srgbClr val="FFFFFF"/>
              </a:highlight>
            </a:endParaRPr>
          </a:p>
          <a:p>
            <a:pPr indent="-304800" lvl="0" marL="914400" rtl="0" algn="l">
              <a:spcBef>
                <a:spcPts val="0"/>
              </a:spcBef>
              <a:spcAft>
                <a:spcPts val="0"/>
              </a:spcAft>
              <a:buClr>
                <a:schemeClr val="dk1"/>
              </a:buClr>
              <a:buSzPts val="1200"/>
              <a:buAutoNum type="arabicPeriod"/>
            </a:pPr>
            <a:r>
              <a:rPr lang="en" sz="1200">
                <a:solidFill>
                  <a:schemeClr val="dk1"/>
                </a:solidFill>
                <a:highlight>
                  <a:srgbClr val="FFFFFF"/>
                </a:highlight>
              </a:rPr>
              <a:t>Get mail forwarding from previous </a:t>
            </a:r>
            <a:r>
              <a:rPr lang="en" sz="1200">
                <a:solidFill>
                  <a:schemeClr val="dk1"/>
                </a:solidFill>
                <a:highlight>
                  <a:srgbClr val="FFFFFF"/>
                </a:highlight>
              </a:rPr>
              <a:t>address</a:t>
            </a:r>
            <a:endParaRPr sz="1200">
              <a:solidFill>
                <a:schemeClr val="dk1"/>
              </a:solidFill>
              <a:highlight>
                <a:srgbClr val="FFFFFF"/>
              </a:highlight>
            </a:endParaRPr>
          </a:p>
        </p:txBody>
      </p:sp>
      <p:pic>
        <p:nvPicPr>
          <p:cNvPr id="231" name="Google Shape;231;p42"/>
          <p:cNvPicPr preferRelativeResize="0"/>
          <p:nvPr/>
        </p:nvPicPr>
        <p:blipFill>
          <a:blip r:embed="rId3">
            <a:alphaModFix/>
          </a:blip>
          <a:stretch>
            <a:fillRect/>
          </a:stretch>
        </p:blipFill>
        <p:spPr>
          <a:xfrm>
            <a:off x="5237626" y="507850"/>
            <a:ext cx="3361200" cy="23948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Other Monthly Costs To Budget For…</a:t>
            </a:r>
            <a:endParaRPr b="1"/>
          </a:p>
          <a:p>
            <a:pPr indent="0" lvl="0" marL="0" rtl="0" algn="l">
              <a:spcBef>
                <a:spcPts val="0"/>
              </a:spcBef>
              <a:spcAft>
                <a:spcPts val="0"/>
              </a:spcAft>
              <a:buNone/>
            </a:pPr>
            <a:r>
              <a:t/>
            </a:r>
            <a:endParaRPr/>
          </a:p>
        </p:txBody>
      </p:sp>
      <p:sp>
        <p:nvSpPr>
          <p:cNvPr id="237" name="Google Shape;237;p4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200">
                <a:solidFill>
                  <a:schemeClr val="dk1"/>
                </a:solidFill>
                <a:highlight>
                  <a:srgbClr val="FFFFFF"/>
                </a:highlight>
              </a:rPr>
              <a:t>We can also use:</a:t>
            </a:r>
            <a:br>
              <a:rPr i="1" lang="en" sz="1200">
                <a:solidFill>
                  <a:schemeClr val="dk1"/>
                </a:solidFill>
                <a:highlight>
                  <a:srgbClr val="FFFFFF"/>
                </a:highlight>
              </a:rPr>
            </a:br>
            <a:br>
              <a:rPr i="1" lang="en" sz="1200">
                <a:solidFill>
                  <a:schemeClr val="dk1"/>
                </a:solidFill>
                <a:highlight>
                  <a:srgbClr val="FFFFFF"/>
                </a:highlight>
              </a:rPr>
            </a:br>
            <a:r>
              <a:rPr i="1" lang="en" sz="1200">
                <a:solidFill>
                  <a:schemeClr val="dk1"/>
                </a:solidFill>
                <a:highlight>
                  <a:srgbClr val="FFFFFF"/>
                </a:highlight>
              </a:rPr>
              <a:t>1. Mortgage Default Insurance: If you put less than 20% down on a property, you must pay a </a:t>
            </a:r>
            <a:r>
              <a:rPr i="1" lang="en" sz="1200">
                <a:solidFill>
                  <a:schemeClr val="dk1"/>
                </a:solidFill>
                <a:highlight>
                  <a:srgbClr val="FFFFFF"/>
                </a:highlight>
              </a:rPr>
              <a:t>mortgage</a:t>
            </a:r>
            <a:r>
              <a:rPr i="1" lang="en" sz="1200">
                <a:solidFill>
                  <a:schemeClr val="dk1"/>
                </a:solidFill>
                <a:highlight>
                  <a:srgbClr val="FFFFFF"/>
                </a:highlight>
              </a:rPr>
              <a:t> default premium insurance premium which ranges from 2.8-4% depending on the size of your down payment. It is paid monthly throughout the entire lifetime of your mortgage.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i="1" lang="en" sz="1200">
                <a:solidFill>
                  <a:schemeClr val="dk1"/>
                </a:solidFill>
                <a:highlight>
                  <a:srgbClr val="FFFFFF"/>
                </a:highlight>
              </a:rPr>
              <a:t>2. Strata Maintenance Fees.</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i="1" lang="en" sz="1200">
                <a:solidFill>
                  <a:schemeClr val="dk1"/>
                </a:solidFill>
                <a:highlight>
                  <a:srgbClr val="FFFFFF"/>
                </a:highlight>
              </a:rPr>
              <a:t>3. Property Taxes.</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i="1" lang="en" sz="1200">
                <a:solidFill>
                  <a:schemeClr val="dk1"/>
                </a:solidFill>
                <a:highlight>
                  <a:srgbClr val="FFFFFF"/>
                </a:highlight>
              </a:rPr>
              <a:t>4. Electric &amp; Hydro.</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i="1" lang="en" sz="1200">
                <a:solidFill>
                  <a:schemeClr val="dk1"/>
                </a:solidFill>
                <a:highlight>
                  <a:srgbClr val="FFFFFF"/>
                </a:highlight>
              </a:rPr>
              <a:t>5. Internet</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i="1" lang="en" sz="1200">
                <a:solidFill>
                  <a:schemeClr val="dk1"/>
                </a:solidFill>
                <a:highlight>
                  <a:srgbClr val="FFFFFF"/>
                </a:highlight>
              </a:rPr>
              <a:t>6. Home Insurance</a:t>
            </a:r>
            <a:endParaRPr i="1" sz="1200">
              <a:solidFill>
                <a:schemeClr val="dk1"/>
              </a:solidFill>
              <a:highlight>
                <a:srgbClr val="FFFFFF"/>
              </a:highlight>
            </a:endParaRPr>
          </a:p>
          <a:p>
            <a:pPr indent="0" lvl="0" marL="1371600" rtl="0" algn="l">
              <a:spcBef>
                <a:spcPts val="1600"/>
              </a:spcBef>
              <a:spcAft>
                <a:spcPts val="1600"/>
              </a:spcAft>
              <a:buNone/>
            </a:pPr>
            <a:r>
              <a:t/>
            </a:r>
            <a:endParaRPr sz="1200">
              <a:solidFill>
                <a:schemeClr val="dk1"/>
              </a:solidFill>
              <a:highlight>
                <a:srgbClr val="FFFFFF"/>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Yearly</a:t>
            </a:r>
            <a:r>
              <a:rPr b="1" lang="en"/>
              <a:t> &amp; Misc.</a:t>
            </a:r>
            <a:r>
              <a:rPr b="1" lang="en"/>
              <a:t> Costs To Budget For…</a:t>
            </a:r>
            <a:endParaRPr b="1"/>
          </a:p>
          <a:p>
            <a:pPr indent="0" lvl="0" marL="0" rtl="0" algn="l">
              <a:spcBef>
                <a:spcPts val="0"/>
              </a:spcBef>
              <a:spcAft>
                <a:spcPts val="0"/>
              </a:spcAft>
              <a:buNone/>
            </a:pPr>
            <a:r>
              <a:t/>
            </a:r>
            <a:endParaRPr/>
          </a:p>
        </p:txBody>
      </p:sp>
      <p:sp>
        <p:nvSpPr>
          <p:cNvPr id="243" name="Google Shape;243;p4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200">
                <a:solidFill>
                  <a:schemeClr val="dk1"/>
                </a:solidFill>
                <a:highlight>
                  <a:srgbClr val="FFFFFF"/>
                </a:highlight>
              </a:rPr>
              <a:t>We can also use:</a:t>
            </a:r>
            <a:br>
              <a:rPr i="1" lang="en" sz="1200">
                <a:solidFill>
                  <a:schemeClr val="dk1"/>
                </a:solidFill>
                <a:highlight>
                  <a:srgbClr val="FFFFFF"/>
                </a:highlight>
              </a:rPr>
            </a:br>
            <a:br>
              <a:rPr i="1" lang="en" sz="1200">
                <a:solidFill>
                  <a:schemeClr val="dk1"/>
                </a:solidFill>
                <a:highlight>
                  <a:srgbClr val="FFFFFF"/>
                </a:highlight>
              </a:rPr>
            </a:br>
            <a:r>
              <a:rPr i="1" lang="en" sz="1200">
                <a:solidFill>
                  <a:schemeClr val="dk1"/>
                </a:solidFill>
                <a:highlight>
                  <a:srgbClr val="FFFFFF"/>
                </a:highlight>
              </a:rPr>
              <a:t>1. Annual Property Taxes: These will </a:t>
            </a:r>
            <a:r>
              <a:rPr i="1" lang="en" sz="1200">
                <a:solidFill>
                  <a:schemeClr val="dk1"/>
                </a:solidFill>
                <a:highlight>
                  <a:srgbClr val="FFFFFF"/>
                </a:highlight>
              </a:rPr>
              <a:t>typically range by area but typically can be between $1500-$4000+ depending on your home value. Since the property tax rate is applicable to each $1,000 of taxable assessed home value (which is done yearly by the government), you must divide the assessed value of your property by $1,000. Next multiply that number by the property tax rate for your property class to determine your property taxes.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i="1" lang="en" sz="1200">
                <a:solidFill>
                  <a:schemeClr val="dk1"/>
                </a:solidFill>
                <a:highlight>
                  <a:srgbClr val="FFFFFF"/>
                </a:highlight>
              </a:rPr>
              <a:t>2. Ongoing Repairs: It’s important to budget for repairs as things happen. It’s important to understand costs for things like </a:t>
            </a:r>
            <a:r>
              <a:rPr i="1" lang="en" sz="1200">
                <a:solidFill>
                  <a:schemeClr val="dk1"/>
                </a:solidFill>
                <a:highlight>
                  <a:srgbClr val="FFFFFF"/>
                </a:highlight>
              </a:rPr>
              <a:t>appliances</a:t>
            </a:r>
            <a:r>
              <a:rPr i="1" lang="en" sz="1200">
                <a:solidFill>
                  <a:schemeClr val="dk1"/>
                </a:solidFill>
                <a:highlight>
                  <a:srgbClr val="FFFFFF"/>
                </a:highlight>
              </a:rPr>
              <a:t>, heating, leakages etc. It’s important to have a good strata/ home insurance as many of these can be subsidized.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i="1" lang="en" sz="1200">
                <a:solidFill>
                  <a:schemeClr val="dk1"/>
                </a:solidFill>
                <a:highlight>
                  <a:srgbClr val="FFFFFF"/>
                </a:highlight>
              </a:rPr>
              <a:t>3. Special Levies: If you’re property has a strata in it, there will be voting on ad hoc repairs and new investments needed for the strata. These can be very expensive (up to $20,000+) for expensive repairs so be sure to read into the strata notes before buying in.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t/>
            </a:r>
            <a:endParaRPr i="1" sz="1200">
              <a:solidFill>
                <a:schemeClr val="dk1"/>
              </a:solidFill>
              <a:highlight>
                <a:srgbClr val="FFFFFF"/>
              </a:highlight>
            </a:endParaRPr>
          </a:p>
          <a:p>
            <a:pPr indent="0" lvl="0" marL="1371600" rtl="0" algn="l">
              <a:spcBef>
                <a:spcPts val="1600"/>
              </a:spcBef>
              <a:spcAft>
                <a:spcPts val="1600"/>
              </a:spcAft>
              <a:buNone/>
            </a:pPr>
            <a:r>
              <a:t/>
            </a:r>
            <a:endParaRPr sz="1200">
              <a:solidFill>
                <a:schemeClr val="dk1"/>
              </a:solidFill>
              <a:highlight>
                <a:srgbClr val="FFFFFF"/>
              </a:high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Did You Know? </a:t>
            </a:r>
            <a:endParaRPr b="1"/>
          </a:p>
          <a:p>
            <a:pPr indent="0" lvl="0" marL="0" rtl="0" algn="l">
              <a:spcBef>
                <a:spcPts val="0"/>
              </a:spcBef>
              <a:spcAft>
                <a:spcPts val="0"/>
              </a:spcAft>
              <a:buNone/>
            </a:pPr>
            <a:r>
              <a:t/>
            </a:r>
            <a:endParaRPr/>
          </a:p>
        </p:txBody>
      </p:sp>
      <p:sp>
        <p:nvSpPr>
          <p:cNvPr id="249" name="Google Shape;249;p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200">
                <a:solidFill>
                  <a:schemeClr val="dk1"/>
                </a:solidFill>
                <a:highlight>
                  <a:srgbClr val="FFFFFF"/>
                </a:highlight>
              </a:rPr>
              <a:t>There are some very useful program(s) for homebuyers in Vancouver.</a:t>
            </a:r>
            <a:br>
              <a:rPr i="1" lang="en" sz="1200">
                <a:solidFill>
                  <a:schemeClr val="dk1"/>
                </a:solidFill>
                <a:highlight>
                  <a:srgbClr val="FFFFFF"/>
                </a:highlight>
              </a:rPr>
            </a:br>
            <a:br>
              <a:rPr b="1" i="1" lang="en" sz="1200">
                <a:solidFill>
                  <a:schemeClr val="dk1"/>
                </a:solidFill>
                <a:highlight>
                  <a:srgbClr val="FFFFFF"/>
                </a:highlight>
              </a:rPr>
            </a:br>
            <a:r>
              <a:rPr b="1" i="1" lang="en" sz="1200">
                <a:solidFill>
                  <a:schemeClr val="dk1"/>
                </a:solidFill>
                <a:highlight>
                  <a:srgbClr val="FFFFFF"/>
                </a:highlight>
              </a:rPr>
              <a:t>1. Home Buyers RRSP Plan: </a:t>
            </a:r>
            <a:endParaRPr b="1" i="1" sz="1200">
              <a:solidFill>
                <a:schemeClr val="dk1"/>
              </a:solidFill>
              <a:highlight>
                <a:srgbClr val="FFFFFF"/>
              </a:highlight>
            </a:endParaRPr>
          </a:p>
          <a:p>
            <a:pPr indent="-304800" lvl="0" marL="457200" rtl="0" algn="l">
              <a:spcBef>
                <a:spcPts val="1600"/>
              </a:spcBef>
              <a:spcAft>
                <a:spcPts val="0"/>
              </a:spcAft>
              <a:buClr>
                <a:schemeClr val="dk1"/>
              </a:buClr>
              <a:buSzPts val="1200"/>
              <a:buAutoNum type="alphaUcPeriod"/>
            </a:pPr>
            <a:r>
              <a:rPr i="1" lang="en" sz="1200">
                <a:solidFill>
                  <a:schemeClr val="dk1"/>
                </a:solidFill>
                <a:highlight>
                  <a:srgbClr val="FFFFFF"/>
                </a:highlight>
              </a:rPr>
              <a:t>Can withdraw upto $35,000 from RRSP (Upto $70,000 if 2nd buyer on title) </a:t>
            </a:r>
            <a:endParaRPr i="1" sz="1200">
              <a:solidFill>
                <a:schemeClr val="dk1"/>
              </a:solidFill>
              <a:highlight>
                <a:srgbClr val="FFFFFF"/>
              </a:highlight>
            </a:endParaRPr>
          </a:p>
          <a:p>
            <a:pPr indent="-304800" lvl="0" marL="457200" rtl="0" algn="l">
              <a:spcBef>
                <a:spcPts val="0"/>
              </a:spcBef>
              <a:spcAft>
                <a:spcPts val="0"/>
              </a:spcAft>
              <a:buClr>
                <a:schemeClr val="dk1"/>
              </a:buClr>
              <a:buSzPts val="1200"/>
              <a:buAutoNum type="alphaUcPeriod"/>
            </a:pPr>
            <a:r>
              <a:rPr i="1" lang="en" sz="1200">
                <a:solidFill>
                  <a:schemeClr val="dk1"/>
                </a:solidFill>
                <a:highlight>
                  <a:srgbClr val="FFFFFF"/>
                </a:highlight>
              </a:rPr>
              <a:t>Must be in RRSP account for 90 days prior</a:t>
            </a:r>
            <a:endParaRPr i="1" sz="1200">
              <a:solidFill>
                <a:schemeClr val="dk1"/>
              </a:solidFill>
              <a:highlight>
                <a:srgbClr val="FFFFFF"/>
              </a:highlight>
            </a:endParaRPr>
          </a:p>
          <a:p>
            <a:pPr indent="-304800" lvl="0" marL="457200" rtl="0" algn="l">
              <a:spcBef>
                <a:spcPts val="0"/>
              </a:spcBef>
              <a:spcAft>
                <a:spcPts val="0"/>
              </a:spcAft>
              <a:buClr>
                <a:schemeClr val="dk1"/>
              </a:buClr>
              <a:buSzPts val="1200"/>
              <a:buAutoNum type="alphaUcPeriod"/>
            </a:pPr>
            <a:r>
              <a:rPr i="1" lang="en" sz="1200">
                <a:solidFill>
                  <a:schemeClr val="dk1"/>
                </a:solidFill>
                <a:highlight>
                  <a:srgbClr val="FFFFFF"/>
                </a:highlight>
              </a:rPr>
              <a:t>Must be returned within 15 years (interest free)</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b="1" i="1" lang="en" sz="1200">
                <a:solidFill>
                  <a:schemeClr val="dk1"/>
                </a:solidFill>
                <a:highlight>
                  <a:srgbClr val="FFFFFF"/>
                </a:highlight>
              </a:rPr>
              <a:t>2. GST/ HST New Housing Rebate:</a:t>
            </a:r>
            <a:r>
              <a:rPr i="1" lang="en" sz="1200">
                <a:solidFill>
                  <a:schemeClr val="dk1"/>
                </a:solidFill>
                <a:highlight>
                  <a:srgbClr val="FFFFFF"/>
                </a:highlight>
              </a:rPr>
              <a:t>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i="1" lang="en" sz="1200">
                <a:solidFill>
                  <a:schemeClr val="dk1"/>
                </a:solidFill>
                <a:highlight>
                  <a:srgbClr val="FFFFFF"/>
                </a:highlight>
              </a:rPr>
              <a:t>You may qualify for this rebate allowing you to recover a part of the GST or HST that you paid on the purchase price or cost of building your new house, on the cost of substantially renovating or building a major addition onto your existing house, or on converting a non-residential property in to a house. You can find more information online about this.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t/>
            </a:r>
            <a:endParaRPr i="1" sz="1200">
              <a:solidFill>
                <a:schemeClr val="dk1"/>
              </a:solidFill>
              <a:highlight>
                <a:srgbClr val="FFFFFF"/>
              </a:highlight>
            </a:endParaRPr>
          </a:p>
          <a:p>
            <a:pPr indent="0" lvl="0" marL="1371600" rtl="0" algn="l">
              <a:spcBef>
                <a:spcPts val="1600"/>
              </a:spcBef>
              <a:spcAft>
                <a:spcPts val="1600"/>
              </a:spcAft>
              <a:buNone/>
            </a:pPr>
            <a:r>
              <a:t/>
            </a:r>
            <a:endParaRPr sz="1200">
              <a:solidFill>
                <a:schemeClr val="dk1"/>
              </a:solidFill>
              <a:highlight>
                <a:srgbClr val="FFFFFF"/>
              </a:high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Did You Know?</a:t>
            </a:r>
            <a:endParaRPr b="1"/>
          </a:p>
          <a:p>
            <a:pPr indent="0" lvl="0" marL="0" rtl="0" algn="l">
              <a:spcBef>
                <a:spcPts val="0"/>
              </a:spcBef>
              <a:spcAft>
                <a:spcPts val="0"/>
              </a:spcAft>
              <a:buNone/>
            </a:pPr>
            <a:r>
              <a:t/>
            </a:r>
            <a:endParaRPr/>
          </a:p>
        </p:txBody>
      </p:sp>
      <p:sp>
        <p:nvSpPr>
          <p:cNvPr id="255" name="Google Shape;255;p4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200">
                <a:solidFill>
                  <a:schemeClr val="dk1"/>
                </a:solidFill>
                <a:highlight>
                  <a:srgbClr val="FFFFFF"/>
                </a:highlight>
              </a:rPr>
              <a:t>There are some very useful program(s) for homebuyers in Vancouver.</a:t>
            </a:r>
            <a:br>
              <a:rPr i="1" lang="en" sz="1200">
                <a:solidFill>
                  <a:schemeClr val="dk1"/>
                </a:solidFill>
                <a:highlight>
                  <a:srgbClr val="FFFFFF"/>
                </a:highlight>
              </a:rPr>
            </a:br>
            <a:br>
              <a:rPr b="1" i="1" lang="en" sz="1200">
                <a:solidFill>
                  <a:schemeClr val="dk1"/>
                </a:solidFill>
                <a:highlight>
                  <a:srgbClr val="FFFFFF"/>
                </a:highlight>
              </a:rPr>
            </a:br>
            <a:r>
              <a:rPr b="1" i="1" lang="en" sz="1200">
                <a:solidFill>
                  <a:schemeClr val="dk1"/>
                </a:solidFill>
                <a:highlight>
                  <a:schemeClr val="lt1"/>
                </a:highlight>
              </a:rPr>
              <a:t>3. Maximum Rebate - 36% Rebate Of 5% GST:</a:t>
            </a:r>
            <a:r>
              <a:rPr i="1" lang="en" sz="1200">
                <a:solidFill>
                  <a:schemeClr val="dk1"/>
                </a:solidFill>
                <a:highlight>
                  <a:schemeClr val="lt1"/>
                </a:highlight>
              </a:rPr>
              <a:t> </a:t>
            </a:r>
            <a:endParaRPr i="1" sz="1200">
              <a:solidFill>
                <a:schemeClr val="dk1"/>
              </a:solidFill>
              <a:highlight>
                <a:schemeClr val="lt1"/>
              </a:highlight>
            </a:endParaRPr>
          </a:p>
          <a:p>
            <a:pPr indent="0" lvl="0" marL="0" rtl="0" algn="l">
              <a:spcBef>
                <a:spcPts val="1600"/>
              </a:spcBef>
              <a:spcAft>
                <a:spcPts val="0"/>
              </a:spcAft>
              <a:buClr>
                <a:schemeClr val="dk1"/>
              </a:buClr>
              <a:buSzPts val="1100"/>
              <a:buFont typeface="Arial"/>
              <a:buNone/>
            </a:pPr>
            <a:r>
              <a:rPr i="1" lang="en" sz="1200">
                <a:solidFill>
                  <a:schemeClr val="dk1"/>
                </a:solidFill>
                <a:highlight>
                  <a:schemeClr val="lt1"/>
                </a:highlight>
              </a:rPr>
              <a:t>To qualify for the maximum rebate, the purchase price of a new or pre-sale home must be $350,000 or less, and the property must be a principal residence. If you do the math, a $350,000 home has the maximum rebate of $6,300. </a:t>
            </a:r>
            <a:br>
              <a:rPr i="1" lang="en" sz="1200">
                <a:solidFill>
                  <a:schemeClr val="dk1"/>
                </a:solidFill>
                <a:highlight>
                  <a:schemeClr val="lt1"/>
                </a:highlight>
              </a:rPr>
            </a:br>
            <a:br>
              <a:rPr i="1" lang="en" sz="1200">
                <a:solidFill>
                  <a:schemeClr val="dk1"/>
                </a:solidFill>
                <a:highlight>
                  <a:schemeClr val="lt1"/>
                </a:highlight>
              </a:rPr>
            </a:br>
            <a:r>
              <a:rPr b="1" i="1" lang="en" sz="1200">
                <a:solidFill>
                  <a:schemeClr val="dk1"/>
                </a:solidFill>
                <a:highlight>
                  <a:schemeClr val="lt1"/>
                </a:highlight>
              </a:rPr>
              <a:t>Partial GST Rebate </a:t>
            </a:r>
            <a:br>
              <a:rPr b="1" i="1" lang="en" sz="1200">
                <a:solidFill>
                  <a:schemeClr val="dk1"/>
                </a:solidFill>
                <a:highlight>
                  <a:schemeClr val="lt1"/>
                </a:highlight>
              </a:rPr>
            </a:br>
            <a:br>
              <a:rPr b="1" i="1" lang="en" sz="1200">
                <a:solidFill>
                  <a:schemeClr val="dk1"/>
                </a:solidFill>
                <a:highlight>
                  <a:schemeClr val="lt1"/>
                </a:highlight>
              </a:rPr>
            </a:br>
            <a:r>
              <a:rPr b="1" i="1" lang="en" sz="1200">
                <a:solidFill>
                  <a:schemeClr val="dk1"/>
                </a:solidFill>
                <a:highlight>
                  <a:schemeClr val="lt1"/>
                </a:highlight>
              </a:rPr>
              <a:t>To qualify for the partial rebate, the purchase price of a new or pre-sale home must be more than $350,000 and less than $450,000 and the property must be a principal residence. </a:t>
            </a:r>
            <a:br>
              <a:rPr b="1" i="1" lang="en" sz="1200">
                <a:solidFill>
                  <a:schemeClr val="dk1"/>
                </a:solidFill>
                <a:highlight>
                  <a:schemeClr val="lt1"/>
                </a:highlight>
              </a:rPr>
            </a:br>
            <a:br>
              <a:rPr b="1" i="1" lang="en" sz="1200">
                <a:solidFill>
                  <a:schemeClr val="dk1"/>
                </a:solidFill>
                <a:highlight>
                  <a:schemeClr val="lt1"/>
                </a:highlight>
              </a:rPr>
            </a:br>
            <a:r>
              <a:rPr b="1" i="1" lang="en" sz="1200">
                <a:solidFill>
                  <a:schemeClr val="dk1"/>
                </a:solidFill>
                <a:highlight>
                  <a:schemeClr val="lt1"/>
                </a:highlight>
              </a:rPr>
              <a:t>The rebate is gradually reduced and is calculated by using the following formula: </a:t>
            </a:r>
            <a:br>
              <a:rPr b="1" i="1" lang="en" sz="1200">
                <a:solidFill>
                  <a:schemeClr val="dk1"/>
                </a:solidFill>
                <a:highlight>
                  <a:schemeClr val="lt1"/>
                </a:highlight>
              </a:rPr>
            </a:br>
            <a:br>
              <a:rPr b="1" i="1" lang="en" sz="1200">
                <a:solidFill>
                  <a:schemeClr val="dk1"/>
                </a:solidFill>
                <a:highlight>
                  <a:schemeClr val="lt1"/>
                </a:highlight>
              </a:rPr>
            </a:br>
            <a:r>
              <a:rPr b="1" i="1" lang="en" sz="1200">
                <a:solidFill>
                  <a:schemeClr val="dk1"/>
                </a:solidFill>
                <a:highlight>
                  <a:schemeClr val="lt1"/>
                </a:highlight>
              </a:rPr>
              <a:t>$6,300 X [$450,000 - The Qualifying Purchase]/ $100,000 </a:t>
            </a:r>
            <a:endParaRPr b="1"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t/>
            </a:r>
            <a:endParaRPr i="1" sz="1200">
              <a:solidFill>
                <a:schemeClr val="dk1"/>
              </a:solidFill>
              <a:highlight>
                <a:srgbClr val="FFFFFF"/>
              </a:highlight>
            </a:endParaRPr>
          </a:p>
          <a:p>
            <a:pPr indent="0" lvl="0" marL="1371600" rtl="0" algn="l">
              <a:spcBef>
                <a:spcPts val="1600"/>
              </a:spcBef>
              <a:spcAft>
                <a:spcPts val="1600"/>
              </a:spcAft>
              <a:buNone/>
            </a:pPr>
            <a:r>
              <a:t/>
            </a:r>
            <a:endParaRPr sz="1200">
              <a:solidFill>
                <a:schemeClr val="dk1"/>
              </a:solidFill>
              <a:highlight>
                <a:srgbClr val="FFFFFF"/>
              </a:high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Did You Know?</a:t>
            </a:r>
            <a:endParaRPr b="1"/>
          </a:p>
          <a:p>
            <a:pPr indent="0" lvl="0" marL="0" rtl="0" algn="l">
              <a:spcBef>
                <a:spcPts val="0"/>
              </a:spcBef>
              <a:spcAft>
                <a:spcPts val="0"/>
              </a:spcAft>
              <a:buNone/>
            </a:pPr>
            <a:r>
              <a:t/>
            </a:r>
            <a:endParaRPr/>
          </a:p>
        </p:txBody>
      </p:sp>
      <p:sp>
        <p:nvSpPr>
          <p:cNvPr id="261" name="Google Shape;261;p4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200">
                <a:solidFill>
                  <a:schemeClr val="dk1"/>
                </a:solidFill>
                <a:highlight>
                  <a:srgbClr val="FFFFFF"/>
                </a:highlight>
              </a:rPr>
              <a:t>There are some very useful program(s) for homebuyers in Vancouver.</a:t>
            </a:r>
            <a:br>
              <a:rPr i="1" lang="en" sz="1200">
                <a:solidFill>
                  <a:schemeClr val="dk1"/>
                </a:solidFill>
                <a:highlight>
                  <a:srgbClr val="FFFFFF"/>
                </a:highlight>
              </a:rPr>
            </a:br>
            <a:br>
              <a:rPr b="1" i="1" lang="en" sz="1200">
                <a:solidFill>
                  <a:schemeClr val="dk1"/>
                </a:solidFill>
                <a:highlight>
                  <a:srgbClr val="FFFFFF"/>
                </a:highlight>
              </a:rPr>
            </a:br>
            <a:r>
              <a:rPr b="1" i="1" lang="en" sz="1200">
                <a:solidFill>
                  <a:schemeClr val="dk1"/>
                </a:solidFill>
                <a:highlight>
                  <a:schemeClr val="lt1"/>
                </a:highlight>
              </a:rPr>
              <a:t>4</a:t>
            </a:r>
            <a:r>
              <a:rPr b="1" i="1" lang="en" sz="1200">
                <a:solidFill>
                  <a:schemeClr val="dk1"/>
                </a:solidFill>
                <a:highlight>
                  <a:schemeClr val="lt1"/>
                </a:highlight>
              </a:rPr>
              <a:t>. Property Transfer Tax Housing Rebate:</a:t>
            </a:r>
            <a:r>
              <a:rPr i="1" lang="en" sz="1200">
                <a:solidFill>
                  <a:schemeClr val="dk1"/>
                </a:solidFill>
                <a:highlight>
                  <a:schemeClr val="lt1"/>
                </a:highlight>
              </a:rPr>
              <a:t> </a:t>
            </a:r>
            <a:br>
              <a:rPr i="1" lang="en" sz="1200">
                <a:solidFill>
                  <a:schemeClr val="dk1"/>
                </a:solidFill>
                <a:highlight>
                  <a:schemeClr val="lt1"/>
                </a:highlight>
              </a:rPr>
            </a:br>
            <a:br>
              <a:rPr i="1" lang="en" sz="1200">
                <a:solidFill>
                  <a:schemeClr val="dk1"/>
                </a:solidFill>
                <a:highlight>
                  <a:schemeClr val="lt1"/>
                </a:highlight>
              </a:rPr>
            </a:br>
            <a:r>
              <a:rPr b="1" i="1" lang="en" sz="1200">
                <a:solidFill>
                  <a:schemeClr val="dk1"/>
                </a:solidFill>
                <a:highlight>
                  <a:schemeClr val="lt1"/>
                </a:highlight>
              </a:rPr>
              <a:t>BC:</a:t>
            </a:r>
            <a:endParaRPr b="1" i="1" sz="1200">
              <a:solidFill>
                <a:schemeClr val="dk1"/>
              </a:solidFill>
              <a:highlight>
                <a:schemeClr val="lt1"/>
              </a:highlight>
            </a:endParaRPr>
          </a:p>
          <a:p>
            <a:pPr indent="0" lvl="0" marL="0" rtl="0" algn="l">
              <a:spcBef>
                <a:spcPts val="1600"/>
              </a:spcBef>
              <a:spcAft>
                <a:spcPts val="0"/>
              </a:spcAft>
              <a:buClr>
                <a:schemeClr val="dk1"/>
              </a:buClr>
              <a:buSzPts val="1100"/>
              <a:buFont typeface="Arial"/>
              <a:buNone/>
            </a:pPr>
            <a:r>
              <a:rPr i="1" lang="en" sz="1000">
                <a:solidFill>
                  <a:schemeClr val="dk1"/>
                </a:solidFill>
                <a:highlight>
                  <a:schemeClr val="lt1"/>
                </a:highlight>
              </a:rPr>
              <a:t>The First time Home Buyers Program reduces or eliminates the amount of property tax you pay when you purchase your first home. Your home must be worth under $500,000 to qualify amongst other criteria. The property must: </a:t>
            </a:r>
            <a:br>
              <a:rPr i="1" lang="en" sz="1000">
                <a:solidFill>
                  <a:schemeClr val="dk1"/>
                </a:solidFill>
                <a:highlight>
                  <a:schemeClr val="lt1"/>
                </a:highlight>
              </a:rPr>
            </a:br>
            <a:br>
              <a:rPr i="1" lang="en" sz="1000">
                <a:solidFill>
                  <a:schemeClr val="dk1"/>
                </a:solidFill>
                <a:highlight>
                  <a:schemeClr val="lt1"/>
                </a:highlight>
              </a:rPr>
            </a:br>
            <a:r>
              <a:rPr i="1" lang="en" sz="1000">
                <a:solidFill>
                  <a:schemeClr val="dk1"/>
                </a:solidFill>
                <a:highlight>
                  <a:schemeClr val="lt1"/>
                </a:highlight>
              </a:rPr>
              <a:t>- Only be used as your principal residence</a:t>
            </a:r>
            <a:br>
              <a:rPr i="1" lang="en" sz="1000">
                <a:solidFill>
                  <a:schemeClr val="dk1"/>
                </a:solidFill>
                <a:highlight>
                  <a:schemeClr val="lt1"/>
                </a:highlight>
              </a:rPr>
            </a:br>
            <a:r>
              <a:rPr i="1" lang="en" sz="1000">
                <a:solidFill>
                  <a:schemeClr val="dk1"/>
                </a:solidFill>
                <a:highlight>
                  <a:schemeClr val="lt1"/>
                </a:highlight>
              </a:rPr>
              <a:t>- Have a fair market value of $500,000 or less </a:t>
            </a:r>
            <a:r>
              <a:rPr b="1" i="1" lang="en" sz="1000" u="sng">
                <a:solidFill>
                  <a:schemeClr val="dk1"/>
                </a:solidFill>
                <a:highlight>
                  <a:schemeClr val="lt1"/>
                </a:highlight>
              </a:rPr>
              <a:t>($750,000 or less for pre-sales)</a:t>
            </a:r>
            <a:br>
              <a:rPr i="1" lang="en" sz="1000">
                <a:solidFill>
                  <a:schemeClr val="dk1"/>
                </a:solidFill>
                <a:highlight>
                  <a:schemeClr val="lt1"/>
                </a:highlight>
              </a:rPr>
            </a:br>
            <a:r>
              <a:rPr i="1" lang="en" sz="1000">
                <a:solidFill>
                  <a:schemeClr val="dk1"/>
                </a:solidFill>
                <a:highlight>
                  <a:schemeClr val="lt1"/>
                </a:highlight>
              </a:rPr>
              <a:t>- Be 0.5 Acres (1.24 Acres) or less</a:t>
            </a:r>
            <a:br>
              <a:rPr i="1" lang="en" sz="1200">
                <a:solidFill>
                  <a:schemeClr val="dk1"/>
                </a:solidFill>
                <a:highlight>
                  <a:schemeClr val="lt1"/>
                </a:highlight>
              </a:rPr>
            </a:br>
            <a:br>
              <a:rPr i="1" lang="en" sz="1200">
                <a:solidFill>
                  <a:schemeClr val="dk1"/>
                </a:solidFill>
                <a:highlight>
                  <a:schemeClr val="lt1"/>
                </a:highlight>
              </a:rPr>
            </a:br>
            <a:r>
              <a:rPr i="1" lang="en" sz="1000">
                <a:solidFill>
                  <a:schemeClr val="dk1"/>
                </a:solidFill>
                <a:highlight>
                  <a:schemeClr val="lt1"/>
                </a:highlight>
              </a:rPr>
              <a:t>You may qualify for a partial exemption from the tax if property: </a:t>
            </a:r>
            <a:br>
              <a:rPr i="1" lang="en" sz="1000">
                <a:solidFill>
                  <a:schemeClr val="dk1"/>
                </a:solidFill>
                <a:highlight>
                  <a:schemeClr val="lt1"/>
                </a:highlight>
              </a:rPr>
            </a:br>
            <a:r>
              <a:rPr i="1" lang="en" sz="1000">
                <a:solidFill>
                  <a:schemeClr val="dk1"/>
                </a:solidFill>
                <a:highlight>
                  <a:schemeClr val="lt1"/>
                </a:highlight>
              </a:rPr>
              <a:t>- Has a fair market value less than $525,000</a:t>
            </a:r>
            <a:r>
              <a:rPr i="1" lang="en" sz="1200">
                <a:solidFill>
                  <a:schemeClr val="dk1"/>
                </a:solidFill>
                <a:highlight>
                  <a:schemeClr val="lt1"/>
                </a:highlight>
              </a:rPr>
              <a:t> </a:t>
            </a:r>
            <a:r>
              <a:rPr b="1" i="1" lang="en" sz="1000" u="sng">
                <a:solidFill>
                  <a:schemeClr val="dk1"/>
                </a:solidFill>
                <a:highlight>
                  <a:schemeClr val="lt1"/>
                </a:highlight>
              </a:rPr>
              <a:t>($750,000 and less than $800,000 for pre-sales)</a:t>
            </a:r>
            <a:r>
              <a:rPr i="1" lang="en" sz="1000">
                <a:solidFill>
                  <a:schemeClr val="dk1"/>
                </a:solidFill>
                <a:highlight>
                  <a:schemeClr val="lt1"/>
                </a:highlight>
              </a:rPr>
              <a:t> </a:t>
            </a:r>
            <a:br>
              <a:rPr i="1" lang="en" sz="1000">
                <a:solidFill>
                  <a:schemeClr val="dk1"/>
                </a:solidFill>
                <a:highlight>
                  <a:schemeClr val="lt1"/>
                </a:highlight>
              </a:rPr>
            </a:br>
            <a:r>
              <a:rPr i="1" lang="en" sz="1000">
                <a:solidFill>
                  <a:schemeClr val="dk1"/>
                </a:solidFill>
                <a:highlight>
                  <a:schemeClr val="lt1"/>
                </a:highlight>
              </a:rPr>
              <a:t>- Is larger than 0.5 hectares</a:t>
            </a:r>
            <a:br>
              <a:rPr i="1" lang="en" sz="1000">
                <a:solidFill>
                  <a:schemeClr val="dk1"/>
                </a:solidFill>
                <a:highlight>
                  <a:schemeClr val="lt1"/>
                </a:highlight>
              </a:rPr>
            </a:br>
            <a:r>
              <a:rPr i="1" lang="en" sz="1000">
                <a:solidFill>
                  <a:schemeClr val="dk1"/>
                </a:solidFill>
                <a:highlight>
                  <a:schemeClr val="lt1"/>
                </a:highlight>
              </a:rPr>
              <a:t>-Has another building on the property other than the principle residence</a:t>
            </a:r>
            <a:endParaRPr i="1" sz="10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t/>
            </a:r>
            <a:endParaRPr i="1" sz="1200">
              <a:solidFill>
                <a:schemeClr val="dk1"/>
              </a:solidFill>
              <a:highlight>
                <a:srgbClr val="FFFFFF"/>
              </a:highlight>
            </a:endParaRPr>
          </a:p>
          <a:p>
            <a:pPr indent="0" lvl="0" marL="1371600" rtl="0" algn="l">
              <a:spcBef>
                <a:spcPts val="1600"/>
              </a:spcBef>
              <a:spcAft>
                <a:spcPts val="1600"/>
              </a:spcAft>
              <a:buNone/>
            </a:pPr>
            <a:r>
              <a:t/>
            </a:r>
            <a:endParaRPr sz="1200">
              <a:solidFill>
                <a:schemeClr val="dk1"/>
              </a:solidFill>
              <a:highlight>
                <a:srgbClr val="FFFFFF"/>
              </a:highligh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Did You Know?</a:t>
            </a:r>
            <a:endParaRPr b="1"/>
          </a:p>
          <a:p>
            <a:pPr indent="0" lvl="0" marL="0" rtl="0" algn="l">
              <a:spcBef>
                <a:spcPts val="0"/>
              </a:spcBef>
              <a:spcAft>
                <a:spcPts val="0"/>
              </a:spcAft>
              <a:buNone/>
            </a:pPr>
            <a:r>
              <a:t/>
            </a:r>
            <a:endParaRPr/>
          </a:p>
        </p:txBody>
      </p:sp>
      <p:sp>
        <p:nvSpPr>
          <p:cNvPr id="267" name="Google Shape;267;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200">
                <a:solidFill>
                  <a:schemeClr val="dk1"/>
                </a:solidFill>
                <a:highlight>
                  <a:srgbClr val="FFFFFF"/>
                </a:highlight>
              </a:rPr>
              <a:t>There are some very useful program(s) for homebuyers in Vancouver.</a:t>
            </a:r>
            <a:br>
              <a:rPr i="1" lang="en" sz="1200">
                <a:solidFill>
                  <a:schemeClr val="dk1"/>
                </a:solidFill>
                <a:highlight>
                  <a:srgbClr val="FFFFFF"/>
                </a:highlight>
              </a:rPr>
            </a:br>
            <a:br>
              <a:rPr b="1" i="1" lang="en" sz="1200">
                <a:solidFill>
                  <a:schemeClr val="dk1"/>
                </a:solidFill>
                <a:highlight>
                  <a:srgbClr val="FFFFFF"/>
                </a:highlight>
              </a:rPr>
            </a:br>
            <a:r>
              <a:rPr b="1" i="1" lang="en" sz="1200">
                <a:solidFill>
                  <a:schemeClr val="dk1"/>
                </a:solidFill>
                <a:highlight>
                  <a:schemeClr val="lt1"/>
                </a:highlight>
              </a:rPr>
              <a:t>5</a:t>
            </a:r>
            <a:r>
              <a:rPr b="1" i="1" lang="en" sz="1200">
                <a:solidFill>
                  <a:schemeClr val="dk1"/>
                </a:solidFill>
                <a:highlight>
                  <a:schemeClr val="lt1"/>
                </a:highlight>
              </a:rPr>
              <a:t>. Home Buyers Amount:</a:t>
            </a:r>
            <a:r>
              <a:rPr i="1" lang="en" sz="1200">
                <a:solidFill>
                  <a:schemeClr val="dk1"/>
                </a:solidFill>
                <a:highlight>
                  <a:schemeClr val="lt1"/>
                </a:highlight>
              </a:rPr>
              <a:t> </a:t>
            </a:r>
            <a:endParaRPr b="1" i="1" sz="1200">
              <a:solidFill>
                <a:schemeClr val="dk1"/>
              </a:solidFill>
              <a:highlight>
                <a:schemeClr val="lt1"/>
              </a:highlight>
            </a:endParaRPr>
          </a:p>
          <a:p>
            <a:pPr indent="0" lvl="0" marL="0" rtl="0" algn="l">
              <a:spcBef>
                <a:spcPts val="1600"/>
              </a:spcBef>
              <a:spcAft>
                <a:spcPts val="0"/>
              </a:spcAft>
              <a:buClr>
                <a:schemeClr val="dk1"/>
              </a:buClr>
              <a:buSzPts val="1100"/>
              <a:buFont typeface="Arial"/>
              <a:buNone/>
            </a:pPr>
            <a:r>
              <a:rPr i="1" lang="en" sz="1000">
                <a:solidFill>
                  <a:schemeClr val="dk1"/>
                </a:solidFill>
                <a:highlight>
                  <a:schemeClr val="lt1"/>
                </a:highlight>
              </a:rPr>
              <a:t>To assist first-time homebuyers with the costs associated with the purchase of a home, which includes legal fees, disbursements and land transfer taxes, the government of Canada introduced a tax credit for first time homebuyers in 2009. </a:t>
            </a:r>
            <a:br>
              <a:rPr i="1" lang="en" sz="1000">
                <a:solidFill>
                  <a:schemeClr val="dk1"/>
                </a:solidFill>
                <a:highlight>
                  <a:schemeClr val="lt1"/>
                </a:highlight>
              </a:rPr>
            </a:br>
            <a:br>
              <a:rPr i="1" lang="en" sz="1000">
                <a:solidFill>
                  <a:schemeClr val="dk1"/>
                </a:solidFill>
                <a:highlight>
                  <a:schemeClr val="lt1"/>
                </a:highlight>
              </a:rPr>
            </a:br>
            <a:r>
              <a:rPr lang="en" sz="1000">
                <a:solidFill>
                  <a:schemeClr val="dk1"/>
                </a:solidFill>
                <a:highlight>
                  <a:schemeClr val="lt1"/>
                </a:highlight>
              </a:rPr>
              <a:t>How it works: </a:t>
            </a:r>
            <a:endParaRPr sz="1000">
              <a:solidFill>
                <a:schemeClr val="dk1"/>
              </a:solidFill>
              <a:highlight>
                <a:schemeClr val="lt1"/>
              </a:highlight>
            </a:endParaRPr>
          </a:p>
          <a:p>
            <a:pPr indent="0" lvl="0" marL="0" rtl="0" algn="l">
              <a:spcBef>
                <a:spcPts val="1600"/>
              </a:spcBef>
              <a:spcAft>
                <a:spcPts val="0"/>
              </a:spcAft>
              <a:buClr>
                <a:schemeClr val="dk1"/>
              </a:buClr>
              <a:buSzPts val="1100"/>
              <a:buFont typeface="Arial"/>
              <a:buNone/>
            </a:pPr>
            <a:br>
              <a:rPr i="1" lang="en" sz="1000">
                <a:solidFill>
                  <a:schemeClr val="dk1"/>
                </a:solidFill>
                <a:highlight>
                  <a:schemeClr val="lt1"/>
                </a:highlight>
              </a:rPr>
            </a:br>
            <a:r>
              <a:rPr i="1" lang="en" sz="1000">
                <a:solidFill>
                  <a:schemeClr val="dk1"/>
                </a:solidFill>
                <a:highlight>
                  <a:schemeClr val="lt1"/>
                </a:highlight>
              </a:rPr>
              <a:t>- </a:t>
            </a:r>
            <a:r>
              <a:rPr i="1" lang="en" sz="1000">
                <a:solidFill>
                  <a:schemeClr val="dk1"/>
                </a:solidFill>
                <a:highlight>
                  <a:schemeClr val="lt1"/>
                </a:highlight>
              </a:rPr>
              <a:t>A $5,000 non-refundable income tax credit amount on a qualifying home acquired during the year</a:t>
            </a:r>
            <a:endParaRPr i="1" sz="1000">
              <a:solidFill>
                <a:schemeClr val="dk1"/>
              </a:solidFill>
              <a:highlight>
                <a:schemeClr val="lt1"/>
              </a:highlight>
            </a:endParaRPr>
          </a:p>
          <a:p>
            <a:pPr indent="0" lvl="0" marL="0" rtl="0" algn="l">
              <a:spcBef>
                <a:spcPts val="1600"/>
              </a:spcBef>
              <a:spcAft>
                <a:spcPts val="0"/>
              </a:spcAft>
              <a:buClr>
                <a:schemeClr val="dk1"/>
              </a:buClr>
              <a:buSzPts val="1100"/>
              <a:buFont typeface="Arial"/>
              <a:buNone/>
            </a:pPr>
            <a:r>
              <a:rPr i="1" lang="en" sz="1000">
                <a:solidFill>
                  <a:schemeClr val="dk1"/>
                </a:solidFill>
                <a:highlight>
                  <a:schemeClr val="lt1"/>
                </a:highlight>
              </a:rPr>
              <a:t>-For an eligible homebuyer, the credit will provide up to $750 in federal tax relief. There are eligibility requirements so it would be best to look online with the government of Canada's respective website. </a:t>
            </a:r>
            <a:endParaRPr i="1" sz="1000">
              <a:solidFill>
                <a:schemeClr val="dk1"/>
              </a:solidFill>
              <a:highlight>
                <a:schemeClr val="lt1"/>
              </a:highlight>
            </a:endParaRPr>
          </a:p>
          <a:p>
            <a:pPr indent="0" lvl="0" marL="0" rtl="0" algn="l">
              <a:spcBef>
                <a:spcPts val="1600"/>
              </a:spcBef>
              <a:spcAft>
                <a:spcPts val="0"/>
              </a:spcAft>
              <a:buClr>
                <a:schemeClr val="dk1"/>
              </a:buClr>
              <a:buSzPts val="1100"/>
              <a:buFont typeface="Arial"/>
              <a:buNone/>
            </a:pPr>
            <a:r>
              <a:t/>
            </a:r>
            <a:endParaRPr i="1" sz="10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t/>
            </a:r>
            <a:endParaRPr i="1" sz="1200">
              <a:solidFill>
                <a:schemeClr val="dk1"/>
              </a:solidFill>
              <a:highlight>
                <a:srgbClr val="FFFFFF"/>
              </a:highlight>
            </a:endParaRPr>
          </a:p>
          <a:p>
            <a:pPr indent="0" lvl="0" marL="1371600" rtl="0" algn="l">
              <a:spcBef>
                <a:spcPts val="1600"/>
              </a:spcBef>
              <a:spcAft>
                <a:spcPts val="1600"/>
              </a:spcAft>
              <a:buNone/>
            </a:pPr>
            <a:r>
              <a:t/>
            </a:r>
            <a:endParaRPr sz="1200">
              <a:solidFill>
                <a:schemeClr val="dk1"/>
              </a:solidFill>
              <a:highlight>
                <a:srgbClr val="FFFFFF"/>
              </a:highligh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Now We Covered A lot!</a:t>
            </a:r>
            <a:endParaRPr b="1"/>
          </a:p>
          <a:p>
            <a:pPr indent="0" lvl="0" marL="0" rtl="0" algn="l">
              <a:spcBef>
                <a:spcPts val="0"/>
              </a:spcBef>
              <a:spcAft>
                <a:spcPts val="0"/>
              </a:spcAft>
              <a:buNone/>
            </a:pPr>
            <a:r>
              <a:t/>
            </a:r>
            <a:endParaRPr/>
          </a:p>
        </p:txBody>
      </p:sp>
      <p:sp>
        <p:nvSpPr>
          <p:cNvPr id="273" name="Google Shape;273;p4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200">
                <a:solidFill>
                  <a:schemeClr val="dk1"/>
                </a:solidFill>
                <a:highlight>
                  <a:srgbClr val="FFFFFF"/>
                </a:highlight>
              </a:rPr>
              <a:t>In this training, we went over a lot of information on the homebuying process. This included:</a:t>
            </a:r>
            <a:br>
              <a:rPr i="1" lang="en" sz="1200">
                <a:solidFill>
                  <a:schemeClr val="dk1"/>
                </a:solidFill>
                <a:highlight>
                  <a:srgbClr val="FFFFFF"/>
                </a:highlight>
              </a:rPr>
            </a:br>
            <a:br>
              <a:rPr i="1" lang="en" sz="1200">
                <a:solidFill>
                  <a:schemeClr val="dk1"/>
                </a:solidFill>
                <a:highlight>
                  <a:srgbClr val="FFFFFF"/>
                </a:highlight>
              </a:rPr>
            </a:br>
            <a:r>
              <a:rPr i="1" lang="en" sz="1200">
                <a:solidFill>
                  <a:schemeClr val="dk1"/>
                </a:solidFill>
                <a:highlight>
                  <a:srgbClr val="FFFFFF"/>
                </a:highlight>
              </a:rPr>
              <a:t>The steps to purchase a home including common mistakes and pitfalls most homebuyers make.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i="1" lang="en" sz="1200">
                <a:solidFill>
                  <a:schemeClr val="dk1"/>
                </a:solidFill>
                <a:highlight>
                  <a:srgbClr val="FFFFFF"/>
                </a:highlight>
              </a:rPr>
              <a:t>We covered how to get a great deal and why most homebuyers never achieve </a:t>
            </a:r>
            <a:r>
              <a:rPr i="1" lang="en" sz="1200">
                <a:solidFill>
                  <a:schemeClr val="dk1"/>
                </a:solidFill>
                <a:highlight>
                  <a:srgbClr val="FFFFFF"/>
                </a:highlight>
              </a:rPr>
              <a:t>extraordinary</a:t>
            </a:r>
            <a:r>
              <a:rPr i="1" lang="en" sz="1200">
                <a:solidFill>
                  <a:schemeClr val="dk1"/>
                </a:solidFill>
                <a:highlight>
                  <a:srgbClr val="FFFFFF"/>
                </a:highlight>
              </a:rPr>
              <a:t> results because they are essentially doing the same thing as the other homebuyers and competing.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i="1" lang="en" sz="1200">
                <a:solidFill>
                  <a:schemeClr val="dk1"/>
                </a:solidFill>
                <a:highlight>
                  <a:srgbClr val="FFFFFF"/>
                </a:highlight>
              </a:rPr>
              <a:t>We covered special programs and </a:t>
            </a:r>
            <a:r>
              <a:rPr i="1" lang="en" sz="1200">
                <a:solidFill>
                  <a:schemeClr val="dk1"/>
                </a:solidFill>
                <a:highlight>
                  <a:srgbClr val="FFFFFF"/>
                </a:highlight>
              </a:rPr>
              <a:t>incentives</a:t>
            </a:r>
            <a:r>
              <a:rPr i="1" lang="en" sz="1200">
                <a:solidFill>
                  <a:schemeClr val="dk1"/>
                </a:solidFill>
                <a:highlight>
                  <a:srgbClr val="FFFFFF"/>
                </a:highlight>
              </a:rPr>
              <a:t> in place to get the absolute best deal possible. </a:t>
            </a:r>
            <a:br>
              <a:rPr i="1" lang="en" sz="1200">
                <a:solidFill>
                  <a:schemeClr val="dk1"/>
                </a:solidFill>
                <a:highlight>
                  <a:srgbClr val="FFFFFF"/>
                </a:highlight>
              </a:rPr>
            </a:br>
            <a:br>
              <a:rPr i="1" lang="en" sz="1200">
                <a:solidFill>
                  <a:schemeClr val="dk1"/>
                </a:solidFill>
                <a:highlight>
                  <a:srgbClr val="FFFFFF"/>
                </a:highlight>
              </a:rPr>
            </a:br>
            <a:r>
              <a:rPr i="1" lang="en" sz="1200">
                <a:solidFill>
                  <a:schemeClr val="dk1"/>
                </a:solidFill>
                <a:highlight>
                  <a:srgbClr val="FFFFFF"/>
                </a:highlight>
              </a:rPr>
              <a:t>But here’s the </a:t>
            </a:r>
            <a:r>
              <a:rPr b="1" i="1" lang="en" sz="1200">
                <a:solidFill>
                  <a:schemeClr val="dk1"/>
                </a:solidFill>
                <a:highlight>
                  <a:srgbClr val="FFFFFF"/>
                </a:highlight>
              </a:rPr>
              <a:t>truth</a:t>
            </a:r>
            <a:r>
              <a:rPr i="1" lang="en" sz="1200">
                <a:solidFill>
                  <a:schemeClr val="dk1"/>
                </a:solidFill>
                <a:highlight>
                  <a:srgbClr val="FFFFFF"/>
                </a:highlight>
              </a:rPr>
              <a:t>…this was only a </a:t>
            </a:r>
            <a:r>
              <a:rPr b="1" i="1" lang="en" sz="1200">
                <a:solidFill>
                  <a:schemeClr val="dk1"/>
                </a:solidFill>
                <a:highlight>
                  <a:srgbClr val="FFFFFF"/>
                </a:highlight>
              </a:rPr>
              <a:t>SMALL PART </a:t>
            </a:r>
            <a:r>
              <a:rPr i="1" lang="en" sz="1200">
                <a:solidFill>
                  <a:schemeClr val="dk1"/>
                </a:solidFill>
                <a:highlight>
                  <a:srgbClr val="FFFFFF"/>
                </a:highlight>
              </a:rPr>
              <a:t>of the entire home buying journey. We would be here all day for hours and hours if we broke down the entire process. There is many more smaller and detailed pieces that are missing from this as frankly…it would be too long of a presentation. </a:t>
            </a:r>
            <a:br>
              <a:rPr i="1" lang="en" sz="1200">
                <a:solidFill>
                  <a:schemeClr val="dk1"/>
                </a:solidFill>
                <a:highlight>
                  <a:srgbClr val="FFFFFF"/>
                </a:highlight>
              </a:rPr>
            </a:br>
            <a:br>
              <a:rPr i="1" lang="en" sz="1200">
                <a:solidFill>
                  <a:schemeClr val="dk1"/>
                </a:solidFill>
                <a:highlight>
                  <a:srgbClr val="FFFFFF"/>
                </a:highlight>
              </a:rPr>
            </a:br>
            <a:r>
              <a:rPr i="1" lang="en" sz="1200">
                <a:solidFill>
                  <a:schemeClr val="dk1"/>
                </a:solidFill>
                <a:highlight>
                  <a:srgbClr val="FFFFFF"/>
                </a:highlight>
              </a:rPr>
              <a:t>To ensure you get the best deal in the market and always </a:t>
            </a:r>
            <a:endParaRPr i="1" sz="1000">
              <a:solidFill>
                <a:schemeClr val="dk1"/>
              </a:solidFill>
              <a:highlight>
                <a:schemeClr val="lt1"/>
              </a:highlight>
            </a:endParaRPr>
          </a:p>
          <a:p>
            <a:pPr indent="0" lvl="0" marL="0" rtl="0" algn="l">
              <a:spcBef>
                <a:spcPts val="1600"/>
              </a:spcBef>
              <a:spcAft>
                <a:spcPts val="0"/>
              </a:spcAft>
              <a:buClr>
                <a:schemeClr val="dk1"/>
              </a:buClr>
              <a:buSzPts val="1100"/>
              <a:buFont typeface="Arial"/>
              <a:buNone/>
            </a:pPr>
            <a:r>
              <a:t/>
            </a:r>
            <a:endParaRPr i="1" sz="10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t/>
            </a:r>
            <a:endParaRPr i="1" sz="12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t/>
            </a:r>
            <a:endParaRPr i="1" sz="1200">
              <a:solidFill>
                <a:schemeClr val="dk1"/>
              </a:solidFill>
              <a:highlight>
                <a:srgbClr val="FFFFFF"/>
              </a:highlight>
            </a:endParaRPr>
          </a:p>
          <a:p>
            <a:pPr indent="0" lvl="0" marL="1371600" rtl="0" algn="l">
              <a:spcBef>
                <a:spcPts val="1600"/>
              </a:spcBef>
              <a:spcAft>
                <a:spcPts val="1600"/>
              </a:spcAft>
              <a:buNone/>
            </a:pPr>
            <a:r>
              <a:t/>
            </a:r>
            <a:endParaRPr sz="1200">
              <a:solidFill>
                <a:schemeClr val="dk1"/>
              </a:solidFill>
              <a:highlight>
                <a:srgbClr val="FFFFFF"/>
              </a:high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Option 1 - Find the Right Agent Yourself</a:t>
            </a:r>
            <a:endParaRPr b="1"/>
          </a:p>
          <a:p>
            <a:pPr indent="0" lvl="0" marL="0" rtl="0" algn="l">
              <a:spcBef>
                <a:spcPts val="0"/>
              </a:spcBef>
              <a:spcAft>
                <a:spcPts val="0"/>
              </a:spcAft>
              <a:buNone/>
            </a:pPr>
            <a:r>
              <a:t/>
            </a:r>
            <a:endParaRPr/>
          </a:p>
        </p:txBody>
      </p:sp>
      <p:sp>
        <p:nvSpPr>
          <p:cNvPr id="279" name="Google Shape;279;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lang="en" sz="1200">
                <a:solidFill>
                  <a:schemeClr val="dk1"/>
                </a:solidFill>
              </a:rPr>
              <a:t>Look for another agent that is experienced, trustworthy, aware of market trends, responsive, attentive (treats you as their </a:t>
            </a:r>
            <a:r>
              <a:rPr i="1" lang="en" sz="1200">
                <a:solidFill>
                  <a:schemeClr val="dk1"/>
                </a:solidFill>
              </a:rPr>
              <a:t>only</a:t>
            </a:r>
            <a:r>
              <a:rPr lang="en" sz="1200">
                <a:solidFill>
                  <a:schemeClr val="dk1"/>
                </a:solidFill>
              </a:rPr>
              <a:t> client) and has a good overall economic knowledge. </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You’ll waste hours of your time interviewing and finding the right agent. </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You can try to purchase a home yourself, however it isn’t recommended especially for homebuyers. The homebuying process can be complicated and emotional. </a:t>
            </a:r>
            <a:r>
              <a:rPr lang="en" sz="1200">
                <a:solidFill>
                  <a:schemeClr val="dk1"/>
                </a:solidFill>
                <a:highlight>
                  <a:schemeClr val="lt1"/>
                </a:highlight>
              </a:rPr>
              <a:t>Having an agent by your side can help you navigate the housing market, submit a legally sound offer and avoid overpaying for your property.</a:t>
            </a:r>
            <a:endParaRPr sz="1200">
              <a:solidFill>
                <a:schemeClr val="dk1"/>
              </a:solidFill>
              <a:highlight>
                <a:schemeClr val="lt1"/>
              </a:highlight>
            </a:endParaRPr>
          </a:p>
          <a:p>
            <a:pPr indent="-304800" lvl="0" marL="457200" rtl="0" algn="l">
              <a:spcBef>
                <a:spcPts val="0"/>
              </a:spcBef>
              <a:spcAft>
                <a:spcPts val="0"/>
              </a:spcAft>
              <a:buClr>
                <a:schemeClr val="dk1"/>
              </a:buClr>
              <a:buSzPts val="1200"/>
              <a:buChar char="-"/>
            </a:pPr>
            <a:r>
              <a:rPr lang="en" sz="1200">
                <a:solidFill>
                  <a:schemeClr val="dk1"/>
                </a:solidFill>
                <a:highlight>
                  <a:schemeClr val="lt1"/>
                </a:highlight>
              </a:rPr>
              <a:t>Many agents may not even know about the exclusive programs and grants available so you will miss out on the best deal. </a:t>
            </a:r>
            <a:endParaRPr sz="1200">
              <a:solidFill>
                <a:schemeClr val="dk1"/>
              </a:solidFill>
              <a:highlight>
                <a:schemeClr val="lt1"/>
              </a:highlight>
            </a:endParaRPr>
          </a:p>
          <a:p>
            <a:pPr indent="0" lvl="0" marL="0" rtl="0" algn="l">
              <a:spcBef>
                <a:spcPts val="1600"/>
              </a:spcBef>
              <a:spcAft>
                <a:spcPts val="0"/>
              </a:spcAft>
              <a:buNone/>
            </a:pPr>
            <a:r>
              <a:rPr lang="en" sz="1200">
                <a:solidFill>
                  <a:schemeClr val="dk1"/>
                </a:solidFill>
                <a:highlight>
                  <a:schemeClr val="lt1"/>
                </a:highlight>
              </a:rPr>
              <a:t>…and most importantly, most agents just offer the exact same thing all the other agents offer. This is </a:t>
            </a:r>
            <a:r>
              <a:rPr lang="en" sz="1200">
                <a:solidFill>
                  <a:schemeClr val="dk1"/>
                </a:solidFill>
                <a:highlight>
                  <a:schemeClr val="lt1"/>
                </a:highlight>
              </a:rPr>
              <a:t>what</a:t>
            </a:r>
            <a:r>
              <a:rPr lang="en" sz="1200">
                <a:solidFill>
                  <a:schemeClr val="dk1"/>
                </a:solidFill>
                <a:highlight>
                  <a:schemeClr val="lt1"/>
                </a:highlight>
              </a:rPr>
              <a:t> you want to avoid. </a:t>
            </a:r>
            <a:r>
              <a:rPr lang="en" sz="1200">
                <a:solidFill>
                  <a:schemeClr val="dk1"/>
                </a:solidFill>
                <a:highlight>
                  <a:schemeClr val="lt1"/>
                </a:highlight>
              </a:rPr>
              <a:t>Only do this if you’re trying to get the same average results as everyone else. </a:t>
            </a:r>
            <a:br>
              <a:rPr lang="en" sz="1200">
                <a:solidFill>
                  <a:schemeClr val="dk1"/>
                </a:solidFill>
                <a:highlight>
                  <a:schemeClr val="lt1"/>
                </a:highlight>
              </a:rPr>
            </a:br>
            <a:br>
              <a:rPr lang="en" sz="1200">
                <a:solidFill>
                  <a:schemeClr val="dk1"/>
                </a:solidFill>
                <a:highlight>
                  <a:schemeClr val="lt1"/>
                </a:highlight>
              </a:rPr>
            </a:br>
            <a:r>
              <a:rPr lang="en" sz="1200">
                <a:solidFill>
                  <a:schemeClr val="dk1"/>
                </a:solidFill>
                <a:highlight>
                  <a:schemeClr val="lt1"/>
                </a:highlight>
              </a:rPr>
              <a:t>What you need to do is </a:t>
            </a:r>
            <a:r>
              <a:rPr b="1" lang="en" sz="1200">
                <a:solidFill>
                  <a:schemeClr val="dk1"/>
                </a:solidFill>
                <a:highlight>
                  <a:schemeClr val="lt1"/>
                </a:highlight>
              </a:rPr>
              <a:t>something different. </a:t>
            </a:r>
            <a:endParaRPr b="1" sz="1200">
              <a:solidFill>
                <a:schemeClr val="dk1"/>
              </a:solidFill>
              <a:highlight>
                <a:schemeClr val="lt1"/>
              </a:highlight>
            </a:endParaRPr>
          </a:p>
          <a:p>
            <a:pPr indent="0" lvl="0" marL="0" rtl="0" algn="l">
              <a:spcBef>
                <a:spcPts val="1600"/>
              </a:spcBef>
              <a:spcAft>
                <a:spcPts val="120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51"/>
          <p:cNvSpPr txBox="1"/>
          <p:nvPr>
            <p:ph type="title"/>
          </p:nvPr>
        </p:nvSpPr>
        <p:spPr>
          <a:xfrm>
            <a:off x="311700" y="428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Option 2: Work With Us</a:t>
            </a:r>
            <a:endParaRPr b="1"/>
          </a:p>
          <a:p>
            <a:pPr indent="0" lvl="0" marL="0" rtl="0" algn="l">
              <a:spcBef>
                <a:spcPts val="0"/>
              </a:spcBef>
              <a:spcAft>
                <a:spcPts val="0"/>
              </a:spcAft>
              <a:buNone/>
            </a:pPr>
            <a:r>
              <a:t/>
            </a:r>
            <a:endParaRPr/>
          </a:p>
        </p:txBody>
      </p:sp>
      <p:sp>
        <p:nvSpPr>
          <p:cNvPr id="285" name="Google Shape;285;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lang="en" sz="1200">
                <a:solidFill>
                  <a:schemeClr val="dk1"/>
                </a:solidFill>
              </a:rPr>
              <a:t>You can hire us to represent you and also get access to our </a:t>
            </a:r>
            <a:r>
              <a:rPr b="1" lang="en" sz="1200">
                <a:solidFill>
                  <a:schemeClr val="dk1"/>
                </a:solidFill>
              </a:rPr>
              <a:t>VIP Home Buyers Success Academy.</a:t>
            </a:r>
            <a:r>
              <a:rPr lang="en" sz="1200">
                <a:solidFill>
                  <a:schemeClr val="dk1"/>
                </a:solidFill>
              </a:rPr>
              <a:t> This is the only way to guarantee success in this market because this is something completely new and different and </a:t>
            </a:r>
            <a:r>
              <a:rPr lang="en" sz="1200">
                <a:solidFill>
                  <a:schemeClr val="dk1"/>
                </a:solidFill>
              </a:rPr>
              <a:t>only</a:t>
            </a:r>
            <a:r>
              <a:rPr lang="en" sz="1200">
                <a:solidFill>
                  <a:schemeClr val="dk1"/>
                </a:solidFill>
              </a:rPr>
              <a:t> a very small handful of homebuyers know about this. </a:t>
            </a:r>
            <a:endParaRPr sz="1200">
              <a:solidFill>
                <a:schemeClr val="dk1"/>
              </a:solidFill>
            </a:endParaRPr>
          </a:p>
        </p:txBody>
      </p:sp>
      <p:pic>
        <p:nvPicPr>
          <p:cNvPr id="286" name="Google Shape;286;p51"/>
          <p:cNvPicPr preferRelativeResize="0"/>
          <p:nvPr/>
        </p:nvPicPr>
        <p:blipFill>
          <a:blip r:embed="rId3">
            <a:alphaModFix/>
          </a:blip>
          <a:stretch>
            <a:fillRect/>
          </a:stretch>
        </p:blipFill>
        <p:spPr>
          <a:xfrm>
            <a:off x="3140625" y="1898575"/>
            <a:ext cx="2785602" cy="278560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Our Offer</a:t>
            </a:r>
            <a:endParaRPr b="1"/>
          </a:p>
        </p:txBody>
      </p:sp>
      <p:sp>
        <p:nvSpPr>
          <p:cNvPr id="292" name="Google Shape;292;p52"/>
          <p:cNvSpPr txBox="1"/>
          <p:nvPr>
            <p:ph idx="1" type="body"/>
          </p:nvPr>
        </p:nvSpPr>
        <p:spPr>
          <a:xfrm>
            <a:off x="311700" y="101772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rPr>
              <a:t>Before, when you wanted to purchase a home, you would have to bank of finding the </a:t>
            </a:r>
            <a:r>
              <a:rPr i="1" lang="en" sz="1200">
                <a:solidFill>
                  <a:schemeClr val="dk1"/>
                </a:solidFill>
              </a:rPr>
              <a:t>right</a:t>
            </a:r>
            <a:r>
              <a:rPr lang="en" sz="1200">
                <a:solidFill>
                  <a:schemeClr val="dk1"/>
                </a:solidFill>
              </a:rPr>
              <a:t> realtor and bear all of the risk. But now, you can use our VIP Home Buyers Success Academy to purchase your dream home eliminating any form of risk. Do you see how easy that is? </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800">
              <a:solidFill>
                <a:schemeClr val="dk1"/>
              </a:solidFill>
            </a:endParaRPr>
          </a:p>
          <a:p>
            <a:pPr indent="0" lvl="0" marL="457200" rtl="0" algn="l">
              <a:spcBef>
                <a:spcPts val="0"/>
              </a:spcBef>
              <a:spcAft>
                <a:spcPts val="0"/>
              </a:spcAft>
              <a:buClr>
                <a:schemeClr val="dk1"/>
              </a:buClr>
              <a:buSzPts val="1100"/>
              <a:buFont typeface="Arial"/>
              <a:buNone/>
            </a:pPr>
            <a:r>
              <a:rPr lang="en" sz="800">
                <a:solidFill>
                  <a:schemeClr val="dk1"/>
                </a:solidFill>
              </a:rPr>
              <a:t>✅</a:t>
            </a:r>
            <a:r>
              <a:rPr b="1" lang="en" sz="800">
                <a:solidFill>
                  <a:schemeClr val="dk1"/>
                </a:solidFill>
              </a:rPr>
              <a:t> 12 Month Satisfaction Guaranteed</a:t>
            </a:r>
            <a:r>
              <a:rPr lang="en" sz="800">
                <a:solidFill>
                  <a:schemeClr val="dk1"/>
                </a:solidFill>
              </a:rPr>
              <a:t> - If for any reason you aren’t satisfied or want to sell your home in the first 12 months, we’ll sell it for 0% commission!</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a:t>
            </a:r>
            <a:r>
              <a:rPr b="1" lang="en" sz="800">
                <a:solidFill>
                  <a:schemeClr val="dk1"/>
                </a:solidFill>
              </a:rPr>
              <a:t> Dream Home Finder - </a:t>
            </a:r>
            <a:r>
              <a:rPr lang="en" sz="800">
                <a:solidFill>
                  <a:schemeClr val="dk1"/>
                </a:solidFill>
              </a:rPr>
              <a:t>We will send out mailers, cold call homeowners and door knock in the area you’re looking for if we cannot find what you’re looking for on the MLS. </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a:t>
            </a:r>
            <a:r>
              <a:rPr b="1" lang="en" sz="800">
                <a:solidFill>
                  <a:schemeClr val="dk1"/>
                </a:solidFill>
              </a:rPr>
              <a:t> Contractor Certified Program</a:t>
            </a:r>
            <a:r>
              <a:rPr lang="en" sz="800">
                <a:solidFill>
                  <a:schemeClr val="dk1"/>
                </a:solidFill>
              </a:rPr>
              <a:t> - Our licensed contractor ensures mandatory repairs are made correctly by the seller so there is no additional cost to you!</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a:t>
            </a:r>
            <a:r>
              <a:rPr b="1" lang="en" sz="800">
                <a:solidFill>
                  <a:schemeClr val="dk1"/>
                </a:solidFill>
              </a:rPr>
              <a:t> No Obligation Certificate - </a:t>
            </a:r>
            <a:r>
              <a:rPr lang="en" sz="800">
                <a:solidFill>
                  <a:schemeClr val="dk1"/>
                </a:solidFill>
              </a:rPr>
              <a:t>If for any reason you aren’t satisfied working with us, you’re able to walk away. No strings attached! </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a:t>
            </a:r>
            <a:r>
              <a:rPr b="1" lang="en" sz="800">
                <a:solidFill>
                  <a:schemeClr val="dk1"/>
                </a:solidFill>
              </a:rPr>
              <a:t> </a:t>
            </a:r>
            <a:r>
              <a:rPr b="1" lang="en" sz="800">
                <a:solidFill>
                  <a:schemeClr val="dk1"/>
                </a:solidFill>
              </a:rPr>
              <a:t> Essential Services Program - </a:t>
            </a:r>
            <a:r>
              <a:rPr lang="en" sz="800">
                <a:solidFill>
                  <a:schemeClr val="dk1"/>
                </a:solidFill>
              </a:rPr>
              <a:t>Are you a police officer, firefighter, teacher, healthcare worker or military veteran? If so, you qualify for thousands in savings through a free home appraisal and home warranty. </a:t>
            </a:r>
            <a:endParaRPr b="1"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a:t>
            </a:r>
            <a:r>
              <a:rPr b="1" lang="en" sz="800">
                <a:solidFill>
                  <a:schemeClr val="dk1"/>
                </a:solidFill>
              </a:rPr>
              <a:t> Performance Guarantee - </a:t>
            </a:r>
            <a:r>
              <a:rPr lang="en" sz="800">
                <a:solidFill>
                  <a:schemeClr val="dk1"/>
                </a:solidFill>
              </a:rPr>
              <a:t>I will make sure I call you at minimum 1X a week and find a home that we can agree upon in 1 month or I will personally give you 1000 from my commission. That is my promise to you!</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 </a:t>
            </a:r>
            <a:r>
              <a:rPr b="1" lang="en" sz="800">
                <a:solidFill>
                  <a:schemeClr val="dk1"/>
                </a:solidFill>
              </a:rPr>
              <a:t>0% Listing Fee</a:t>
            </a:r>
            <a:r>
              <a:rPr lang="en" sz="800">
                <a:solidFill>
                  <a:schemeClr val="dk1"/>
                </a:solidFill>
              </a:rPr>
              <a:t> - If you purchase one of our current listings, we’ll sell your home for free. That is no listing commission! </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 </a:t>
            </a:r>
            <a:r>
              <a:rPr b="1" lang="en" sz="800">
                <a:solidFill>
                  <a:schemeClr val="dk1"/>
                </a:solidFill>
              </a:rPr>
              <a:t>Exclusive Listings</a:t>
            </a:r>
            <a:r>
              <a:rPr lang="en" sz="800">
                <a:solidFill>
                  <a:schemeClr val="dk1"/>
                </a:solidFill>
              </a:rPr>
              <a:t>- Get access to listings not found online. Off-market listings, bank-owned properties, foreclosure properties, etc…</a:t>
            </a:r>
            <a:endParaRPr sz="800">
              <a:solidFill>
                <a:schemeClr val="dk1"/>
              </a:solidFill>
            </a:endParaRPr>
          </a:p>
          <a:p>
            <a:pPr indent="0" lvl="0" marL="457200" rtl="0" algn="l">
              <a:spcBef>
                <a:spcPts val="0"/>
              </a:spcBef>
              <a:spcAft>
                <a:spcPts val="0"/>
              </a:spcAft>
              <a:buClr>
                <a:schemeClr val="dk1"/>
              </a:buClr>
              <a:buSzPts val="1100"/>
              <a:buFont typeface="Arial"/>
              <a:buNone/>
            </a:pPr>
            <a:r>
              <a:t/>
            </a:r>
            <a:endParaRPr sz="800">
              <a:solidFill>
                <a:schemeClr val="dk1"/>
              </a:solidFill>
            </a:endParaRPr>
          </a:p>
          <a:p>
            <a:pPr indent="0" lvl="0" marL="457200" rtl="0" algn="l">
              <a:spcBef>
                <a:spcPts val="0"/>
              </a:spcBef>
              <a:spcAft>
                <a:spcPts val="0"/>
              </a:spcAft>
              <a:buClr>
                <a:schemeClr val="dk1"/>
              </a:buClr>
              <a:buSzPts val="1100"/>
              <a:buFont typeface="Arial"/>
              <a:buNone/>
            </a:pPr>
            <a:r>
              <a:rPr lang="en" sz="800">
                <a:solidFill>
                  <a:schemeClr val="dk1"/>
                </a:solidFill>
              </a:rPr>
              <a:t>✅ </a:t>
            </a:r>
            <a:r>
              <a:rPr b="1" lang="en" sz="800">
                <a:solidFill>
                  <a:schemeClr val="dk1"/>
                </a:solidFill>
              </a:rPr>
              <a:t>Proprietary Data Access</a:t>
            </a:r>
            <a:r>
              <a:rPr lang="en" sz="800">
                <a:solidFill>
                  <a:schemeClr val="dk1"/>
                </a:solidFill>
              </a:rPr>
              <a:t>- Get exclusive access to data of previous home sales in your area. </a:t>
            </a:r>
            <a:endParaRPr sz="800">
              <a:solidFill>
                <a:schemeClr val="dk1"/>
              </a:solidFill>
            </a:endParaRPr>
          </a:p>
          <a:p>
            <a:pPr indent="0" lvl="0" marL="457200" rtl="0" algn="l">
              <a:spcBef>
                <a:spcPts val="0"/>
              </a:spcBef>
              <a:spcAft>
                <a:spcPts val="0"/>
              </a:spcAft>
              <a:buClr>
                <a:schemeClr val="dk1"/>
              </a:buClr>
              <a:buSzPts val="1100"/>
              <a:buFont typeface="Arial"/>
              <a:buNone/>
            </a:pPr>
            <a:r>
              <a:t/>
            </a:r>
            <a:endParaRPr sz="800">
              <a:solidFill>
                <a:schemeClr val="dk1"/>
              </a:solidFill>
            </a:endParaRPr>
          </a:p>
          <a:p>
            <a:pPr indent="0" lvl="0" marL="457200" rtl="0" algn="l">
              <a:spcBef>
                <a:spcPts val="0"/>
              </a:spcBef>
              <a:spcAft>
                <a:spcPts val="0"/>
              </a:spcAft>
              <a:buClr>
                <a:schemeClr val="dk1"/>
              </a:buClr>
              <a:buSzPts val="1100"/>
              <a:buFont typeface="Arial"/>
              <a:buNone/>
            </a:pPr>
            <a:r>
              <a:rPr lang="en" sz="800">
                <a:solidFill>
                  <a:schemeClr val="dk1"/>
                </a:solidFill>
              </a:rPr>
              <a:t>✅</a:t>
            </a:r>
            <a:r>
              <a:rPr b="1" lang="en" sz="800">
                <a:solidFill>
                  <a:schemeClr val="dk1"/>
                </a:solidFill>
              </a:rPr>
              <a:t>Homebuyers Success Academy Training Portal </a:t>
            </a:r>
            <a:r>
              <a:rPr lang="en" sz="800">
                <a:solidFill>
                  <a:schemeClr val="dk1"/>
                </a:solidFill>
              </a:rPr>
              <a:t>- Our biggest difference is that we operate our service like a program. We provide a course area for our clients to self educate themselves on getting the best deal. Although this is optional, we find that our clients get the absolute best deal when they are educated on the homebuying process. This way we can double team and crush the competition for the home you deserve. </a:t>
            </a:r>
            <a:endParaRPr sz="800">
              <a:solidFill>
                <a:schemeClr val="dk1"/>
              </a:solidFill>
            </a:endParaRPr>
          </a:p>
          <a:p>
            <a:pPr indent="0" lvl="0" marL="457200" rtl="0" algn="l">
              <a:spcBef>
                <a:spcPts val="0"/>
              </a:spcBef>
              <a:spcAft>
                <a:spcPts val="0"/>
              </a:spcAft>
              <a:buClr>
                <a:schemeClr val="dk1"/>
              </a:buClr>
              <a:buSzPts val="1100"/>
              <a:buFont typeface="Arial"/>
              <a:buNone/>
            </a:pPr>
            <a:br>
              <a:rPr lang="en" sz="1100">
                <a:solidFill>
                  <a:schemeClr val="dk1"/>
                </a:solidFill>
              </a:rPr>
            </a:br>
            <a:br>
              <a:rPr lang="en" sz="1100">
                <a:solidFill>
                  <a:schemeClr val="dk1"/>
                </a:solidFill>
              </a:rPr>
            </a:br>
            <a:endParaRPr sz="1000">
              <a:solidFill>
                <a:schemeClr val="dk1"/>
              </a:solidFill>
            </a:endParaRPr>
          </a:p>
          <a:p>
            <a:pPr indent="0" lvl="0" marL="457200" rtl="0" algn="l">
              <a:spcBef>
                <a:spcPts val="0"/>
              </a:spcBef>
              <a:spcAft>
                <a:spcPts val="0"/>
              </a:spcAft>
              <a:buClr>
                <a:schemeClr val="dk1"/>
              </a:buClr>
              <a:buSzPts val="1100"/>
              <a:buFont typeface="Arial"/>
              <a:buNone/>
            </a:pPr>
            <a:r>
              <a:t/>
            </a:r>
            <a:endParaRPr b="1" sz="1200">
              <a:solidFill>
                <a:schemeClr val="dk1"/>
              </a:solidFill>
            </a:endParaRPr>
          </a:p>
          <a:p>
            <a:pPr indent="0" lvl="0" marL="0" rtl="0" algn="l">
              <a:spcBef>
                <a:spcPts val="800"/>
              </a:spcBef>
              <a:spcAft>
                <a:spcPts val="120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Why Us?</a:t>
            </a:r>
            <a:endParaRPr b="1"/>
          </a:p>
        </p:txBody>
      </p:sp>
      <p:sp>
        <p:nvSpPr>
          <p:cNvPr id="298" name="Google Shape;298;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04800" lvl="0" marL="457200" rtl="0" algn="l">
              <a:spcBef>
                <a:spcPts val="0"/>
              </a:spcBef>
              <a:spcAft>
                <a:spcPts val="0"/>
              </a:spcAft>
              <a:buClr>
                <a:srgbClr val="1C1B1A"/>
              </a:buClr>
              <a:buSzPts val="1200"/>
              <a:buChar char="-"/>
            </a:pPr>
            <a:r>
              <a:rPr lang="en" sz="1200">
                <a:solidFill>
                  <a:srgbClr val="1C1B1A"/>
                </a:solidFill>
              </a:rPr>
              <a:t>You will get access to our Exclusive VIP Home Buyers Success Academy</a:t>
            </a:r>
            <a:endParaRPr sz="1200">
              <a:solidFill>
                <a:srgbClr val="1C1B1A"/>
              </a:solidFill>
            </a:endParaRPr>
          </a:p>
          <a:p>
            <a:pPr indent="-304800" lvl="0" marL="457200" rtl="0" algn="l">
              <a:spcBef>
                <a:spcPts val="0"/>
              </a:spcBef>
              <a:spcAft>
                <a:spcPts val="0"/>
              </a:spcAft>
              <a:buClr>
                <a:srgbClr val="1C1B1A"/>
              </a:buClr>
              <a:buSzPts val="1200"/>
              <a:buChar char="-"/>
            </a:pPr>
            <a:r>
              <a:rPr lang="en" sz="1200">
                <a:solidFill>
                  <a:srgbClr val="1C1B1A"/>
                </a:solidFill>
              </a:rPr>
              <a:t>You will be able to find the best home that fits your criteria and budget FAST.</a:t>
            </a:r>
            <a:endParaRPr sz="1200">
              <a:solidFill>
                <a:srgbClr val="1C1B1A"/>
              </a:solidFill>
            </a:endParaRPr>
          </a:p>
          <a:p>
            <a:pPr indent="-304800" lvl="0" marL="457200" rtl="0" algn="l">
              <a:spcBef>
                <a:spcPts val="0"/>
              </a:spcBef>
              <a:spcAft>
                <a:spcPts val="0"/>
              </a:spcAft>
              <a:buClr>
                <a:srgbClr val="1C1B1A"/>
              </a:buClr>
              <a:buSzPts val="1200"/>
              <a:buChar char="-"/>
            </a:pPr>
            <a:r>
              <a:rPr lang="en" sz="1200">
                <a:solidFill>
                  <a:srgbClr val="1C1B1A"/>
                </a:solidFill>
              </a:rPr>
              <a:t>You can forget about other agents taking advantage of you for a quick commission cheque. </a:t>
            </a:r>
            <a:endParaRPr sz="1200">
              <a:solidFill>
                <a:srgbClr val="1C1B1A"/>
              </a:solidFill>
            </a:endParaRPr>
          </a:p>
          <a:p>
            <a:pPr indent="-304800" lvl="0" marL="457200" rtl="0" algn="l">
              <a:spcBef>
                <a:spcPts val="0"/>
              </a:spcBef>
              <a:spcAft>
                <a:spcPts val="0"/>
              </a:spcAft>
              <a:buClr>
                <a:srgbClr val="1C1B1A"/>
              </a:buClr>
              <a:buSzPts val="1200"/>
              <a:buChar char="-"/>
            </a:pPr>
            <a:r>
              <a:rPr lang="en" sz="1200">
                <a:solidFill>
                  <a:srgbClr val="1C1B1A"/>
                </a:solidFill>
              </a:rPr>
              <a:t>You will feel relieved because we have a hand-held, educational approach towards working with our clients. </a:t>
            </a:r>
            <a:endParaRPr sz="1200">
              <a:solidFill>
                <a:srgbClr val="1C1B1A"/>
              </a:solidFill>
            </a:endParaRPr>
          </a:p>
          <a:p>
            <a:pPr indent="-304800" lvl="0" marL="457200" rtl="0" algn="l">
              <a:spcBef>
                <a:spcPts val="0"/>
              </a:spcBef>
              <a:spcAft>
                <a:spcPts val="0"/>
              </a:spcAft>
              <a:buClr>
                <a:srgbClr val="1C1B1A"/>
              </a:buClr>
              <a:buSzPts val="1200"/>
              <a:buChar char="-"/>
            </a:pPr>
            <a:r>
              <a:rPr lang="en" sz="1200">
                <a:solidFill>
                  <a:srgbClr val="1C1B1A"/>
                </a:solidFill>
              </a:rPr>
              <a:t>We developed our home buyers success academy after having worked with many </a:t>
            </a:r>
            <a:r>
              <a:rPr lang="en" sz="1200">
                <a:solidFill>
                  <a:srgbClr val="1C1B1A"/>
                </a:solidFill>
              </a:rPr>
              <a:t>clients</a:t>
            </a:r>
            <a:r>
              <a:rPr lang="en" sz="1200">
                <a:solidFill>
                  <a:srgbClr val="1C1B1A"/>
                </a:solidFill>
              </a:rPr>
              <a:t> &amp; taking inspiration from </a:t>
            </a:r>
            <a:r>
              <a:rPr lang="en" sz="1200">
                <a:solidFill>
                  <a:srgbClr val="1C1B1A"/>
                </a:solidFill>
              </a:rPr>
              <a:t>outside</a:t>
            </a:r>
            <a:r>
              <a:rPr lang="en" sz="1200">
                <a:solidFill>
                  <a:srgbClr val="1C1B1A"/>
                </a:solidFill>
              </a:rPr>
              <a:t> of the </a:t>
            </a:r>
            <a:r>
              <a:rPr lang="en" sz="1200">
                <a:solidFill>
                  <a:srgbClr val="1C1B1A"/>
                </a:solidFill>
              </a:rPr>
              <a:t>industry</a:t>
            </a:r>
            <a:r>
              <a:rPr lang="en" sz="1200">
                <a:solidFill>
                  <a:srgbClr val="1C1B1A"/>
                </a:solidFill>
              </a:rPr>
              <a:t>. </a:t>
            </a:r>
            <a:endParaRPr sz="1200">
              <a:solidFill>
                <a:srgbClr val="1C1B1A"/>
              </a:solidFill>
            </a:endParaRPr>
          </a:p>
          <a:p>
            <a:pPr indent="-304800" lvl="0" marL="457200" rtl="0" algn="l">
              <a:spcBef>
                <a:spcPts val="0"/>
              </a:spcBef>
              <a:spcAft>
                <a:spcPts val="0"/>
              </a:spcAft>
              <a:buClr>
                <a:srgbClr val="1C1B1A"/>
              </a:buClr>
              <a:buSzPts val="1200"/>
              <a:buChar char="-"/>
            </a:pPr>
            <a:r>
              <a:rPr lang="en" sz="1200">
                <a:solidFill>
                  <a:srgbClr val="1C1B1A"/>
                </a:solidFill>
              </a:rPr>
              <a:t>Many of our </a:t>
            </a:r>
            <a:r>
              <a:rPr lang="en" sz="1200">
                <a:solidFill>
                  <a:srgbClr val="1C1B1A"/>
                </a:solidFill>
              </a:rPr>
              <a:t>clients</a:t>
            </a:r>
            <a:r>
              <a:rPr lang="en" sz="1200">
                <a:solidFill>
                  <a:srgbClr val="1C1B1A"/>
                </a:solidFill>
              </a:rPr>
              <a:t> have used this program to start building their net worth and ultimately enjoy their dream home</a:t>
            </a:r>
            <a:endParaRPr sz="1200">
              <a:solidFill>
                <a:srgbClr val="1C1B1A"/>
              </a:solidFill>
            </a:endParaRPr>
          </a:p>
          <a:p>
            <a:pPr indent="-304800" lvl="0" marL="457200" rtl="0" algn="l">
              <a:spcBef>
                <a:spcPts val="0"/>
              </a:spcBef>
              <a:spcAft>
                <a:spcPts val="0"/>
              </a:spcAft>
              <a:buClr>
                <a:srgbClr val="1C1B1A"/>
              </a:buClr>
              <a:buSzPts val="1200"/>
              <a:buChar char="-"/>
            </a:pPr>
            <a:r>
              <a:rPr lang="en" sz="1200">
                <a:solidFill>
                  <a:srgbClr val="1C1B1A"/>
                </a:solidFill>
              </a:rPr>
              <a:t>We have a great network of resources </a:t>
            </a:r>
            <a:r>
              <a:rPr lang="en" sz="1200">
                <a:solidFill>
                  <a:srgbClr val="1C1B1A"/>
                </a:solidFill>
              </a:rPr>
              <a:t>available to you that will help you get the best deal on your next property purchase.</a:t>
            </a:r>
            <a:endParaRPr sz="1200">
              <a:solidFill>
                <a:srgbClr val="1C1B1A"/>
              </a:solidFill>
            </a:endParaRPr>
          </a:p>
          <a:p>
            <a:pPr indent="-304800" lvl="0" marL="457200" rtl="0" algn="l">
              <a:spcBef>
                <a:spcPts val="0"/>
              </a:spcBef>
              <a:spcAft>
                <a:spcPts val="0"/>
              </a:spcAft>
              <a:buClr>
                <a:srgbClr val="1C1B1A"/>
              </a:buClr>
              <a:buSzPts val="1200"/>
              <a:buChar char="-"/>
            </a:pPr>
            <a:r>
              <a:rPr lang="en" sz="1200">
                <a:solidFill>
                  <a:srgbClr val="1C1B1A"/>
                </a:solidFill>
              </a:rPr>
              <a:t>We will help you get access to all the programs mentioned earlier in this training and walk you through the process step-by-step ensuring you get the best deal</a:t>
            </a:r>
            <a:endParaRPr sz="1200">
              <a:solidFill>
                <a:srgbClr val="1C1B1A"/>
              </a:solidFill>
            </a:endParaRPr>
          </a:p>
          <a:p>
            <a:pPr indent="-304800" lvl="0" marL="457200" rtl="0" algn="l">
              <a:spcBef>
                <a:spcPts val="0"/>
              </a:spcBef>
              <a:spcAft>
                <a:spcPts val="0"/>
              </a:spcAft>
              <a:buClr>
                <a:srgbClr val="1C1B1A"/>
              </a:buClr>
              <a:buSzPts val="1200"/>
              <a:buChar char="-"/>
            </a:pPr>
            <a:r>
              <a:rPr lang="en" sz="1200">
                <a:solidFill>
                  <a:srgbClr val="1C1B1A"/>
                </a:solidFill>
              </a:rPr>
              <a:t>We practice what we preach.</a:t>
            </a:r>
            <a:endParaRPr sz="1200">
              <a:solidFill>
                <a:srgbClr val="1C1B1A"/>
              </a:solidFill>
            </a:endParaRPr>
          </a:p>
          <a:p>
            <a:pPr indent="0" lvl="0" marL="457200" rtl="0" algn="l">
              <a:spcBef>
                <a:spcPts val="1600"/>
              </a:spcBef>
              <a:spcAft>
                <a:spcPts val="0"/>
              </a:spcAft>
              <a:buNone/>
            </a:pPr>
            <a:r>
              <a:t/>
            </a:r>
            <a:endParaRPr sz="1200">
              <a:solidFill>
                <a:srgbClr val="1C1B1A"/>
              </a:solidFill>
            </a:endParaRPr>
          </a:p>
          <a:p>
            <a:pPr indent="0" lvl="0" marL="0" rtl="0" algn="l">
              <a:spcBef>
                <a:spcPts val="1600"/>
              </a:spcBef>
              <a:spcAft>
                <a:spcPts val="120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Again, this is for: </a:t>
            </a:r>
            <a:endParaRPr b="1"/>
          </a:p>
          <a:p>
            <a:pPr indent="0" lvl="0" marL="0" rtl="0" algn="l">
              <a:spcBef>
                <a:spcPts val="0"/>
              </a:spcBef>
              <a:spcAft>
                <a:spcPts val="0"/>
              </a:spcAft>
              <a:buNone/>
            </a:pPr>
            <a:r>
              <a:t/>
            </a:r>
            <a:endParaRPr/>
          </a:p>
        </p:txBody>
      </p:sp>
      <p:sp>
        <p:nvSpPr>
          <p:cNvPr id="304" name="Google Shape;304;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04800" lvl="0" marL="457200" rtl="0" algn="l">
              <a:spcBef>
                <a:spcPts val="0"/>
              </a:spcBef>
              <a:spcAft>
                <a:spcPts val="0"/>
              </a:spcAft>
              <a:buClr>
                <a:schemeClr val="dk1"/>
              </a:buClr>
              <a:buSzPts val="1200"/>
              <a:buAutoNum type="arabicPeriod"/>
            </a:pPr>
            <a:r>
              <a:rPr lang="en" sz="1200">
                <a:solidFill>
                  <a:schemeClr val="dk1"/>
                </a:solidFill>
              </a:rPr>
              <a:t>You’re a homebuyer who’s looking to buy your dream home for the best bang for your buck, but feeling overwhelmed/intimidated.</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You’re a homebuyer with bad credit or little to no cash for a downpayment </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You want to build equity and your personal net worth</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Buy for less than market value that meets budget </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Buy a home in a safe, preferred neighborhood (Close to downtown, school district, restaurants/shops)</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You’re actively searching online but need advice from an experienced agent (also access to exclusive listings not found online)</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Fear of overpaying or working with a dishonest agent that’s looking for a quick commission cheque  </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You’ve searched online but unable to find a home that fits your criteria and budget. You’ve worked with an agent that you don’t trust. You’ve worked with an agent that is not responsive and lacks clear communication. </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You want full disclosure at all times for every document. You want to be given the heads up about important changes to housing regulations and mortgage rules. You want to be advised of realistic expectations to buying a home, and dislike last-minute changes.</a:t>
            </a:r>
            <a:endParaRPr sz="1200">
              <a:solidFill>
                <a:schemeClr val="dk1"/>
              </a:solidFill>
            </a:endParaRPr>
          </a:p>
          <a:p>
            <a:pPr indent="0" lvl="0" marL="0" rtl="0" algn="l">
              <a:spcBef>
                <a:spcPts val="1600"/>
              </a:spcBef>
              <a:spcAft>
                <a:spcPts val="120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Proof Case 1 - Transformation 1</a:t>
            </a:r>
            <a:endParaRPr b="1"/>
          </a:p>
        </p:txBody>
      </p:sp>
      <p:sp>
        <p:nvSpPr>
          <p:cNvPr id="310" name="Google Shape;310;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lang="en" sz="1200">
                <a:solidFill>
                  <a:schemeClr val="dk1"/>
                </a:solidFill>
              </a:rPr>
              <a:t>State 1</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State 2</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Timeframe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Image</a:t>
            </a:r>
            <a:endParaRPr sz="1200">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Proof Case 2 - Transformation 2</a:t>
            </a:r>
            <a:endParaRPr b="1"/>
          </a:p>
        </p:txBody>
      </p:sp>
      <p:sp>
        <p:nvSpPr>
          <p:cNvPr id="316" name="Google Shape;316;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lang="en" sz="1200">
                <a:solidFill>
                  <a:schemeClr val="dk1"/>
                </a:solidFill>
              </a:rPr>
              <a:t>State 1</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State 2</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Timeframe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Image</a:t>
            </a:r>
            <a:endParaRPr sz="1200">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Proof Case 3 - Transformation 3</a:t>
            </a:r>
            <a:endParaRPr b="1"/>
          </a:p>
        </p:txBody>
      </p:sp>
      <p:sp>
        <p:nvSpPr>
          <p:cNvPr id="322" name="Google Shape;322;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lang="en" sz="1200">
                <a:solidFill>
                  <a:schemeClr val="dk1"/>
                </a:solidFill>
              </a:rPr>
              <a:t>State 1</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State 2</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Timeframe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Image</a:t>
            </a:r>
            <a:endParaRPr sz="1200">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Proof Case 4 - Transformation 4</a:t>
            </a:r>
            <a:endParaRPr b="1"/>
          </a:p>
        </p:txBody>
      </p:sp>
      <p:sp>
        <p:nvSpPr>
          <p:cNvPr id="328" name="Google Shape;328;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lang="en" sz="1200">
                <a:solidFill>
                  <a:schemeClr val="dk1"/>
                </a:solidFill>
              </a:rPr>
              <a:t>State 1</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State 2</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Timeframe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Image</a:t>
            </a:r>
            <a:endParaRPr sz="1200">
              <a:solidFill>
                <a:schemeClr val="dk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Book a Call Now </a:t>
            </a:r>
            <a:endParaRPr b="1"/>
          </a:p>
        </p:txBody>
      </p:sp>
      <p:sp>
        <p:nvSpPr>
          <p:cNvPr id="334" name="Google Shape;334;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en" sz="1200">
                <a:solidFill>
                  <a:schemeClr val="dk1"/>
                </a:solidFill>
              </a:rPr>
              <a:t>Book A Call Now Today to Start Your Homebuying Process</a:t>
            </a:r>
            <a:endParaRPr sz="1200">
              <a:solidFill>
                <a:schemeClr val="dk1"/>
              </a:solidFill>
            </a:endParaRPr>
          </a:p>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pic>
        <p:nvPicPr>
          <p:cNvPr id="335" name="Google Shape;335;p59"/>
          <p:cNvPicPr preferRelativeResize="0"/>
          <p:nvPr/>
        </p:nvPicPr>
        <p:blipFill>
          <a:blip r:embed="rId3">
            <a:alphaModFix/>
          </a:blip>
          <a:stretch>
            <a:fillRect/>
          </a:stretch>
        </p:blipFill>
        <p:spPr>
          <a:xfrm>
            <a:off x="3645300" y="1968571"/>
            <a:ext cx="2168725" cy="21687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But Wait...</a:t>
            </a:r>
            <a:endParaRPr b="1"/>
          </a:p>
          <a:p>
            <a:pPr indent="0" lvl="0" marL="0" rtl="0" algn="l">
              <a:spcBef>
                <a:spcPts val="0"/>
              </a:spcBef>
              <a:spcAft>
                <a:spcPts val="0"/>
              </a:spcAft>
              <a:buNone/>
            </a:pPr>
            <a:r>
              <a:t/>
            </a:r>
            <a:endParaRPr/>
          </a:p>
        </p:txBody>
      </p:sp>
      <p:sp>
        <p:nvSpPr>
          <p:cNvPr id="341" name="Google Shape;341;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en" sz="1200">
                <a:solidFill>
                  <a:schemeClr val="dk1"/>
                </a:solidFill>
              </a:rPr>
              <a:t>We can only take on </a:t>
            </a:r>
            <a:r>
              <a:rPr b="1" lang="en" sz="1200">
                <a:solidFill>
                  <a:schemeClr val="dk1"/>
                </a:solidFill>
              </a:rPr>
              <a:t>5 </a:t>
            </a:r>
            <a:r>
              <a:rPr lang="en" sz="1200">
                <a:solidFill>
                  <a:schemeClr val="dk1"/>
                </a:solidFill>
              </a:rPr>
              <a:t>new clients per month so make sure you grab your spot or we may not be able to work with you.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rPr>
              <a:t>Our motto is </a:t>
            </a:r>
            <a:r>
              <a:rPr i="1" lang="en" sz="1200">
                <a:solidFill>
                  <a:schemeClr val="dk1"/>
                </a:solidFill>
              </a:rPr>
              <a:t>Treat Every Client as If They’re Our Only Client. </a:t>
            </a:r>
            <a:r>
              <a:rPr lang="en" sz="1200">
                <a:solidFill>
                  <a:schemeClr val="dk1"/>
                </a:solidFill>
              </a:rPr>
              <a:t>We’ll treat you as our only client. </a:t>
            </a:r>
            <a:endParaRPr sz="1200">
              <a:solidFill>
                <a:schemeClr val="dk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Your Exclusive Bonus</a:t>
            </a:r>
            <a:endParaRPr b="1"/>
          </a:p>
        </p:txBody>
      </p:sp>
      <p:sp>
        <p:nvSpPr>
          <p:cNvPr id="347" name="Google Shape;347;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en" sz="1200">
                <a:solidFill>
                  <a:schemeClr val="dk1"/>
                </a:solidFill>
              </a:rPr>
              <a:t>Now because you’re watching this video and invested your time, we’re going to do something very special.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rPr>
              <a:t>Now for a limited time, we’re going to offer you our VIP bonus package if you act now!</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sz="1200">
                <a:solidFill>
                  <a:schemeClr val="dk1"/>
                </a:solidFill>
              </a:rPr>
              <a:t>VIP Bonus Package:</a:t>
            </a:r>
            <a:endParaRPr b="1" sz="1200">
              <a:solidFill>
                <a:schemeClr val="dk1"/>
              </a:solidFill>
            </a:endParaRPr>
          </a:p>
          <a:p>
            <a:pPr indent="0" lvl="0" marL="457200" rtl="0" algn="l">
              <a:lnSpc>
                <a:spcPct val="100000"/>
              </a:lnSpc>
              <a:spcBef>
                <a:spcPts val="0"/>
              </a:spcBef>
              <a:spcAft>
                <a:spcPts val="0"/>
              </a:spcAft>
              <a:buNone/>
            </a:pPr>
            <a:r>
              <a:t/>
            </a:r>
            <a:endParaRPr sz="1200">
              <a:solidFill>
                <a:schemeClr val="dk1"/>
              </a:solidFill>
            </a:endParaRPr>
          </a:p>
          <a:p>
            <a:pPr indent="-304800" lvl="0" marL="457200" rtl="0" algn="l">
              <a:lnSpc>
                <a:spcPct val="100000"/>
              </a:lnSpc>
              <a:spcBef>
                <a:spcPts val="0"/>
              </a:spcBef>
              <a:spcAft>
                <a:spcPts val="0"/>
              </a:spcAft>
              <a:buClr>
                <a:schemeClr val="dk1"/>
              </a:buClr>
              <a:buSzPts val="1200"/>
              <a:buAutoNum type="arabicPeriod"/>
            </a:pPr>
            <a:r>
              <a:rPr i="1" lang="en" sz="1200">
                <a:solidFill>
                  <a:schemeClr val="dk1"/>
                </a:solidFill>
              </a:rPr>
              <a:t>Homebuyers Success Academy Online Course Training Portal + Extra Modules</a:t>
            </a:r>
            <a:endParaRPr i="1" sz="1200">
              <a:solidFill>
                <a:schemeClr val="dk1"/>
              </a:solidFill>
            </a:endParaRPr>
          </a:p>
          <a:p>
            <a:pPr indent="-304800" lvl="0" marL="457200" rtl="0" algn="l">
              <a:lnSpc>
                <a:spcPct val="100000"/>
              </a:lnSpc>
              <a:spcBef>
                <a:spcPts val="0"/>
              </a:spcBef>
              <a:spcAft>
                <a:spcPts val="0"/>
              </a:spcAft>
              <a:buClr>
                <a:schemeClr val="dk1"/>
              </a:buClr>
              <a:buSzPts val="1200"/>
              <a:buAutoNum type="arabicPeriod"/>
            </a:pPr>
            <a:r>
              <a:rPr i="1" lang="en" sz="1200">
                <a:solidFill>
                  <a:schemeClr val="dk1"/>
                </a:solidFill>
              </a:rPr>
              <a:t>Yearly Entry To Win A Vacation To Cancun For 2</a:t>
            </a:r>
            <a:endParaRPr i="1" sz="1200">
              <a:solidFill>
                <a:schemeClr val="dk1"/>
              </a:solidFill>
            </a:endParaRPr>
          </a:p>
          <a:p>
            <a:pPr indent="-304800" lvl="0" marL="457200" rtl="0" algn="l">
              <a:lnSpc>
                <a:spcPct val="100000"/>
              </a:lnSpc>
              <a:spcBef>
                <a:spcPts val="0"/>
              </a:spcBef>
              <a:spcAft>
                <a:spcPts val="0"/>
              </a:spcAft>
              <a:buClr>
                <a:schemeClr val="dk1"/>
              </a:buClr>
              <a:buSzPts val="1200"/>
              <a:buAutoNum type="arabicPeriod"/>
            </a:pPr>
            <a:r>
              <a:rPr i="1" lang="en" sz="1200">
                <a:solidFill>
                  <a:schemeClr val="dk1"/>
                </a:solidFill>
              </a:rPr>
              <a:t>Exclusive Possession Day Surprise Homebuyers Gift Basket</a:t>
            </a:r>
            <a:endParaRPr i="1" sz="1200">
              <a:solidFill>
                <a:schemeClr val="dk1"/>
              </a:solidFill>
            </a:endParaRPr>
          </a:p>
          <a:p>
            <a:pPr indent="-304800" lvl="0" marL="457200" rtl="0" algn="l">
              <a:lnSpc>
                <a:spcPct val="100000"/>
              </a:lnSpc>
              <a:spcBef>
                <a:spcPts val="0"/>
              </a:spcBef>
              <a:spcAft>
                <a:spcPts val="0"/>
              </a:spcAft>
              <a:buClr>
                <a:schemeClr val="dk1"/>
              </a:buClr>
              <a:buSzPts val="1200"/>
              <a:buAutoNum type="arabicPeriod"/>
            </a:pPr>
            <a:r>
              <a:rPr i="1" lang="en" sz="1200">
                <a:solidFill>
                  <a:schemeClr val="dk1"/>
                </a:solidFill>
              </a:rPr>
              <a:t>Exclusive Network Access</a:t>
            </a:r>
            <a:endParaRPr i="1" sz="1200">
              <a:solidFill>
                <a:schemeClr val="dk1"/>
              </a:solidFill>
            </a:endParaRPr>
          </a:p>
          <a:p>
            <a:pPr indent="-304800" lvl="0" marL="457200" rtl="0" algn="l">
              <a:lnSpc>
                <a:spcPct val="100000"/>
              </a:lnSpc>
              <a:spcBef>
                <a:spcPts val="0"/>
              </a:spcBef>
              <a:spcAft>
                <a:spcPts val="0"/>
              </a:spcAft>
              <a:buClr>
                <a:schemeClr val="dk1"/>
              </a:buClr>
              <a:buSzPts val="1200"/>
              <a:buAutoNum type="arabicPeriod"/>
            </a:pPr>
            <a:r>
              <a:rPr i="1" lang="en" sz="1200">
                <a:solidFill>
                  <a:schemeClr val="dk1"/>
                </a:solidFill>
              </a:rPr>
              <a:t>VIP Referral Program</a:t>
            </a:r>
            <a:endParaRPr i="1" sz="12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In Summary...</a:t>
            </a:r>
            <a:endParaRPr b="1"/>
          </a:p>
          <a:p>
            <a:pPr indent="0" lvl="0" marL="0" rtl="0" algn="l">
              <a:spcBef>
                <a:spcPts val="0"/>
              </a:spcBef>
              <a:spcAft>
                <a:spcPts val="0"/>
              </a:spcAft>
              <a:buNone/>
            </a:pPr>
            <a:r>
              <a:t/>
            </a:r>
            <a:endParaRPr/>
          </a:p>
        </p:txBody>
      </p:sp>
      <p:sp>
        <p:nvSpPr>
          <p:cNvPr id="353" name="Google Shape;353;p62"/>
          <p:cNvSpPr txBox="1"/>
          <p:nvPr>
            <p:ph idx="1" type="body"/>
          </p:nvPr>
        </p:nvSpPr>
        <p:spPr>
          <a:xfrm>
            <a:off x="311700" y="9919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rPr>
              <a:t>So let’s summarize this offer. You get:</a:t>
            </a:r>
            <a:endParaRPr sz="1200">
              <a:solidFill>
                <a:schemeClr val="dk1"/>
              </a:solidFill>
            </a:endParaRPr>
          </a:p>
          <a:p>
            <a:pPr indent="0" lvl="0" marL="0" rtl="0" algn="l">
              <a:spcBef>
                <a:spcPts val="800"/>
              </a:spcBef>
              <a:spcAft>
                <a:spcPts val="0"/>
              </a:spcAft>
              <a:buClr>
                <a:schemeClr val="dk1"/>
              </a:buClr>
              <a:buSzPts val="1100"/>
              <a:buFont typeface="Arial"/>
              <a:buNone/>
            </a:pPr>
            <a:r>
              <a:t/>
            </a:r>
            <a:endParaRPr sz="800">
              <a:solidFill>
                <a:schemeClr val="dk1"/>
              </a:solidFill>
            </a:endParaRPr>
          </a:p>
          <a:p>
            <a:pPr indent="0" lvl="0" marL="457200" rtl="0" algn="l">
              <a:spcBef>
                <a:spcPts val="0"/>
              </a:spcBef>
              <a:spcAft>
                <a:spcPts val="0"/>
              </a:spcAft>
              <a:buClr>
                <a:schemeClr val="dk1"/>
              </a:buClr>
              <a:buSzPts val="1100"/>
              <a:buFont typeface="Arial"/>
              <a:buNone/>
            </a:pPr>
            <a:r>
              <a:rPr lang="en" sz="800">
                <a:solidFill>
                  <a:schemeClr val="dk1"/>
                </a:solidFill>
              </a:rPr>
              <a:t>✅</a:t>
            </a:r>
            <a:r>
              <a:rPr b="1" lang="en" sz="800">
                <a:solidFill>
                  <a:schemeClr val="dk1"/>
                </a:solidFill>
              </a:rPr>
              <a:t> 12 Month Satisfaction Guaranteed</a:t>
            </a:r>
            <a:r>
              <a:rPr lang="en" sz="800">
                <a:solidFill>
                  <a:schemeClr val="dk1"/>
                </a:solidFill>
              </a:rPr>
              <a:t> - If for any reason you aren’t satisfied or want to sell your home in the first 12 months, we’ll sell it for 0% commission!</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a:t>
            </a:r>
            <a:r>
              <a:rPr b="1" lang="en" sz="800">
                <a:solidFill>
                  <a:schemeClr val="dk1"/>
                </a:solidFill>
              </a:rPr>
              <a:t> Dream Home Finder - </a:t>
            </a:r>
            <a:r>
              <a:rPr lang="en" sz="800">
                <a:solidFill>
                  <a:schemeClr val="dk1"/>
                </a:solidFill>
              </a:rPr>
              <a:t>We will send out mailers, cold call homeowners and door knock in the area you’re looking for if we cannot find what you’re looking for on the MLS. </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a:t>
            </a:r>
            <a:r>
              <a:rPr b="1" lang="en" sz="800">
                <a:solidFill>
                  <a:schemeClr val="dk1"/>
                </a:solidFill>
              </a:rPr>
              <a:t> Contractor Certified Program</a:t>
            </a:r>
            <a:r>
              <a:rPr lang="en" sz="800">
                <a:solidFill>
                  <a:schemeClr val="dk1"/>
                </a:solidFill>
              </a:rPr>
              <a:t> - Our licensed contractor ensures mandatory repairs are made correctly by the seller so there is no additional cost to you!</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a:t>
            </a:r>
            <a:r>
              <a:rPr b="1" lang="en" sz="800">
                <a:solidFill>
                  <a:schemeClr val="dk1"/>
                </a:solidFill>
              </a:rPr>
              <a:t> No Obligation Certificate - </a:t>
            </a:r>
            <a:r>
              <a:rPr lang="en" sz="800">
                <a:solidFill>
                  <a:schemeClr val="dk1"/>
                </a:solidFill>
              </a:rPr>
              <a:t>If for any reason you aren’t satisfied working with us, you’re able to walk away. No strings attached! </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a:t>
            </a:r>
            <a:r>
              <a:rPr b="1" lang="en" sz="800">
                <a:solidFill>
                  <a:schemeClr val="dk1"/>
                </a:solidFill>
              </a:rPr>
              <a:t>  Essential Services Program - </a:t>
            </a:r>
            <a:r>
              <a:rPr lang="en" sz="800">
                <a:solidFill>
                  <a:schemeClr val="dk1"/>
                </a:solidFill>
              </a:rPr>
              <a:t>Are you a police officer, firefighter, teacher, healthcare worker or military veteran? If so, you qualify for thousands in savings through a free home appraisal and home warranty. </a:t>
            </a:r>
            <a:endParaRPr b="1"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a:t>
            </a:r>
            <a:r>
              <a:rPr b="1" lang="en" sz="800">
                <a:solidFill>
                  <a:schemeClr val="dk1"/>
                </a:solidFill>
              </a:rPr>
              <a:t> Performance Guarantee - </a:t>
            </a:r>
            <a:r>
              <a:rPr lang="en" sz="800">
                <a:solidFill>
                  <a:schemeClr val="dk1"/>
                </a:solidFill>
              </a:rPr>
              <a:t>I will make sure I call you at minimum 1X a week and find a home that we can agree upon in 1 month or I will personally give you 1000 from my commission. That is my promise to you!</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 </a:t>
            </a:r>
            <a:r>
              <a:rPr b="1" lang="en" sz="800">
                <a:solidFill>
                  <a:schemeClr val="dk1"/>
                </a:solidFill>
              </a:rPr>
              <a:t>0% Listing Fee</a:t>
            </a:r>
            <a:r>
              <a:rPr lang="en" sz="800">
                <a:solidFill>
                  <a:schemeClr val="dk1"/>
                </a:solidFill>
              </a:rPr>
              <a:t> - If you purchase one of our current listings, we’ll sell your home for free. That is no listing commission! </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 </a:t>
            </a:r>
            <a:r>
              <a:rPr b="1" lang="en" sz="800">
                <a:solidFill>
                  <a:schemeClr val="dk1"/>
                </a:solidFill>
              </a:rPr>
              <a:t>Exclusive Listings</a:t>
            </a:r>
            <a:r>
              <a:rPr lang="en" sz="800">
                <a:solidFill>
                  <a:schemeClr val="dk1"/>
                </a:solidFill>
              </a:rPr>
              <a:t>- Get access to listings not found online. Off-market listings, bank-owned properties, foreclosure properties, etc…</a:t>
            </a:r>
            <a:endParaRPr sz="800">
              <a:solidFill>
                <a:schemeClr val="dk1"/>
              </a:solidFill>
            </a:endParaRPr>
          </a:p>
          <a:p>
            <a:pPr indent="0" lvl="0" marL="457200" rtl="0" algn="l">
              <a:spcBef>
                <a:spcPts val="0"/>
              </a:spcBef>
              <a:spcAft>
                <a:spcPts val="0"/>
              </a:spcAft>
              <a:buClr>
                <a:schemeClr val="dk1"/>
              </a:buClr>
              <a:buSzPts val="1100"/>
              <a:buFont typeface="Arial"/>
              <a:buNone/>
            </a:pPr>
            <a:r>
              <a:t/>
            </a:r>
            <a:endParaRPr sz="800">
              <a:solidFill>
                <a:schemeClr val="dk1"/>
              </a:solidFill>
            </a:endParaRPr>
          </a:p>
          <a:p>
            <a:pPr indent="0" lvl="0" marL="457200" rtl="0" algn="l">
              <a:spcBef>
                <a:spcPts val="0"/>
              </a:spcBef>
              <a:spcAft>
                <a:spcPts val="0"/>
              </a:spcAft>
              <a:buClr>
                <a:schemeClr val="dk1"/>
              </a:buClr>
              <a:buSzPts val="1100"/>
              <a:buFont typeface="Arial"/>
              <a:buNone/>
            </a:pPr>
            <a:r>
              <a:rPr lang="en" sz="800">
                <a:solidFill>
                  <a:schemeClr val="dk1"/>
                </a:solidFill>
              </a:rPr>
              <a:t>✅ </a:t>
            </a:r>
            <a:r>
              <a:rPr b="1" lang="en" sz="800">
                <a:solidFill>
                  <a:schemeClr val="dk1"/>
                </a:solidFill>
              </a:rPr>
              <a:t>Proprietary Data Access</a:t>
            </a:r>
            <a:r>
              <a:rPr lang="en" sz="800">
                <a:solidFill>
                  <a:schemeClr val="dk1"/>
                </a:solidFill>
              </a:rPr>
              <a:t>- Get exclusive access to data of previous home sales in your area. </a:t>
            </a:r>
            <a:endParaRPr sz="800">
              <a:solidFill>
                <a:schemeClr val="dk1"/>
              </a:solidFill>
            </a:endParaRPr>
          </a:p>
          <a:p>
            <a:pPr indent="0" lvl="0" marL="457200" rtl="0" algn="l">
              <a:spcBef>
                <a:spcPts val="0"/>
              </a:spcBef>
              <a:spcAft>
                <a:spcPts val="0"/>
              </a:spcAft>
              <a:buClr>
                <a:schemeClr val="dk1"/>
              </a:buClr>
              <a:buSzPts val="1100"/>
              <a:buFont typeface="Arial"/>
              <a:buNone/>
            </a:pPr>
            <a:r>
              <a:t/>
            </a:r>
            <a:endParaRPr sz="800">
              <a:solidFill>
                <a:schemeClr val="dk1"/>
              </a:solidFill>
            </a:endParaRPr>
          </a:p>
          <a:p>
            <a:pPr indent="0" lvl="0" marL="457200" rtl="0" algn="l">
              <a:spcBef>
                <a:spcPts val="0"/>
              </a:spcBef>
              <a:spcAft>
                <a:spcPts val="0"/>
              </a:spcAft>
              <a:buClr>
                <a:schemeClr val="dk1"/>
              </a:buClr>
              <a:buSzPts val="1100"/>
              <a:buFont typeface="Arial"/>
              <a:buNone/>
            </a:pPr>
            <a:r>
              <a:rPr lang="en" sz="800">
                <a:solidFill>
                  <a:schemeClr val="dk1"/>
                </a:solidFill>
              </a:rPr>
              <a:t>✅</a:t>
            </a:r>
            <a:r>
              <a:rPr b="1" lang="en" sz="800">
                <a:solidFill>
                  <a:schemeClr val="dk1"/>
                </a:solidFill>
              </a:rPr>
              <a:t>Homebuyers Success Academy Training Portal </a:t>
            </a:r>
            <a:r>
              <a:rPr lang="en" sz="800">
                <a:solidFill>
                  <a:schemeClr val="dk1"/>
                </a:solidFill>
              </a:rPr>
              <a:t>- Our biggest difference is that we operate our service like a program. We provide a course area for our clients to self educate themselves on getting the best deal. Although this is optional, we find that our clients get the absolute best deal when they are educated on the homebuying process. This way we can double team and crush the competition for the home you deserve. </a:t>
            </a:r>
            <a:endParaRPr sz="800">
              <a:solidFill>
                <a:schemeClr val="dk1"/>
              </a:solidFill>
            </a:endParaRPr>
          </a:p>
          <a:p>
            <a:pPr indent="0" lvl="0" marL="457200" rtl="0" algn="l">
              <a:spcBef>
                <a:spcPts val="0"/>
              </a:spcBef>
              <a:spcAft>
                <a:spcPts val="0"/>
              </a:spcAft>
              <a:buClr>
                <a:schemeClr val="dk1"/>
              </a:buClr>
              <a:buSzPts val="1100"/>
              <a:buFont typeface="Arial"/>
              <a:buNone/>
            </a:pPr>
            <a:r>
              <a:t/>
            </a:r>
            <a:endParaRPr sz="1200">
              <a:solidFill>
                <a:schemeClr val="dk1"/>
              </a:solidFill>
            </a:endParaRPr>
          </a:p>
          <a:p>
            <a:pPr indent="-292100" lvl="0" marL="457200" rtl="0" algn="l">
              <a:spcBef>
                <a:spcPts val="0"/>
              </a:spcBef>
              <a:spcAft>
                <a:spcPts val="0"/>
              </a:spcAft>
              <a:buClr>
                <a:schemeClr val="dk1"/>
              </a:buClr>
              <a:buSzPts val="1000"/>
              <a:buChar char="+"/>
            </a:pPr>
            <a:r>
              <a:rPr b="1" lang="en" sz="1000">
                <a:solidFill>
                  <a:schemeClr val="dk1"/>
                </a:solidFill>
              </a:rPr>
              <a:t>VIP Bonus Package</a:t>
            </a:r>
            <a:endParaRPr b="1" sz="1000">
              <a:solidFill>
                <a:schemeClr val="dk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FAQ</a:t>
            </a:r>
            <a:endParaRPr b="1"/>
          </a:p>
        </p:txBody>
      </p:sp>
      <p:sp>
        <p:nvSpPr>
          <p:cNvPr id="359" name="Google Shape;359;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20000"/>
          </a:bodyPr>
          <a:lstStyle/>
          <a:p>
            <a:pPr indent="0" lvl="0" marL="0" rtl="0" algn="l">
              <a:lnSpc>
                <a:spcPct val="100000"/>
              </a:lnSpc>
              <a:spcBef>
                <a:spcPts val="0"/>
              </a:spcBef>
              <a:spcAft>
                <a:spcPts val="0"/>
              </a:spcAft>
              <a:buClr>
                <a:schemeClr val="dk1"/>
              </a:buClr>
              <a:buSzPct val="64706"/>
              <a:buFont typeface="Arial"/>
              <a:buNone/>
            </a:pPr>
            <a:r>
              <a:rPr lang="en" sz="1700">
                <a:solidFill>
                  <a:schemeClr val="dk1"/>
                </a:solidFill>
              </a:rPr>
              <a:t>Now some of you may be asking:</a:t>
            </a:r>
            <a:endParaRPr sz="1700">
              <a:solidFill>
                <a:schemeClr val="dk1"/>
              </a:solidFill>
            </a:endParaRPr>
          </a:p>
          <a:p>
            <a:pPr indent="0" lvl="0" marL="0" rtl="0" algn="l">
              <a:lnSpc>
                <a:spcPct val="100000"/>
              </a:lnSpc>
              <a:spcBef>
                <a:spcPts val="0"/>
              </a:spcBef>
              <a:spcAft>
                <a:spcPts val="0"/>
              </a:spcAft>
              <a:buClr>
                <a:schemeClr val="dk1"/>
              </a:buClr>
              <a:buSzPct val="64706"/>
              <a:buFont typeface="Arial"/>
              <a:buNone/>
            </a:pPr>
            <a:r>
              <a:t/>
            </a:r>
            <a:endParaRPr b="1" sz="1700">
              <a:solidFill>
                <a:schemeClr val="dk1"/>
              </a:solidFill>
            </a:endParaRPr>
          </a:p>
          <a:p>
            <a:pPr indent="-296069" lvl="0" marL="457200" rtl="0" algn="l">
              <a:lnSpc>
                <a:spcPct val="100000"/>
              </a:lnSpc>
              <a:spcBef>
                <a:spcPts val="0"/>
              </a:spcBef>
              <a:spcAft>
                <a:spcPts val="0"/>
              </a:spcAft>
              <a:buClr>
                <a:schemeClr val="dk1"/>
              </a:buClr>
              <a:buSzPct val="100000"/>
              <a:buAutoNum type="arabicPeriod"/>
            </a:pPr>
            <a:r>
              <a:rPr b="1" lang="en" sz="1700">
                <a:solidFill>
                  <a:schemeClr val="dk1"/>
                </a:solidFill>
              </a:rPr>
              <a:t>Will this work if I have bad credit?</a:t>
            </a:r>
            <a:endParaRPr b="1" sz="1700">
              <a:solidFill>
                <a:schemeClr val="dk1"/>
              </a:solidFill>
            </a:endParaRPr>
          </a:p>
          <a:p>
            <a:pPr indent="0" lvl="0" marL="457200" rtl="0" algn="l">
              <a:lnSpc>
                <a:spcPct val="100000"/>
              </a:lnSpc>
              <a:spcBef>
                <a:spcPts val="0"/>
              </a:spcBef>
              <a:spcAft>
                <a:spcPts val="0"/>
              </a:spcAft>
              <a:buClr>
                <a:schemeClr val="dk1"/>
              </a:buClr>
              <a:buSzPct val="64706"/>
              <a:buFont typeface="Arial"/>
              <a:buNone/>
            </a:pPr>
            <a:r>
              <a:t/>
            </a:r>
            <a:endParaRPr sz="1700">
              <a:solidFill>
                <a:schemeClr val="dk1"/>
              </a:solidFill>
            </a:endParaRPr>
          </a:p>
          <a:p>
            <a:pPr indent="0" lvl="0" marL="457200" rtl="0" algn="l">
              <a:lnSpc>
                <a:spcPct val="100000"/>
              </a:lnSpc>
              <a:spcBef>
                <a:spcPts val="0"/>
              </a:spcBef>
              <a:spcAft>
                <a:spcPts val="0"/>
              </a:spcAft>
              <a:buClr>
                <a:schemeClr val="dk1"/>
              </a:buClr>
              <a:buSzPct val="64706"/>
              <a:buFont typeface="Arial"/>
              <a:buNone/>
            </a:pPr>
            <a:r>
              <a:rPr lang="en" sz="1700">
                <a:solidFill>
                  <a:schemeClr val="dk1"/>
                </a:solidFill>
              </a:rPr>
              <a:t>Yes! We will need to evaluate your credit score and see the right options available for you.</a:t>
            </a:r>
            <a:endParaRPr sz="1700">
              <a:solidFill>
                <a:schemeClr val="dk1"/>
              </a:solidFill>
            </a:endParaRPr>
          </a:p>
          <a:p>
            <a:pPr indent="0" lvl="0" marL="457200" rtl="0" algn="l">
              <a:lnSpc>
                <a:spcPct val="100000"/>
              </a:lnSpc>
              <a:spcBef>
                <a:spcPts val="0"/>
              </a:spcBef>
              <a:spcAft>
                <a:spcPts val="0"/>
              </a:spcAft>
              <a:buClr>
                <a:schemeClr val="dk1"/>
              </a:buClr>
              <a:buSzPct val="64706"/>
              <a:buFont typeface="Arial"/>
              <a:buNone/>
            </a:pPr>
            <a:r>
              <a:t/>
            </a:r>
            <a:endParaRPr sz="1700">
              <a:solidFill>
                <a:schemeClr val="dk1"/>
              </a:solidFill>
            </a:endParaRPr>
          </a:p>
          <a:p>
            <a:pPr indent="-296069" lvl="0" marL="457200" rtl="0" algn="l">
              <a:lnSpc>
                <a:spcPct val="100000"/>
              </a:lnSpc>
              <a:spcBef>
                <a:spcPts val="0"/>
              </a:spcBef>
              <a:spcAft>
                <a:spcPts val="0"/>
              </a:spcAft>
              <a:buClr>
                <a:schemeClr val="dk1"/>
              </a:buClr>
              <a:buSzPct val="100000"/>
              <a:buAutoNum type="arabicPeriod"/>
            </a:pPr>
            <a:r>
              <a:rPr b="1" lang="en" sz="1700">
                <a:solidFill>
                  <a:schemeClr val="dk1"/>
                </a:solidFill>
              </a:rPr>
              <a:t>Will this work if I have little to no down payment?</a:t>
            </a:r>
            <a:endParaRPr b="1" sz="1700">
              <a:solidFill>
                <a:schemeClr val="dk1"/>
              </a:solidFill>
            </a:endParaRPr>
          </a:p>
          <a:p>
            <a:pPr indent="0" lvl="0" marL="457200" rtl="0" algn="l">
              <a:lnSpc>
                <a:spcPct val="100000"/>
              </a:lnSpc>
              <a:spcBef>
                <a:spcPts val="0"/>
              </a:spcBef>
              <a:spcAft>
                <a:spcPts val="0"/>
              </a:spcAft>
              <a:buClr>
                <a:schemeClr val="dk1"/>
              </a:buClr>
              <a:buSzPct val="64706"/>
              <a:buFont typeface="Arial"/>
              <a:buNone/>
            </a:pPr>
            <a:r>
              <a:t/>
            </a:r>
            <a:endParaRPr sz="1700">
              <a:solidFill>
                <a:schemeClr val="dk1"/>
              </a:solidFill>
            </a:endParaRPr>
          </a:p>
          <a:p>
            <a:pPr indent="0" lvl="0" marL="457200" rtl="0" algn="l">
              <a:lnSpc>
                <a:spcPct val="100000"/>
              </a:lnSpc>
              <a:spcBef>
                <a:spcPts val="0"/>
              </a:spcBef>
              <a:spcAft>
                <a:spcPts val="0"/>
              </a:spcAft>
              <a:buClr>
                <a:schemeClr val="dk1"/>
              </a:buClr>
              <a:buSzPct val="64706"/>
              <a:buFont typeface="Arial"/>
              <a:buNone/>
            </a:pPr>
            <a:r>
              <a:rPr lang="en" sz="1700">
                <a:solidFill>
                  <a:schemeClr val="dk1"/>
                </a:solidFill>
              </a:rPr>
              <a:t>We will work with you to explore the different options. I would require more details about your situation. </a:t>
            </a:r>
            <a:endParaRPr sz="1700">
              <a:solidFill>
                <a:schemeClr val="dk1"/>
              </a:solidFill>
            </a:endParaRPr>
          </a:p>
          <a:p>
            <a:pPr indent="0" lvl="0" marL="457200" rtl="0" algn="l">
              <a:lnSpc>
                <a:spcPct val="100000"/>
              </a:lnSpc>
              <a:spcBef>
                <a:spcPts val="0"/>
              </a:spcBef>
              <a:spcAft>
                <a:spcPts val="0"/>
              </a:spcAft>
              <a:buClr>
                <a:schemeClr val="dk1"/>
              </a:buClr>
              <a:buSzPct val="64706"/>
              <a:buFont typeface="Arial"/>
              <a:buNone/>
            </a:pPr>
            <a:r>
              <a:t/>
            </a:r>
            <a:endParaRPr sz="1700">
              <a:solidFill>
                <a:schemeClr val="dk1"/>
              </a:solidFill>
            </a:endParaRPr>
          </a:p>
          <a:p>
            <a:pPr indent="-296069" lvl="0" marL="457200" rtl="0" algn="l">
              <a:lnSpc>
                <a:spcPct val="100000"/>
              </a:lnSpc>
              <a:spcBef>
                <a:spcPts val="0"/>
              </a:spcBef>
              <a:spcAft>
                <a:spcPts val="0"/>
              </a:spcAft>
              <a:buClr>
                <a:schemeClr val="dk1"/>
              </a:buClr>
              <a:buSzPct val="100000"/>
              <a:buAutoNum type="arabicPeriod"/>
            </a:pPr>
            <a:r>
              <a:rPr b="1" lang="en" sz="1700">
                <a:solidFill>
                  <a:schemeClr val="dk1"/>
                </a:solidFill>
              </a:rPr>
              <a:t>Are there any long term contracts?</a:t>
            </a:r>
            <a:endParaRPr b="1" sz="1700">
              <a:solidFill>
                <a:schemeClr val="dk1"/>
              </a:solidFill>
            </a:endParaRPr>
          </a:p>
          <a:p>
            <a:pPr indent="0" lvl="0" marL="457200" rtl="0" algn="l">
              <a:lnSpc>
                <a:spcPct val="100000"/>
              </a:lnSpc>
              <a:spcBef>
                <a:spcPts val="0"/>
              </a:spcBef>
              <a:spcAft>
                <a:spcPts val="0"/>
              </a:spcAft>
              <a:buClr>
                <a:schemeClr val="dk1"/>
              </a:buClr>
              <a:buSzPct val="64706"/>
              <a:buFont typeface="Arial"/>
              <a:buNone/>
            </a:pPr>
            <a:r>
              <a:t/>
            </a:r>
            <a:endParaRPr sz="1700">
              <a:solidFill>
                <a:schemeClr val="dk1"/>
              </a:solidFill>
            </a:endParaRPr>
          </a:p>
          <a:p>
            <a:pPr indent="0" lvl="0" marL="457200" rtl="0" algn="l">
              <a:lnSpc>
                <a:spcPct val="100000"/>
              </a:lnSpc>
              <a:spcBef>
                <a:spcPts val="0"/>
              </a:spcBef>
              <a:spcAft>
                <a:spcPts val="0"/>
              </a:spcAft>
              <a:buClr>
                <a:schemeClr val="dk1"/>
              </a:buClr>
              <a:buSzPct val="64706"/>
              <a:buFont typeface="Arial"/>
              <a:buNone/>
            </a:pPr>
            <a:r>
              <a:rPr lang="en" sz="1700">
                <a:solidFill>
                  <a:schemeClr val="dk1"/>
                </a:solidFill>
              </a:rPr>
              <a:t>We have a no-obligation certificate. If for any reason you aren’t satisfied working with us, you’re able to walk away. No strings attached! </a:t>
            </a:r>
            <a:endParaRPr sz="1700">
              <a:solidFill>
                <a:schemeClr val="dk1"/>
              </a:solidFill>
            </a:endParaRPr>
          </a:p>
          <a:p>
            <a:pPr indent="0" lvl="0" marL="457200" rtl="0" algn="l">
              <a:lnSpc>
                <a:spcPct val="100000"/>
              </a:lnSpc>
              <a:spcBef>
                <a:spcPts val="0"/>
              </a:spcBef>
              <a:spcAft>
                <a:spcPts val="0"/>
              </a:spcAft>
              <a:buClr>
                <a:schemeClr val="dk1"/>
              </a:buClr>
              <a:buSzPct val="64706"/>
              <a:buFont typeface="Arial"/>
              <a:buNone/>
            </a:pPr>
            <a:r>
              <a:t/>
            </a:r>
            <a:endParaRPr sz="1700">
              <a:solidFill>
                <a:schemeClr val="dk1"/>
              </a:solidFill>
            </a:endParaRPr>
          </a:p>
          <a:p>
            <a:pPr indent="-296069" lvl="0" marL="457200" rtl="0" algn="l">
              <a:lnSpc>
                <a:spcPct val="100000"/>
              </a:lnSpc>
              <a:spcBef>
                <a:spcPts val="0"/>
              </a:spcBef>
              <a:spcAft>
                <a:spcPts val="0"/>
              </a:spcAft>
              <a:buClr>
                <a:schemeClr val="dk1"/>
              </a:buClr>
              <a:buSzPct val="100000"/>
              <a:buAutoNum type="arabicPeriod"/>
            </a:pPr>
            <a:r>
              <a:rPr b="1" lang="en" sz="1700">
                <a:solidFill>
                  <a:schemeClr val="dk1"/>
                </a:solidFill>
              </a:rPr>
              <a:t>What are the exact terms of the 12 month satisfaction guarantee? </a:t>
            </a:r>
            <a:endParaRPr b="1" sz="1700">
              <a:solidFill>
                <a:schemeClr val="dk1"/>
              </a:solidFill>
            </a:endParaRPr>
          </a:p>
          <a:p>
            <a:pPr indent="0" lvl="0" marL="457200" rtl="0" algn="l">
              <a:lnSpc>
                <a:spcPct val="100000"/>
              </a:lnSpc>
              <a:spcBef>
                <a:spcPts val="0"/>
              </a:spcBef>
              <a:spcAft>
                <a:spcPts val="0"/>
              </a:spcAft>
              <a:buClr>
                <a:schemeClr val="dk1"/>
              </a:buClr>
              <a:buSzPct val="64706"/>
              <a:buFont typeface="Arial"/>
              <a:buNone/>
            </a:pPr>
            <a:r>
              <a:t/>
            </a:r>
            <a:endParaRPr sz="1700">
              <a:solidFill>
                <a:schemeClr val="dk1"/>
              </a:solidFill>
            </a:endParaRPr>
          </a:p>
          <a:p>
            <a:pPr indent="0" lvl="0" marL="457200" rtl="0" algn="l">
              <a:spcBef>
                <a:spcPts val="0"/>
              </a:spcBef>
              <a:spcAft>
                <a:spcPts val="0"/>
              </a:spcAft>
              <a:buClr>
                <a:schemeClr val="dk1"/>
              </a:buClr>
              <a:buSzPct val="64706"/>
              <a:buFont typeface="Arial"/>
              <a:buNone/>
            </a:pPr>
            <a:r>
              <a:rPr lang="en" sz="1700">
                <a:solidFill>
                  <a:schemeClr val="dk1"/>
                </a:solidFill>
              </a:rPr>
              <a:t>If for any reason you aren’t satisfied or want to sell your home in the first 12 months, we’ll sell it for 0% commission! We only require you to purchase your next home through us. </a:t>
            </a:r>
            <a:endParaRPr sz="1700">
              <a:solidFill>
                <a:schemeClr val="dk1"/>
              </a:solidFill>
            </a:endParaRPr>
          </a:p>
          <a:p>
            <a:pPr indent="0" lvl="0" marL="457200" rtl="0" algn="l">
              <a:spcBef>
                <a:spcPts val="800"/>
              </a:spcBef>
              <a:spcAft>
                <a:spcPts val="0"/>
              </a:spcAft>
              <a:buNone/>
            </a:pPr>
            <a:r>
              <a:t/>
            </a:r>
            <a:endParaRPr sz="1700">
              <a:solidFill>
                <a:schemeClr val="dk1"/>
              </a:solidFill>
            </a:endParaRPr>
          </a:p>
          <a:p>
            <a:pPr indent="0" lvl="0" marL="457200" rtl="0" algn="l">
              <a:spcBef>
                <a:spcPts val="800"/>
              </a:spcBef>
              <a:spcAft>
                <a:spcPts val="0"/>
              </a:spcAft>
              <a:buClr>
                <a:schemeClr val="dk1"/>
              </a:buClr>
              <a:buSzPct val="110000"/>
              <a:buFont typeface="Arial"/>
              <a:buNone/>
            </a:pPr>
            <a:r>
              <a:t/>
            </a:r>
            <a:endParaRPr sz="1000">
              <a:solidFill>
                <a:schemeClr val="dk1"/>
              </a:solidFill>
            </a:endParaRPr>
          </a:p>
          <a:p>
            <a:pPr indent="0" lvl="0" marL="0" rtl="0" algn="l">
              <a:spcBef>
                <a:spcPts val="800"/>
              </a:spcBef>
              <a:spcAft>
                <a:spcPts val="120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Book a Call Now </a:t>
            </a:r>
            <a:endParaRPr/>
          </a:p>
        </p:txBody>
      </p:sp>
      <p:sp>
        <p:nvSpPr>
          <p:cNvPr id="365" name="Google Shape;365;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en" sz="1200">
                <a:solidFill>
                  <a:schemeClr val="dk1"/>
                </a:solidFill>
              </a:rPr>
              <a:t>Book A Call Now Today to Start Your Homebuying Process</a:t>
            </a:r>
            <a:endParaRPr sz="1200">
              <a:solidFill>
                <a:schemeClr val="dk1"/>
              </a:solidFill>
            </a:endParaRPr>
          </a:p>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pic>
        <p:nvPicPr>
          <p:cNvPr id="366" name="Google Shape;366;p64"/>
          <p:cNvPicPr preferRelativeResize="0"/>
          <p:nvPr/>
        </p:nvPicPr>
        <p:blipFill>
          <a:blip r:embed="rId3">
            <a:alphaModFix/>
          </a:blip>
          <a:stretch>
            <a:fillRect/>
          </a:stretch>
        </p:blipFill>
        <p:spPr>
          <a:xfrm>
            <a:off x="3645300" y="1968571"/>
            <a:ext cx="2168725" cy="21687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